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F3E5B"/>
                </a:solidFill>
                <a:latin typeface="NanumGothic"/>
              </a:defRPr>
            </a:pPr>
            <a:r>
              <a:t>Lecture 05</a:t>
            </a:r>
            <a:br/>
            <a:r>
              <a:t>Dialect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718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A5A5A"/>
                </a:solidFill>
                <a:latin typeface="NanumGothic"/>
              </a:defRPr>
            </a:pPr>
            <a:r>
              <a:t>Frontend / Graph / Kernel / Runtime Dialect 분리 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4251960"/>
            <a:ext cx="1965960" cy="594360"/>
          </a:xfrm>
          <a:prstGeom prst="roundRect">
            <a:avLst/>
          </a:prstGeom>
          <a:solidFill>
            <a:srgbClr val="DEEBF7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E5B"/>
                </a:solidFill>
                <a:latin typeface="NanumGothic"/>
              </a:defRPr>
            </a:pPr>
            <a:r>
              <a:t>Frontend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310128" y="4370832"/>
            <a:ext cx="502920" cy="347472"/>
          </a:xfrm>
          <a:prstGeom prst="right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79" y="4251960"/>
            <a:ext cx="1965960" cy="594360"/>
          </a:xfrm>
          <a:prstGeom prst="roundRect">
            <a:avLst/>
          </a:prstGeom>
          <a:solidFill>
            <a:srgbClr val="E2EFDA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E5B"/>
                </a:solidFill>
                <a:latin typeface="NanumGothic"/>
              </a:defRPr>
            </a:pPr>
            <a:r>
              <a:t>Graph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70448" y="4370832"/>
            <a:ext cx="502920" cy="347472"/>
          </a:xfrm>
          <a:prstGeom prst="right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799" y="4251960"/>
            <a:ext cx="1965960" cy="594360"/>
          </a:xfrm>
          <a:prstGeom prst="roundRect">
            <a:avLst/>
          </a:prstGeom>
          <a:solidFill>
            <a:srgbClr val="DEEBF7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E5B"/>
                </a:solidFill>
                <a:latin typeface="NanumGothic"/>
              </a:defRPr>
            </a:pPr>
            <a:r>
              <a:t>Kernel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430767" y="4370832"/>
            <a:ext cx="502920" cy="347472"/>
          </a:xfrm>
          <a:prstGeom prst="rightArrow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19" y="4251960"/>
            <a:ext cx="1965960" cy="594360"/>
          </a:xfrm>
          <a:prstGeom prst="roundRect">
            <a:avLst/>
          </a:prstGeom>
          <a:solidFill>
            <a:srgbClr val="E2EFDA"/>
          </a:solidFill>
          <a:ln>
            <a:solidFill>
              <a:srgbClr val="1F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E5B"/>
                </a:solidFill>
                <a:latin typeface="NanumGothic"/>
              </a:defRPr>
            </a:pPr>
            <a:r>
              <a:t>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오늘의 위치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1-4강에서 IR 구조와 tooling을 배웠다.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5강부터는 MLIR를 확장하는 방법을 다룬다.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NPU compiler에서는 dialect boundary가 HW legality boundary가 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Dialect가 MLIR extension mechanism에서 맡는 역할 설명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Operation/Type/Attribute/Trait/Interface/Verifier의 관계 이해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frontend/graph/kernel/runtime dialect 분리 기준 수립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npu.matmul/npu.dma/npu.barrier pseudo op 설계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ODS/TableGen skeleton 읽기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왜 Dialect인가?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하나의 IR에 model semantics와 command buffer ABI를 모두 넣으면 pass가 복잡해진다.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Dialect는 abstraction level 별 semantic contract를 만든다.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Target-specific legality를 조기에 검증할 수 있다.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Out-of-tree NPU compiler가 MLIR 생태계와 연결되는 접점이다.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MLIR Dialect Layering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IR_NPU_Lecture_05_Dialect_Lay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881360" cy="6649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Dialect = Namespace +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operation 이름: dialect.mnemonic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type 이름: !dialect.type&lt;...&gt;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attribute 이름: #dialect.attr&lt;...&gt;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pass와 verifier는 이 contract를 기준으로 동작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좋은 dialect 설계는 debug/test/runtime까지 단순화한다.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Dialect Anatomy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IR_NPU_Lecture_05_Dialect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881360" cy="6400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Dialect 구성 요소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17320"/>
          <a:ext cx="113842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  <a:gridCol w="379476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anumGothic"/>
                        </a:rPr>
                        <a:t>요소</a:t>
                      </a:r>
                    </a:p>
                  </a:txBody>
                  <a:tcPr>
                    <a:solidFill>
                      <a:srgbClr val="1F3E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anumGothic"/>
                        </a:rPr>
                        <a:t>역할</a:t>
                      </a:r>
                    </a:p>
                  </a:txBody>
                  <a:tcPr>
                    <a:solidFill>
                      <a:srgbClr val="1F3E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anumGothic"/>
                        </a:rPr>
                        <a:t>NPU 예시</a:t>
                      </a:r>
                    </a:p>
                  </a:txBody>
                  <a:tcPr>
                    <a:solidFill>
                      <a:srgbClr val="1F3E5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Operation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IR 동작/계산/제어 표현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npu_kernel.matmul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Type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값의 shape/layout/ABI 계약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!npu_rt.tensor_desc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Attribute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compile-time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tile_shape=[16,16,32]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Trait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구조적 성질 선언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Pure, SingleBlock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Interface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pass가 호출하는 공통 semantic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MemoryEffectOpInterface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Verifier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잘못된 target IR 거부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DMA alignment, SRAM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Namespace Naming 원칙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이름만 봐도 abstraction level이 보여야 한다.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npu_graph.fusion_group: graph-level fusion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npu_kernel.matmul: tiled kernel compute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npu_rt.launch: runtime ABI launch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npu.op1 같은 이름은 test/debug를 어렵게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Frontend Dialect 책임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Framework semantic 보존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source location과 debug metadata 유지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StableHLO/TOSA/ONNX import boundary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아직 NPU tile/DMA/detail을 노출하지 않는다.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목표: 정확한 모델 의미와 portability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Graph Dialect 책임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Target-aware fusion group 표현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layout propagation / layout cast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quantization metadata와 calibration binding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operator legality와 partitioning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목표: NPU에 올릴 subgraph를 명확히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Kernel Dialect 책임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tile loop와 compute primitive 표현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DMA load/store, barrier, async token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scratchpad SRAM과 accumulator tile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array shape, tile shape, pipeline schedule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목표: hardware scheduling legality를 검증한다.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Runtime Dialect 책임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tensor descriptor와 command buffer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launch/sync/event/profiling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ABI version과 descriptor layout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multi-core/core-mask/stream/QoS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목표: driver/runtime와 compiler의 계약을 고정한다.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Progressive Lowering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IR_NPU_Lecture_05_Conversion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881360" cy="5440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Attribute vs Operand vs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17320"/>
          <a:ext cx="113842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/>
                <a:gridCol w="3794760"/>
                <a:gridCol w="379476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anumGothic"/>
                        </a:rPr>
                        <a:t>정보</a:t>
                      </a:r>
                    </a:p>
                  </a:txBody>
                  <a:tcPr>
                    <a:solidFill>
                      <a:srgbClr val="1F3E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anumGothic"/>
                        </a:rPr>
                        <a:t>권장 위치</a:t>
                      </a:r>
                    </a:p>
                  </a:txBody>
                  <a:tcPr>
                    <a:solidFill>
                      <a:srgbClr val="1F3E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anumGothic"/>
                        </a:rPr>
                        <a:t>판단 기준</a:t>
                      </a:r>
                    </a:p>
                  </a:txBody>
                  <a:tcPr>
                    <a:solidFill>
                      <a:srgbClr val="1F3E5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Input tensor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Operand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dataflow/alias/lifetime 참여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tile_shape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Attribute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compile-time scheduling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SRAM memory space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Type 또는 Attribute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memory type이면 Type, hint면 Attribute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tensor descriptor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runtime ABI 의미 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dynamic sequence length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Operand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runtime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quant scale</a:t>
                      </a:r>
                    </a:p>
                  </a:txBody>
                  <a:tcPr>
                    <a:solidFill>
                      <a:srgbClr val="EB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Attribute 또는 Symbol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91919"/>
                          </a:solidFill>
                          <a:latin typeface="NanumGothic"/>
                        </a:rPr>
                        <a:t>static metadata 또는 side-table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ODS/TableGen Skeleton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72800" cy="4983480"/>
          </a:xfrm>
          <a:prstGeom prst="roundRect">
            <a:avLst/>
          </a:prstGeom>
          <a:solidFill>
            <a:srgbClr val="F5F7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10607040" cy="4727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NanumGothicCoding"/>
              </a:defRPr>
            </a:pPr>
            <a:r>
              <a:t>def NPUKernel_Dialect : Dialect {</a:t>
            </a:r>
            <a:br/>
            <a:r>
              <a:t>  let name = "npu_kernel";</a:t>
            </a:r>
            <a:br/>
            <a:r>
              <a:t>  let cppNamespace = "::npu::kernel";</a:t>
            </a:r>
            <a:br/>
            <a:r>
              <a:t>  let summary = "Kernel-level NPU operations";</a:t>
            </a:r>
            <a:br/>
            <a:r>
              <a:t>}</a:t>
            </a:r>
            <a:br/>
            <a:br/>
            <a:r>
              <a:t>class NPUKernel_Op&lt;string mnemonic, list&lt;Trait&gt; traits = []&gt;</a:t>
            </a:r>
            <a:br/>
            <a:r>
              <a:t>    : Op&lt;NPUKernel_Dialect, mnemonic, traits&gt;;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npu_kernel.matmul Pseudo 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72800" cy="4983480"/>
          </a:xfrm>
          <a:prstGeom prst="roundRect">
            <a:avLst/>
          </a:prstGeom>
          <a:solidFill>
            <a:srgbClr val="F5F7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10607040" cy="4727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41414"/>
                </a:solidFill>
                <a:latin typeface="NanumGothicCoding"/>
              </a:defRPr>
            </a:pPr>
            <a:r>
              <a:t>def NPUKernel_MatMulOp : NPUKernel_Op&lt;"matmul", []&gt; {</a:t>
            </a:r>
            <a:br/>
            <a:r>
              <a:t>  let arguments = (ins AnyType:$lhs, AnyType:$rhs,</a:t>
            </a:r>
            <a:br/>
            <a:r>
              <a:t>                       I64ArrayAttr:$tile_shape,</a:t>
            </a:r>
            <a:br/>
            <a:r>
              <a:t>                       StrAttr:$accumulator_type);</a:t>
            </a:r>
            <a:br/>
            <a:r>
              <a:t>  let results = (outs AnyType:$acc);</a:t>
            </a:r>
            <a:br/>
            <a:r>
              <a:t>  let hasVerifier = 1;</a:t>
            </a:r>
            <a:br/>
            <a:br/>
            <a:r>
              <a:t>  // verifier: K match, tile legality, SRAM footprint,</a:t>
            </a:r>
            <a:br/>
            <a:r>
              <a:t>  // dtype/accumulator compatibility, array mapping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Verifier는 Target Contract다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잘못된 IR을 runtime까지 보내지 않는다.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shape/layout/dtype legality를 조기에 검증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SRAM capacity, DMA alignment, barrier dependency 확인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FileCheck negative test와 함께 관리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Verifier rule은 hardware spec과 같이 versioning되어야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Traits와 Interfaces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Trait: operation의 정적인 구조/성질 선언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Interface: pass가 공통으로 호출할 semantic API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NPU DMA op는 side effect를 명확히 표현해야 한다.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Tiling/fusion/bufferization pass가 interface를 통해 dialect 독립적으로 작동할 수 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Parser / Printer가 중요한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읽기 쉬운 IR은 debug 속도를 결정한다.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FileCheck 테스트가 안정적이고 짧아진다.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custom assembly format은 너무 마법적이면 안 된다.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round-trip parse/print test를 반드시 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Pass와 Dependent Dialects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pass가 새 op/type/attribute를 만들면 dialect loading이 필요하다.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getDependentDialects 누락은 out-of-tree build와 멀티스레드 pipeline에서 문제를 만든다.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pass boundary는 dialect boundary와 함께 설계한다.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Pass Dependency Pseudo C++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72800" cy="4983480"/>
          </a:xfrm>
          <a:prstGeom prst="roundRect">
            <a:avLst/>
          </a:prstGeom>
          <a:solidFill>
            <a:srgbClr val="F5F7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81912"/>
            <a:ext cx="10607040" cy="4727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41414"/>
                </a:solidFill>
                <a:latin typeface="NanumGothicCoding"/>
              </a:defRPr>
            </a:pPr>
            <a:r>
              <a:t>void getDependentDialects(DialectRegistry &amp;registry) const override {</a:t>
            </a:r>
            <a:br/>
            <a:r>
              <a:t>  registry.insert&lt;npu::kernel::NPUKernelDialect,</a:t>
            </a:r>
            <a:br/>
            <a:r>
              <a:t>                  memref::MemRefDialect,</a:t>
            </a:r>
            <a:br/>
            <a:r>
              <a:t>                  scf::SCFDialect,</a:t>
            </a:r>
            <a:br/>
            <a:r>
              <a:t>                  arith::ArithDialect&gt;();</a:t>
            </a:r>
            <a:br/>
            <a:r>
              <a:t>}</a:t>
            </a:r>
            <a:br/>
            <a:br/>
            <a:r>
              <a:t>void runOnOperation() override {</a:t>
            </a:r>
            <a:br/>
            <a:r>
              <a:t>  // ConversionTarget + RewritePatternSet + TypeConverter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Dialect Conversion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ConversionTarget: 어떤 op/dialect가 legal인가?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RewritePattern: illegal op를 legal op로 낮춘다.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TypeConverter: tensor/memref/descriptor type 변환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Partial lowering을 통해 여러 dialect가 잠시 공존할 수 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Good Dialect Layering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Frontend semantic을 너무 빨리 잃지 않는다.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linalg/vector/scf/memref 최적화를 최대한 재사용한다.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target-specific decision이 필요할 때 custom NPU op를 도입한다.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runtime ABI는 가장 낮은 level에 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Bad Smells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npu dialect 하나에 모든 op를 넣는다.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operation 이름이 abstraction level을 설명하지 않는다.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attribute에 중요한 semantic을 숨긴다.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verifier 없이 pseudo op만 늘린다.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custom op 도입이 너무 빨라 공통 최적화를 잃는다.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Exercise A: Layer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stablehlo.dot_general, layout hint, DMA load, tensor descriptor를 분류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Frontend / Graph / Kernel / Runtime 중 하나 선택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각 항목의 pass boundary와 verifier 책임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Exercise B: npu_kernel.matmul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operands/results/attributes/types 정의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traits/interfaces 후보 작성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verifier rule 최소 5개 작성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assembly format 초안 작성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FileCheck test 이름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Exercise C: Dialect Boundary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Import -&gt; Graph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Graph -&gt; Kernel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Kernel -&gt; Runtime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Runtime -&gt; Binary/Command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각 boundary의 input/output dialect와 legality check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Dialect는 MLIR 확장성의 핵심 단위다.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NPU compiler에서는 dialect boundary가 hardware legality boundary다.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custom NPU dialect는 standard dialect 최적화 재사용 이후에 도입하는 것이 좋다.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ODS, verifier, interface, tests까지 함께 설계해야 실전 compiler가 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3E5B"/>
                </a:solidFill>
                <a:latin typeface="NanumGothic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33856"/>
            <a:ext cx="113385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05613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MLIR Language Reference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Defining Dialects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Creating a Dialect Tutorial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Operation Definition Specification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Defining Dialect Attributes and Types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Dialect Conversion</a:t>
            </a:r>
          </a:p>
          <a:p>
            <a:pPr>
              <a:spcAft>
                <a:spcPts val="600"/>
              </a:spcAft>
              <a:defRPr sz="1800">
                <a:solidFill>
                  <a:srgbClr val="191919"/>
                </a:solidFill>
                <a:latin typeface="NanumGothic"/>
              </a:defRPr>
            </a:pPr>
            <a:r>
              <a:t>Pass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113385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  <a:latin typeface="NanumGothic"/>
              </a:defRPr>
            </a:pPr>
            <a:r>
              <a:t>MLIR/NPU Compiler - Lecture 05 |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