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3400" b="1">
                <a:solidFill>
                  <a:srgbClr val="22407A"/>
                </a:solidFill>
                <a:latin typeface="Noto Sans CJK KR"/>
              </a:rPr>
              <a:t>Lecture 09 - Pass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800" b="0">
                <a:solidFill>
                  <a:srgbClr val="4878AA"/>
                </a:solidFill>
                <a:latin typeface="Noto Sans CJK KR"/>
              </a:rPr>
              <a:t>NPU Lowering Pass Pipeline Draft</a:t>
            </a:r>
          </a:p>
        </p:txBody>
      </p:sp>
      <p:pic>
        <p:nvPicPr>
          <p:cNvPr id="4" name="Picture 3" descr="MLIR_NPU_Lecture_09_Pass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10744200" cy="6267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오늘의 위치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1-8강: IR, Dialect, StableHLO/TOSA, Linalg, SCF/Affine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9강: 실제 compiler를 움직이는 pass infrastructure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10-15강: Rewrite, Conversion, Bufferization, Vector/Transform으로 확장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Learning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MLIR pass의 실행 단위와 제약을 설명한다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operation anchor와 nested pass pipeline을 읽고 작성한다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dependent dialect, analysis, failure, instrumentation 개념을 NPU compiler에 연결한다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MatMul+Bias+ReLU용 NPU lowering pipeline 초안을 작성한다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Pass가 필요한 이유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IR은 data structure이고, pass는 IR을 변화시키는 compiler action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최적화, 정규화, lowering, 검증, instrumentation을 작게 쪼갠 단위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NPU compiler에서는 fusion/layout/tile/buffer/schedule/emit을 별도 pass로 분리해야 debug와 regression이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Pass Infrastructure 한 장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Pass = current operation을 읽고 하위 IR을 변환하는 unit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PassManager = pass ordering, nesting, threading, instrumentation을 관리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Analysis = lazy/cached compiler fact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Pipeline = command line과 code에서 재현 가능한 compiler recipe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공식 문서 관점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MLIR pass는 transformation/optimization의 기본 infrastructure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OperationPass가 기본 단위이며 pass manager는 operation nesting level별로 pass를 schedule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mlir-opt는 textual IR을 parse하고 pass sequence를 실행한 뒤 다시 serialize하는 test/debug utility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Pass = Current Operation Contract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Pass는 current operation과 그 하위 operation을 대상으로 동작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sibling operation state를 가정하거나 수정하면 multi-threaded execution에서 위험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pass instance는 여러 operation에 복사되어 실행될 수 있으므로 mutable global/pass state 금지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NPU pass는 module/function/kernel 중 정확한 anchor를 선택해야 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OperationPass 종류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OperationPass&lt;&gt;: op-agnostic pass</a:t>
            </a:r>
          </a:p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OperationPass&lt;ModuleOp&gt;: module-level pass</a:t>
            </a:r>
          </a:p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OperationPass&lt;func::FuncOp&gt;: function-level pass</a:t>
            </a:r>
          </a:p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InterfacePass&lt;FunctionOpInterface&gt;: interface 기반 filtered pass</a:t>
            </a:r>
          </a:p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NPU 예: npu.kernel 전용 scheduling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Operation Anchoring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634"/>
                </a:solidFill>
                <a:latin typeface="Noto Sans CJK KR"/>
              </a:defRPr>
            </a:pPr>
            <a:r>
              <a:t>• builtin.module: symbol table, whole-graph legality, ABI emission</a:t>
            </a:r>
          </a:p>
          <a:p>
            <a:pPr>
              <a:spcAft>
                <a:spcPts val="800"/>
              </a:spcAft>
              <a:defRPr sz="1500">
                <a:solidFill>
                  <a:srgbClr val="1E2634"/>
                </a:solidFill>
                <a:latin typeface="Noto Sans CJK KR"/>
              </a:defRPr>
            </a:pPr>
            <a:r>
              <a:t>• func.func: linalg/tensor graph cleanup, fusion, local optimization</a:t>
            </a:r>
          </a:p>
          <a:p>
            <a:pPr>
              <a:spcAft>
                <a:spcPts val="800"/>
              </a:spcAft>
              <a:defRPr sz="1500">
                <a:solidFill>
                  <a:srgbClr val="1E2634"/>
                </a:solidFill>
                <a:latin typeface="Noto Sans CJK KR"/>
              </a:defRPr>
            </a:pPr>
            <a:r>
              <a:t>• npu.kernel: tile loop, DMA/barrier, SRAM allocation</a:t>
            </a:r>
          </a:p>
          <a:p>
            <a:pPr>
              <a:spcAft>
                <a:spcPts val="800"/>
              </a:spcAft>
              <a:defRPr sz="1500">
                <a:solidFill>
                  <a:srgbClr val="1E2634"/>
                </a:solidFill>
                <a:latin typeface="Noto Sans CJK KR"/>
              </a:defRPr>
            </a:pPr>
            <a:r>
              <a:t>• any(...): 여러 viable isolated op에 generic pass 적용</a:t>
            </a:r>
          </a:p>
        </p:txBody>
      </p:sp>
      <p:pic>
        <p:nvPicPr>
          <p:cNvPr id="5" name="Picture 4" descr="MLIR_NPU_Lecture_09_Operation_Anch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243584"/>
            <a:ext cx="6949440" cy="4053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Nested Pass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Textual pipeline은 op-anchor(pass, nested-pipeline, options) 형태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예: builtin.module(func.func(cse,canonicalize), npu-infer-layout)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nested manager는 IR nesting 구조에 맞춰 실행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NPU에서는 function pass와 kernel pass를 섞을 때 nesting boundary가 중요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Pass Ordering 원칙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Canonicalize/CSE는 transformation 사이의 glue pass</a:t>
            </a:r>
          </a:p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Legality가 높은 IR에서 fusion/layout을 먼저 결정</a:t>
            </a:r>
          </a:p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Bufferization 이후에는 tensor-level fusion 자유도가 줄어듦</a:t>
            </a:r>
          </a:p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Memory-space assignment는 tile size와 DMA schedule 전에 결정되어야 함</a:t>
            </a:r>
          </a:p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Runtime ABI emission은 마지막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NPU Compiler Pass Taxonomy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Cleanup pass: canonicalize, cse, shape cleanup</a:t>
            </a:r>
          </a:p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Graph pass: op legalization, fusion, layout propagation, quant policy</a:t>
            </a:r>
          </a:p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Kernel pass: tiling, vectorization, memory-space assignment</a:t>
            </a:r>
          </a:p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Schedule pass: DMA/barrier insertion, bank-conflict fix</a:t>
            </a:r>
          </a:p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Runtime pass: descriptor/command buffer emission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Pass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634"/>
                </a:solidFill>
                <a:latin typeface="Noto Sans CJK KR"/>
              </a:defRPr>
            </a:pPr>
            <a:r>
              <a:t>• Register -&gt; Configure -&gt; Initialize -&gt; Run -&gt; Verify -&gt; Preserve</a:t>
            </a:r>
          </a:p>
          <a:p>
            <a:pPr>
              <a:spcAft>
                <a:spcPts val="800"/>
              </a:spcAft>
              <a:defRPr sz="1500">
                <a:solidFill>
                  <a:srgbClr val="1E2634"/>
                </a:solidFill>
                <a:latin typeface="Noto Sans CJK KR"/>
              </a:defRPr>
            </a:pPr>
            <a:r>
              <a:t>• TableGen Pass spec로 boilerplate를 줄임</a:t>
            </a:r>
          </a:p>
          <a:p>
            <a:pPr>
              <a:spcAft>
                <a:spcPts val="800"/>
              </a:spcAft>
              <a:defRPr sz="1500">
                <a:solidFill>
                  <a:srgbClr val="1E2634"/>
                </a:solidFill>
                <a:latin typeface="Noto Sans CJK KR"/>
              </a:defRPr>
            </a:pPr>
            <a:r>
              <a:t>• runOnOperation()에서 IR mutation 수행</a:t>
            </a:r>
          </a:p>
          <a:p>
            <a:pPr>
              <a:spcAft>
                <a:spcPts val="800"/>
              </a:spcAft>
              <a:defRPr sz="1500">
                <a:solidFill>
                  <a:srgbClr val="1E2634"/>
                </a:solidFill>
                <a:latin typeface="Noto Sans CJK KR"/>
              </a:defRPr>
            </a:pPr>
            <a:r>
              <a:t>• signalPassFailure()는 pipeline을 중단시키는 정상 실패 경로</a:t>
            </a:r>
          </a:p>
        </p:txBody>
      </p:sp>
      <p:pic>
        <p:nvPicPr>
          <p:cNvPr id="5" name="Picture 4" descr="MLIR_NPU_Lecture_09_Pass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243584"/>
            <a:ext cx="6949440" cy="4053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C++ Pass Skeleton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881360" cy="4937760"/>
          </a:xfrm>
          <a:prstGeom prst="roundRect">
            <a:avLst/>
          </a:prstGeom>
          <a:solidFill>
            <a:srgbClr val="1E2634"/>
          </a:solidFill>
          <a:ln>
            <a:solidFill>
              <a:srgbClr val="1E2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554480"/>
            <a:ext cx="10552176" cy="466344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NanumGothicCoding"/>
              </a:rPr>
              <a:t>struct FuseMatmulEpiloguePass
  : PassWrapper&lt;..., OperationPass&lt;func::FuncOp&gt;&gt; {
  void getDependentDialects(DialectRegistry &amp;r) const override {
    r.insert&lt;npu::NpuGraphDialect&gt;();
  }
  void runOnOperation() override {
    func::FuncOp f = getOperation();
    if (failed(matchAndRewrite(f))) {
      f.emitError("illegal NPU epilogue pattern");
      return signalPassFailure();
    }
    ++numFused;
  }
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Dependent Dialects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Pass가 새 operation/type/attribute를 만들 수 있으면 dialect를 명시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multi-threaded pass pipeline 실행 전 dialect load가 필요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예: Linalg -&gt; NPU pass는 npu_graph/npu_kernel dialect를 dependent로 등록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입력 IR에 이미 존재하는 dialect만 읽는 것은 보통 dependent 등록 대상이 아님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Analysis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634"/>
                </a:solidFill>
                <a:latin typeface="Noto Sans CJK KR"/>
              </a:defRPr>
            </a:pPr>
            <a:r>
              <a:t>• Analysis는 IR fact를 계산하고 cache하는 독립 class</a:t>
            </a:r>
          </a:p>
          <a:p>
            <a:pPr>
              <a:spcAft>
                <a:spcPts val="800"/>
              </a:spcAft>
              <a:defRPr sz="1500">
                <a:solidFill>
                  <a:srgbClr val="1E2634"/>
                </a:solidFill>
                <a:latin typeface="Noto Sans CJK KR"/>
              </a:defRPr>
            </a:pPr>
            <a:r>
              <a:t>• Transformation pass가 IR을 바꾸면 관련 analysis가 invalidated</a:t>
            </a:r>
          </a:p>
          <a:p>
            <a:pPr>
              <a:spcAft>
                <a:spcPts val="800"/>
              </a:spcAft>
              <a:defRPr sz="1500">
                <a:solidFill>
                  <a:srgbClr val="1E2634"/>
                </a:solidFill>
                <a:latin typeface="Noto Sans CJK KR"/>
              </a:defRPr>
            </a:pPr>
            <a:r>
              <a:t>• 변경하지 않았거나 invariant가 유지되면 markAnalysesPreserved 사용</a:t>
            </a:r>
          </a:p>
          <a:p>
            <a:pPr>
              <a:spcAft>
                <a:spcPts val="800"/>
              </a:spcAft>
              <a:defRPr sz="1500">
                <a:solidFill>
                  <a:srgbClr val="1E2634"/>
                </a:solidFill>
                <a:latin typeface="Noto Sans CJK KR"/>
              </a:defRPr>
            </a:pPr>
            <a:r>
              <a:t>• NPU 예: shape info, layout feasibility, SRAM footprint, liveness, dominance</a:t>
            </a:r>
          </a:p>
        </p:txBody>
      </p:sp>
      <p:pic>
        <p:nvPicPr>
          <p:cNvPr id="5" name="Picture 4" descr="MLIR_NPU_Lecture_09_Analysis_Pre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243584"/>
            <a:ext cx="6949440" cy="4053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Preservation 예시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CSE가 순수 op만 제거: dominance는 유지될 수 있음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Fusion이 producer/consumer region을 합침: use-def/liveness 재계산 필요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Tiling이 loop nest를 새로 만듦: loop/dominance 관련 analysis 주의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Bufferization은 tensor alias/lifetime 가정을 크게 바꾸므로 보수적으로 invalidation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Pass Options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Pass option은 compile-time heuristic을 재현 가능하게 만든다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예: tile-m=64, tile-n=128, tile-k=32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예: target=sram_512kb, acc=i32, enable-double-buffer=true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NPU tuning knob은 pass option과 pipeline option으로 노출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Pass Statistics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몇 개의 op를 fuse했는지, tile을 몇 개 만들었는지, spill이 몇 번 발생했는지 기록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NPU compiler CI에서 performance regression signal로 활용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예: numFusedEpilogues, numSramSpills, numDmaOps, numBankConflictFixes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Declarative Pass Spec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TableGen Pass spec는 summary, description, dependentDialects, options, statistics를 선언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생성된 base class를 상속하면 반복 boilerplate 감소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Pass 문서 자동 생성과 command-line option 정합성에 유리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산업용 NPU compiler에서는 pass registry와 문서 자동화가 중요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Pass Registration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PassRegistration&lt;MyPass&gt;()로 pass를 command line에서 사용할 수 있게 등록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PassPipelineRegistration으로 복합 pipeline을 하나의 이름으로 등록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예: --npu-lowering-pipeline{target=npu256,sram-kb=512}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tool, test, runtime compiler가 동일 pipeline string을 공유해야 재현성 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Dynamic Pass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Pass 내부에서 조건부로 nested pipeline 실행 가능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runPipeline(OpPassManager &amp;, Operation *) 사용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예: npu.partition이 각 subgraph의 shape/layout에 따라 다른 kernel pipeline을 실행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단, 일반적으로 Pass 내부에서 별도 PassManager를 직접 만들지 않는 편이 안전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Instrumentation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IR printing: before/after/change/failure</a:t>
            </a:r>
          </a:p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Timing: pass별 compile-time hotspot 분석</a:t>
            </a:r>
          </a:p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Statistics: transformation count 추적</a:t>
            </a:r>
          </a:p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Crash reproducer: 실패 재현 가능한 MLIR snapshot 생성</a:t>
            </a:r>
          </a:p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NPU compiler bring-up에서는 필수 debug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Debug Flags Recipe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881360" cy="4937760"/>
          </a:xfrm>
          <a:prstGeom prst="roundRect">
            <a:avLst/>
          </a:prstGeom>
          <a:solidFill>
            <a:srgbClr val="1E2634"/>
          </a:solidFill>
          <a:ln>
            <a:solidFill>
              <a:srgbClr val="1E2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554480"/>
            <a:ext cx="10552176" cy="466344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NanumGothicCoding"/>
              </a:rPr>
              <a:t>mlir-opt input.mlir \
  --pass-pipeline='builtin.module(func.func(cse,canonicalize),npu-lowering-pipeline)' \
  --mlir-print-ir-after-change \
  --mlir-print-ir-after-failure \
  --mlir-timing \
  --mlir-pass-statistics \
  --mlir-pass-pipeline-crash-reproducer=npu_fail.mlir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NPU Lowering Pipeline Draft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634"/>
                </a:solidFill>
                <a:latin typeface="Noto Sans CJK KR"/>
              </a:defRPr>
            </a:pPr>
            <a:r>
              <a:t>• Import -&gt; Cleanup -&gt; Legalize -&gt; Fuse -&gt; Layout -&gt; Tile -&gt; Bufferize -&gt; MemorySpace -&gt; DMA/Barrier -&gt; Runtime</a:t>
            </a:r>
          </a:p>
          <a:p>
            <a:pPr>
              <a:spcAft>
                <a:spcPts val="800"/>
              </a:spcAft>
              <a:defRPr sz="1500">
                <a:solidFill>
                  <a:srgbClr val="1E2634"/>
                </a:solidFill>
                <a:latin typeface="Noto Sans CJK KR"/>
              </a:defRPr>
            </a:pPr>
            <a:r>
              <a:t>• 각 단계마다 input/output dialect와 correctness check를 명시</a:t>
            </a:r>
          </a:p>
          <a:p>
            <a:pPr>
              <a:spcAft>
                <a:spcPts val="800"/>
              </a:spcAft>
              <a:defRPr sz="1500">
                <a:solidFill>
                  <a:srgbClr val="1E2634"/>
                </a:solidFill>
                <a:latin typeface="Noto Sans CJK KR"/>
              </a:defRPr>
            </a:pPr>
            <a:r>
              <a:t>• 9강 실습의 최종 산출물</a:t>
            </a:r>
          </a:p>
        </p:txBody>
      </p:sp>
      <p:pic>
        <p:nvPicPr>
          <p:cNvPr id="5" name="Picture 4" descr="MLIR_NPU_Lecture_09_NPU_Lowerin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243584"/>
            <a:ext cx="6949440" cy="463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Pipeline Stage 1: Import/Cleanup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Input: StableHLO/TOSA 또는 framework graph dialect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Pass: shape canonicalization, constant folding, canonicalize, cse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Output: tensor-level IR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Check: dtype/shape semantics preserved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Pipeline Stage 2: Graph Legalization/Fusion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Pass: decompose unsupported op, fold broadcast, fuse matmul+bias+activation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Output: npu_graph candidate op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Check: target legal op set, quantization metadata, layout contract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Failure path: unsupported dynamic shape or dtype emits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Pipeline Stage 3: Kernelization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Pass: tile M/N/K, vectorize, choose accumulator type, allocate scratch buffers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Output: npu_kernel ops or SCF/Affine loop nest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Check: SRAM/accumulator footprint, edge tile policy, bank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Pipeline Stage 4: Scheduling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Pass: insert DMA load/store, double-buffering, barrier/await placement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Check: producer-consumer dependency and memory hazard absence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NPU target knobs: DMA channels, SRAM banks, outstanding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Pipeline Stage 5: Runtime/ABI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Pass: tensor descriptor, command buffer, kernel metadata emission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Output: npu_rt.launch or binary command section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Check: ABI version, alignment, descriptor field coverage, host/runtime compatibility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MatMul+Bias+ReLU Case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Start: linalg.matmul + arith.addf + arith.maximumf</a:t>
            </a:r>
          </a:p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Fuse epilogue while tensor semantics are still high-level</a:t>
            </a:r>
          </a:p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Tile after fusion to avoid separate write/read of C</a:t>
            </a:r>
          </a:p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Bufferize after layout/tile decisions</a:t>
            </a:r>
          </a:p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Emit npu.matmul with epilogue=relu or command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실습 A - Pipeline 읽기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제공된 01_pass_pipeline_input.mlir 읽기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mlir-opt pipeline string에서 anchor와 pass order 표시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각 pass가 생성할 수 있는 dialect와 필요한 analysis를 표로 작성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실습 B - Pass Skeleton 채우기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03_npu_pass_skeleton.cpp의 TODO 채우기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dependent dialect 추가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getOperation(), walk/match, signalPassFailure 위치 표시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통계 counter와 option 이름 작성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실습 C - NPU Lowering Pipeline 초안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MatMul+Bias+ReLU 기준으로 8-12개 pass를 순서대로 배치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각 pass별 input dialect, output dialect, legality check, FileCheck test 작성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성능 목표: 중간 DRAM round-trip 제거, SRAM footprint 제한, compile-time debug 가능성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Common Mistakes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Pass가 sibling/parent IR을 임의 수정</a:t>
            </a:r>
          </a:p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dependent dialect 누락</a:t>
            </a:r>
          </a:p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analysis preservation을 과감하게 선언</a:t>
            </a:r>
          </a:p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pass option 없이 hidden heuristic 사용</a:t>
            </a:r>
          </a:p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bufferization 이후에 graph fusion을 시도</a:t>
            </a:r>
          </a:p>
          <a:p>
            <a:pPr>
              <a:spcAft>
                <a:spcPts val="800"/>
              </a:spcAft>
              <a:defRPr sz="1700">
                <a:solidFill>
                  <a:srgbClr val="1E2634"/>
                </a:solidFill>
                <a:latin typeface="Noto Sans CJK KR"/>
              </a:defRPr>
            </a:pPr>
            <a:r>
              <a:t>• FileCheck가 너무 brittle하여 SSA 이름 변경에 취약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Pass는 NPU compiler의 product-quality boundary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좋은 pipeline은 IR legality, analysis, debug, test가 함께 설계된다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Pass ordering은 성능과 correctness를 동시에 결정한다</a:t>
            </a:r>
          </a:p>
          <a:p>
            <a:pPr>
              <a:spcAft>
                <a:spcPts val="800"/>
              </a:spcAft>
              <a:defRPr sz="1900">
                <a:solidFill>
                  <a:srgbClr val="1E2634"/>
                </a:solidFill>
                <a:latin typeface="Noto Sans CJK KR"/>
              </a:defRPr>
            </a:pPr>
            <a:r>
              <a:t>• 다음 강의: Rewrite Pattern으로 실제 fusion/transformation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2407A"/>
                </a:solidFill>
                <a:latin typeface="Noto Sans CJK KR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2407A"/>
          </a:solidFill>
          <a:ln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0652760" cy="68580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7844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1">
                <a:solidFill>
                  <a:srgbClr val="22407A"/>
                </a:solidFill>
                <a:latin typeface="Noto Sans CJK KR"/>
              </a:rPr>
              <a:t>MLIR Pass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784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1E2634"/>
                </a:solidFill>
                <a:latin typeface="Noto Sans CJK KR"/>
              </a:rPr>
              <a:t>https://mlir.llvm.org/docs/PassManagement/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21992"/>
            <a:ext cx="10652760" cy="68580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13432"/>
            <a:ext cx="1037844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1">
                <a:solidFill>
                  <a:srgbClr val="22407A"/>
                </a:solidFill>
                <a:latin typeface="Noto Sans CJK KR"/>
              </a:rPr>
              <a:t>MLIR Using mlir-opt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103784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1E2634"/>
                </a:solidFill>
                <a:latin typeface="Noto Sans CJK KR"/>
              </a:rPr>
              <a:t>https://mlir.llvm.org/docs/Tutorials/MlirOpt/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026664"/>
            <a:ext cx="10652760" cy="68580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18104"/>
            <a:ext cx="1037844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1">
                <a:solidFill>
                  <a:srgbClr val="22407A"/>
                </a:solidFill>
                <a:latin typeface="Noto Sans CJK KR"/>
              </a:rPr>
              <a:t>MLIR Passes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38144"/>
            <a:ext cx="103784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1E2634"/>
                </a:solidFill>
                <a:latin typeface="Noto Sans CJK KR"/>
              </a:rPr>
              <a:t>https://mlir.llvm.org/docs/Passes/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831336"/>
            <a:ext cx="10652760" cy="68580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22776"/>
            <a:ext cx="1037844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1">
                <a:solidFill>
                  <a:srgbClr val="22407A"/>
                </a:solidFill>
                <a:latin typeface="Noto Sans CJK KR"/>
              </a:rPr>
              <a:t>MLIR Language 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42816"/>
            <a:ext cx="103784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1E2634"/>
                </a:solidFill>
                <a:latin typeface="Noto Sans CJK KR"/>
              </a:rPr>
              <a:t>https://mlir.llvm.org/docs/LangRef/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36008"/>
            <a:ext cx="10652760" cy="685800"/>
          </a:xfrm>
          <a:prstGeom prst="roundRect">
            <a:avLst/>
          </a:prstGeom>
          <a:solidFill>
            <a:srgbClr val="F8FAFD"/>
          </a:solidFill>
          <a:ln w="19050">
            <a:solidFill>
              <a:srgbClr val="22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27448"/>
            <a:ext cx="1037844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1">
                <a:solidFill>
                  <a:srgbClr val="22407A"/>
                </a:solidFill>
                <a:latin typeface="Noto Sans CJK KR"/>
              </a:rPr>
              <a:t>MLIR Quickstart Rewrites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47488"/>
            <a:ext cx="103784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1E2634"/>
                </a:solidFill>
                <a:latin typeface="Noto Sans CJK KR"/>
              </a:rPr>
              <a:t>https://mlir.llvm.org/docs/Tutorials/QuickstartRewrites/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3657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MLIR NPU Compiler - Lecture 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10528"/>
            <a:ext cx="64008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4878AA"/>
                </a:solidFill>
                <a:latin typeface="Noto Sans CJK KR"/>
              </a:rP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