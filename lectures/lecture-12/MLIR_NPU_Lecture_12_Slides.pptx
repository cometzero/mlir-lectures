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3458"/>
          </a:solidFill>
          <a:ln>
            <a:solidFill>
              <a:srgbClr val="19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Noto Sans CJK KR"/>
              </a:defRPr>
            </a:pPr>
            <a:r>
              <a:t>Lecture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EBF5FF"/>
                </a:solidFill>
                <a:latin typeface="Noto Sans CJK KR"/>
              </a:defRPr>
            </a:pPr>
            <a:r>
              <a:t>Bufferization: Tensor -&gt; MemRef, Alias, and Lifetime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8620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DCE6F0"/>
                </a:solidFill>
                <a:latin typeface="Noto Sans CJK KR"/>
              </a:defRPr>
            </a:pPr>
            <a:r>
              <a:t>NPU compiler boundary where abstract tensor SSA becomes physical buffers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93458"/>
          </a:solidFill>
          <a:ln>
            <a:solidFill>
              <a:srgbClr val="19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Noto Sans CJK KR"/>
              </a:defRPr>
            </a:pPr>
            <a:r>
              <a:t>오늘의 위치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6F0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97280"/>
            <a:ext cx="10789920" cy="5120640"/>
          </a:xfrm>
          <a:prstGeom prst="roundRect">
            <a:avLst/>
          </a:prstGeom>
          <a:solidFill>
            <a:srgbClr val="F7F9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28600" tIns="201168"/>
          <a:lstStyle/>
          <a:p>
            <a:pPr algn="ctr"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지난 강의: Dialect Conversion으로 legal op set을 만든다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이번 강의: tensor value semantics를 memref storage semantics로 변환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다음 강의: MemRef layout, memory space, SRAM/DRAM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2881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28C96"/>
                </a:solidFill>
                <a:latin typeface="Noto Sans CJK KR"/>
              </a:defRPr>
            </a:pPr>
            <a:r>
              <a:t>AI/NPU Compiler를 위한 MLIR 기초 - Lecture 12 Bufferization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93458"/>
          </a:solidFill>
          <a:ln>
            <a:solidFill>
              <a:srgbClr val="19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Noto Sans CJK KR"/>
              </a:defRPr>
            </a:pPr>
            <a: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6F0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97280"/>
            <a:ext cx="10789920" cy="5120640"/>
          </a:xfrm>
          <a:prstGeom prst="roundRect">
            <a:avLst/>
          </a:prstGeom>
          <a:solidFill>
            <a:srgbClr val="F7F9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28600" tIns="201168"/>
          <a:lstStyle/>
          <a:p>
            <a:pPr algn="ctr"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Bufferization이 왜 late-stage boundary인지 설명한다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One-Shot Bufferize의 analysis/rewrite 구조를 이해한다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DPS, outs operand, in-place bufferization 조건을 읽는다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NPU memory planning 관점의 alias/lifetime audit를 수행한다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2881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28C96"/>
                </a:solidFill>
                <a:latin typeface="Noto Sans CJK KR"/>
              </a:defRPr>
            </a:pPr>
            <a:r>
              <a:t>AI/NPU Compiler를 위한 MLIR 기초 - Lecture 12 Bufferization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93458"/>
          </a:solidFill>
          <a:ln>
            <a:solidFill>
              <a:srgbClr val="19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Noto Sans CJK KR"/>
              </a:defRPr>
            </a:pPr>
            <a:r>
              <a:t>왜 Bufferization이 NPU에서 중요한가?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6F0"/>
                </a:solidFill>
                <a:latin typeface="Noto Sans CJK KR"/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97280"/>
            <a:ext cx="10789920" cy="5120640"/>
          </a:xfrm>
          <a:prstGeom prst="roundRect">
            <a:avLst/>
          </a:prstGeom>
          <a:solidFill>
            <a:srgbClr val="F7F9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28600" tIns="201168"/>
          <a:lstStyle/>
          <a:p>
            <a:pPr algn="ctr"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NPU 성능은 compute보다 data movement에 자주 제한된다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불필요한 tensor copy는 SRAM bandwidth와 DRAM traffic을 동시에 증가시킨다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잘못된 in-place 결정은 output corruption으로 이어진다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runtime ABI는 결국 memref/tensor descriptor와 command buffer를 요구한다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2881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28C96"/>
                </a:solidFill>
                <a:latin typeface="Noto Sans CJK KR"/>
              </a:defRPr>
            </a:pPr>
            <a:r>
              <a:t>AI/NPU Compiler를 위한 MLIR 기초 - Lecture 12 Bufferization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93458"/>
          </a:solidFill>
          <a:ln>
            <a:solidFill>
              <a:srgbClr val="19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Noto Sans CJK KR"/>
              </a:defRPr>
            </a:pPr>
            <a:r>
              <a:t>Tensor vs MemRef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6F0"/>
                </a:solidFill>
                <a:latin typeface="Noto Sans CJK KR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05840"/>
            <a:ext cx="5303520" cy="4937760"/>
          </a:xfrm>
          <a:prstGeom prst="roundRect">
            <a:avLst/>
          </a:prstGeom>
          <a:solidFill>
            <a:srgbClr val="F7F9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28600" tIns="201168"/>
          <a:lstStyle/>
          <a:p>
            <a:pPr algn="ctr">
              <a:spcAft>
                <a:spcPts val="800"/>
              </a:spcAft>
              <a:defRPr sz="2000">
                <a:solidFill>
                  <a:srgbClr val="1E2832"/>
                </a:solidFill>
                <a:latin typeface="Noto Sans CJK KR"/>
              </a:defRPr>
            </a:pPr>
            <a:r>
              <a:t>tensor: immutable SSA value, shape/type 중심, high-level optimization에 유리</a:t>
            </a:r>
          </a:p>
          <a:p>
            <a:pPr>
              <a:spcAft>
                <a:spcPts val="800"/>
              </a:spcAft>
              <a:defRPr sz="2000">
                <a:solidFill>
                  <a:srgbClr val="1E2832"/>
                </a:solidFill>
                <a:latin typeface="Noto Sans CJK KR"/>
              </a:defRPr>
            </a:pPr>
            <a:r>
              <a:t>memref: mutable buffer reference, layout/memory space/lifetime이 명시됨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005840"/>
            <a:ext cx="5303520" cy="4937760"/>
          </a:xfrm>
          <a:prstGeom prst="roundRect">
            <a:avLst/>
          </a:prstGeom>
          <a:solidFill>
            <a:srgbClr val="F7F9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28600" tIns="201168"/>
          <a:lstStyle/>
          <a:p>
            <a:pPr algn="ctr">
              <a:spcAft>
                <a:spcPts val="800"/>
              </a:spcAft>
              <a:defRPr sz="2000">
                <a:solidFill>
                  <a:srgbClr val="1E2832"/>
                </a:solidFill>
                <a:latin typeface="Noto Sans CJK KR"/>
              </a:defRPr>
            </a:pPr>
            <a:r>
              <a:t>bufferization은 추상 값에서 물리 storage obligation으로 넘어가는 경계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52881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28C96"/>
                </a:solidFill>
                <a:latin typeface="Noto Sans CJK KR"/>
              </a:defRPr>
            </a:pPr>
            <a:r>
              <a:t>AI/NPU Compiler를 위한 MLIR 기초 - Lecture 12 Bufferization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93458"/>
          </a:solidFill>
          <a:ln>
            <a:solidFill>
              <a:srgbClr val="19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Noto Sans CJK KR"/>
              </a:defRPr>
            </a:pPr>
            <a:r>
              <a:t>Bufferization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6F0"/>
                </a:solidFill>
                <a:latin typeface="Noto Sans CJK KR"/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868680"/>
            <a:ext cx="4023360" cy="5440680"/>
          </a:xfrm>
          <a:prstGeom prst="roundRect">
            <a:avLst/>
          </a:prstGeom>
          <a:solidFill>
            <a:srgbClr val="F7F9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28600" tIns="201168"/>
          <a:lstStyle/>
          <a:p>
            <a:pPr algn="ctr">
              <a:spcAft>
                <a:spcPts val="800"/>
              </a:spcAft>
              <a:defRPr sz="1500">
                <a:solidFill>
                  <a:srgbClr val="1E2832"/>
                </a:solidFill>
                <a:latin typeface="Noto Sans CJK KR"/>
              </a:defRPr>
            </a:pPr>
            <a:r>
              <a:t>StableHLO/TOSA -&gt; Tensor/Linalg 단계에서 fuse/tile/canonicalize</a:t>
            </a:r>
          </a:p>
          <a:p>
            <a:pPr>
              <a:spcAft>
                <a:spcPts val="800"/>
              </a:spcAft>
              <a:defRPr sz="1500">
                <a:solidFill>
                  <a:srgbClr val="1E2832"/>
                </a:solidFill>
                <a:latin typeface="Noto Sans CJK KR"/>
              </a:defRPr>
            </a:pPr>
            <a:r>
              <a:t>Bufferization 이후에는 alloc/copy/load/store/dealloc 비용이 드러남</a:t>
            </a:r>
          </a:p>
          <a:p>
            <a:pPr>
              <a:spcAft>
                <a:spcPts val="800"/>
              </a:spcAft>
              <a:defRPr sz="1500">
                <a:solidFill>
                  <a:srgbClr val="1E2832"/>
                </a:solidFill>
                <a:latin typeface="Noto Sans CJK KR"/>
              </a:defRPr>
            </a:pPr>
            <a:r>
              <a:t>NPU compiler는 bufferization 전후의 pass boundary를 명확히 관리해야 함</a:t>
            </a:r>
          </a:p>
        </p:txBody>
      </p:sp>
      <p:pic>
        <p:nvPicPr>
          <p:cNvPr id="6" name="Picture 5" descr="MLIR_NPU_Lecture_12_Bufferization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960120"/>
            <a:ext cx="7086600" cy="39862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652881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28C96"/>
                </a:solidFill>
                <a:latin typeface="Noto Sans CJK KR"/>
              </a:defRPr>
            </a:pPr>
            <a:r>
              <a:t>AI/NPU Compiler를 위한 MLIR 기초 - Lecture 12 Bufferization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93458"/>
          </a:solidFill>
          <a:ln>
            <a:solidFill>
              <a:srgbClr val="19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Noto Sans CJK KR"/>
              </a:defRPr>
            </a:pPr>
            <a:r>
              <a:t>공식 문서 관점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6F0"/>
                </a:solidFill>
                <a:latin typeface="Noto Sans CJK KR"/>
              </a:defRPr>
            </a:pPr>
            <a: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97280"/>
            <a:ext cx="10789920" cy="5120640"/>
          </a:xfrm>
          <a:prstGeom prst="roundRect">
            <a:avLst/>
          </a:prstGeom>
          <a:solidFill>
            <a:srgbClr val="F7F9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28600" tIns="201168"/>
          <a:lstStyle/>
          <a:p>
            <a:pPr algn="ctr"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MLIR bufferization은 tensor semantics op를 memref semantics op로 바꾸는 과정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One-Shot Bufferize는 tensor IR을 memref IR로 rewrite하는 핵심 pass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많은 변환은 tensor land에서 더 쉽기 때문에 bufferization은 pipeline 후반에 배치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2881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28C96"/>
                </a:solidFill>
                <a:latin typeface="Noto Sans CJK KR"/>
              </a:defRPr>
            </a:pPr>
            <a:r>
              <a:t>AI/NPU Compiler를 위한 MLIR 기초 - Lecture 12 Bufferization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93458"/>
          </a:solidFill>
          <a:ln>
            <a:solidFill>
              <a:srgbClr val="19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Noto Sans CJK KR"/>
              </a:defRPr>
            </a:pPr>
            <a:r>
              <a:t>One-Shot Bufferize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6F0"/>
                </a:solidFill>
                <a:latin typeface="Noto Sans CJK KR"/>
              </a:defRPr>
            </a:pPr>
            <a: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868680"/>
            <a:ext cx="4023360" cy="5440680"/>
          </a:xfrm>
          <a:prstGeom prst="roundRect">
            <a:avLst/>
          </a:prstGeom>
          <a:solidFill>
            <a:srgbClr val="F7F9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28600" tIns="201168"/>
          <a:lstStyle/>
          <a:p>
            <a:pPr algn="ctr">
              <a:spcAft>
                <a:spcPts val="800"/>
              </a:spcAft>
              <a:defRPr sz="1500">
                <a:solidFill>
                  <a:srgbClr val="1E2832"/>
                </a:solidFill>
                <a:latin typeface="Noto Sans CJK KR"/>
              </a:defRPr>
            </a:pPr>
            <a:r>
              <a:t>whole-function analysis로 tensor SSA use-def chain을 분석</a:t>
            </a:r>
          </a:p>
          <a:p>
            <a:pPr>
              <a:spcAft>
                <a:spcPts val="800"/>
              </a:spcAft>
              <a:defRPr sz="1500">
                <a:solidFill>
                  <a:srgbClr val="1E2832"/>
                </a:solidFill>
                <a:latin typeface="Noto Sans CJK KR"/>
              </a:defRPr>
            </a:pPr>
            <a:r>
              <a:t>alias/equivalence set과 RaW conflict를 고려해 in-place 여부 결정</a:t>
            </a:r>
          </a:p>
          <a:p>
            <a:pPr>
              <a:spcAft>
                <a:spcPts val="800"/>
              </a:spcAft>
              <a:defRPr sz="1500">
                <a:solidFill>
                  <a:srgbClr val="1E2832"/>
                </a:solidFill>
                <a:latin typeface="Noto Sans CJK KR"/>
              </a:defRPr>
            </a:pPr>
            <a:r>
              <a:t>analysis phase 후 rewrite phase에서 memref IR 생성</a:t>
            </a:r>
          </a:p>
          <a:p>
            <a:pPr>
              <a:spcAft>
                <a:spcPts val="800"/>
              </a:spcAft>
              <a:defRPr sz="1500">
                <a:solidFill>
                  <a:srgbClr val="1E2832"/>
                </a:solidFill>
                <a:latin typeface="Noto Sans CJK KR"/>
              </a:defRPr>
            </a:pPr>
            <a:r>
              <a:t>BufferizableOpInterface를 구현한 op가 대상</a:t>
            </a:r>
          </a:p>
        </p:txBody>
      </p:sp>
      <p:pic>
        <p:nvPicPr>
          <p:cNvPr id="6" name="Picture 5" descr="MLIR_NPU_Lecture_12_One_Sho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960120"/>
            <a:ext cx="7086600" cy="39862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652881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28C96"/>
                </a:solidFill>
                <a:latin typeface="Noto Sans CJK KR"/>
              </a:defRPr>
            </a:pPr>
            <a:r>
              <a:t>AI/NPU Compiler를 위한 MLIR 기초 - Lecture 12 Bufferization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93458"/>
          </a:solidFill>
          <a:ln>
            <a:solidFill>
              <a:srgbClr val="19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Noto Sans CJK KR"/>
              </a:defRPr>
            </a:pPr>
            <a:r>
              <a:t>Destination-Passing Style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6F0"/>
                </a:solidFill>
                <a:latin typeface="Noto Sans CJK KR"/>
              </a:defRPr>
            </a:pPr>
            <a: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97280"/>
            <a:ext cx="10789920" cy="5120640"/>
          </a:xfrm>
          <a:prstGeom prst="roundRect">
            <a:avLst/>
          </a:prstGeom>
          <a:solidFill>
            <a:srgbClr val="F7F9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28600" tIns="201168"/>
          <a:lstStyle/>
          <a:p>
            <a:pPr algn="ctr"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DPS op는 result마다 대응되는 destination operand를 가진다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linalg.generic/linalg.matmul의 outs operand가 대표 예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conflict가 없다면 result buffer는 destination buffer를 reuse 가능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NPU에서는 outs가 accumulator/output tile buffer 후보가 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2881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28C96"/>
                </a:solidFill>
                <a:latin typeface="Noto Sans CJK KR"/>
              </a:defRPr>
            </a:pPr>
            <a:r>
              <a:t>AI/NPU Compiler를 위한 MLIR 기초 - Lecture 12 Bufferization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93458"/>
          </a:solidFill>
          <a:ln>
            <a:solidFill>
              <a:srgbClr val="19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Noto Sans CJK KR"/>
              </a:defRPr>
            </a:pPr>
            <a:r>
              <a:t>In-place Bufferization 조건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6F0"/>
                </a:solidFill>
                <a:latin typeface="Noto Sans CJK KR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97280"/>
            <a:ext cx="10789920" cy="5120640"/>
          </a:xfrm>
          <a:prstGeom prst="roundRect">
            <a:avLst/>
          </a:prstGeom>
          <a:solidFill>
            <a:srgbClr val="F7F9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28600" tIns="201168"/>
          <a:lstStyle/>
          <a:p>
            <a:pPr algn="ctr"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destination buffer가 아직 필요한 값을 덮어쓰지 않아야 함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후속 read가 있으면 RaW conflict를 고려해야 함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shape/layout/memory space가 compatible해야 함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aliasing이 불명확하면 copy가 안전한 fallback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2881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28C96"/>
                </a:solidFill>
                <a:latin typeface="Noto Sans CJK KR"/>
              </a:defRPr>
            </a:pPr>
            <a:r>
              <a:t>AI/NPU Compiler를 위한 MLIR 기초 - Lecture 12 Bufferization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93458"/>
          </a:solidFill>
          <a:ln>
            <a:solidFill>
              <a:srgbClr val="19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Noto Sans CJK KR"/>
              </a:defRPr>
            </a:pPr>
            <a:r>
              <a:t>RaW Conflict 직관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6F0"/>
                </a:solidFill>
                <a:latin typeface="Noto Sans CJK KR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868680"/>
            <a:ext cx="4023360" cy="5440680"/>
          </a:xfrm>
          <a:prstGeom prst="roundRect">
            <a:avLst/>
          </a:prstGeom>
          <a:solidFill>
            <a:srgbClr val="F7F9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28600" tIns="201168"/>
          <a:lstStyle/>
          <a:p>
            <a:pPr algn="ctr">
              <a:spcAft>
                <a:spcPts val="800"/>
              </a:spcAft>
              <a:defRPr sz="1500">
                <a:solidFill>
                  <a:srgbClr val="1E2832"/>
                </a:solidFill>
                <a:latin typeface="Noto Sans CJK KR"/>
              </a:defRPr>
            </a:pPr>
            <a:r>
              <a:t>Read-after-Write conflict: 나중에 읽을 값을 먼저 덮어쓰는 문제</a:t>
            </a:r>
          </a:p>
          <a:p>
            <a:pPr>
              <a:spcAft>
                <a:spcPts val="800"/>
              </a:spcAft>
              <a:defRPr sz="1500">
                <a:solidFill>
                  <a:srgbClr val="1E2832"/>
                </a:solidFill>
                <a:latin typeface="Noto Sans CJK KR"/>
              </a:defRPr>
            </a:pPr>
            <a:r>
              <a:t>compiler는 SSA use-def chain에서 conflict를 감지</a:t>
            </a:r>
          </a:p>
          <a:p>
            <a:pPr>
              <a:spcAft>
                <a:spcPts val="800"/>
              </a:spcAft>
              <a:defRPr sz="1500">
                <a:solidFill>
                  <a:srgbClr val="1E2832"/>
                </a:solidFill>
                <a:latin typeface="Noto Sans CJK KR"/>
              </a:defRPr>
            </a:pPr>
            <a:r>
              <a:t>conflict 시 새 alloc 또는 copy를 삽입</a:t>
            </a:r>
          </a:p>
          <a:p>
            <a:pPr>
              <a:spcAft>
                <a:spcPts val="800"/>
              </a:spcAft>
              <a:defRPr sz="1500">
                <a:solidFill>
                  <a:srgbClr val="1E2832"/>
                </a:solidFill>
                <a:latin typeface="Noto Sans CJK KR"/>
              </a:defRPr>
            </a:pPr>
            <a:r>
              <a:t>NPU에서는 SRAM scratch reuse 정책과 직접 연결</a:t>
            </a:r>
          </a:p>
        </p:txBody>
      </p:sp>
      <p:pic>
        <p:nvPicPr>
          <p:cNvPr id="6" name="Picture 5" descr="MLIR_NPU_Lecture_12_Alias_Life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960120"/>
            <a:ext cx="7086600" cy="39862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652881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28C96"/>
                </a:solidFill>
                <a:latin typeface="Noto Sans CJK KR"/>
              </a:defRPr>
            </a:pPr>
            <a:r>
              <a:t>AI/NPU Compiler를 위한 MLIR 기초 - Lecture 12 Bufferization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93458"/>
          </a:solidFill>
          <a:ln>
            <a:solidFill>
              <a:srgbClr val="19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Noto Sans CJK KR"/>
              </a:defRPr>
            </a:pPr>
            <a:r>
              <a:t>bufferization.alloc_tensor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6F0"/>
                </a:solidFill>
                <a:latin typeface="Noto Sans CJK KR"/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868680"/>
            <a:ext cx="4023360" cy="5440680"/>
          </a:xfrm>
          <a:prstGeom prst="roundRect">
            <a:avLst/>
          </a:prstGeom>
          <a:solidFill>
            <a:srgbClr val="F7F9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28600" tIns="201168"/>
          <a:lstStyle/>
          <a:p>
            <a:pPr algn="ctr">
              <a:spcAft>
                <a:spcPts val="800"/>
              </a:spcAft>
              <a:defRPr sz="1500">
                <a:solidFill>
                  <a:srgbClr val="1E2832"/>
                </a:solidFill>
                <a:latin typeface="Noto Sans CJK KR"/>
              </a:defRPr>
            </a:pPr>
            <a:r>
              <a:t>fresh tensor SSA chain을 만드는 anchor</a:t>
            </a:r>
          </a:p>
          <a:p>
            <a:pPr>
              <a:spcAft>
                <a:spcPts val="800"/>
              </a:spcAft>
              <a:defRPr sz="1500">
                <a:solidFill>
                  <a:srgbClr val="1E2832"/>
                </a:solidFill>
                <a:latin typeface="Noto Sans CJK KR"/>
              </a:defRPr>
            </a:pPr>
            <a:r>
              <a:t>bufferized result는 다른 buffer와 alias하지 않는 fresh allocation으로 취급</a:t>
            </a:r>
          </a:p>
          <a:p>
            <a:pPr>
              <a:spcAft>
                <a:spcPts val="800"/>
              </a:spcAft>
              <a:defRPr sz="1500">
                <a:solidFill>
                  <a:srgbClr val="1E2832"/>
                </a:solidFill>
                <a:latin typeface="Noto Sans CJK KR"/>
              </a:defRPr>
            </a:pPr>
            <a:r>
              <a:t>RaW conflict를 깨는 데 유용</a:t>
            </a:r>
          </a:p>
          <a:p>
            <a:pPr>
              <a:spcAft>
                <a:spcPts val="800"/>
              </a:spcAft>
              <a:defRPr sz="1500">
                <a:solidFill>
                  <a:srgbClr val="1E2832"/>
                </a:solidFill>
                <a:latin typeface="Noto Sans CJK KR"/>
              </a:defRPr>
            </a:pPr>
            <a:r>
              <a:t>단, 과도한 사용은 memory footprint 증가</a:t>
            </a:r>
          </a:p>
        </p:txBody>
      </p:sp>
      <p:pic>
        <p:nvPicPr>
          <p:cNvPr id="6" name="Picture 5" descr="MLIR_NPU_Lecture_12_Alloc_Tensor_Anch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960120"/>
            <a:ext cx="7086600" cy="39862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652881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28C96"/>
                </a:solidFill>
                <a:latin typeface="Noto Sans CJK KR"/>
              </a:defRPr>
            </a:pPr>
            <a:r>
              <a:t>AI/NPU Compiler를 위한 MLIR 기초 - Lecture 12 Bufferization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93458"/>
          </a:solidFill>
          <a:ln>
            <a:solidFill>
              <a:srgbClr val="19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Noto Sans CJK KR"/>
              </a:defRPr>
            </a:pPr>
            <a:r>
              <a:t>Tensor / Buffer Boundary 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6F0"/>
                </a:solidFill>
                <a:latin typeface="Noto Sans CJK KR"/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97280"/>
            <a:ext cx="10789920" cy="5120640"/>
          </a:xfrm>
          <a:prstGeom prst="roundRect">
            <a:avLst/>
          </a:prstGeom>
          <a:solidFill>
            <a:srgbClr val="F7F9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28600" tIns="201168"/>
          <a:lstStyle/>
          <a:p>
            <a:pPr algn="ctr"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bufferization.to_tensor: 기존 memref를 tensor world로 가져온다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bufferization.to_buffer: tensor의 future buffer를 memref로 노출한다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materialize_in_destination: 특정 buffer에 tensor materialization 요구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restrict/writable 같은 alias guarantee가 correctness에 중요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2881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28C96"/>
                </a:solidFill>
                <a:latin typeface="Noto Sans CJK KR"/>
              </a:defRPr>
            </a:pPr>
            <a:r>
              <a:t>AI/NPU Compiler를 위한 MLIR 기초 - Lecture 12 Bufferization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93458"/>
          </a:solidFill>
          <a:ln>
            <a:solidFill>
              <a:srgbClr val="19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Noto Sans CJK KR"/>
              </a:defRPr>
            </a:pPr>
            <a:r>
              <a:t>Function Boundary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6F0"/>
                </a:solidFill>
                <a:latin typeface="Noto Sans CJK KR"/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97280"/>
            <a:ext cx="10789920" cy="5120640"/>
          </a:xfrm>
          <a:prstGeom prst="roundRect">
            <a:avLst/>
          </a:prstGeom>
          <a:solidFill>
            <a:srgbClr val="F7F9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28600" tIns="201168"/>
          <a:lstStyle/>
          <a:p>
            <a:pPr algn="ctr"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기본적으로 function boundary bufferization은 별도 정책이 필요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tensor arg/result를 memref arg/result로 바꿀지 결정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runtime ABI와 연결되는 지점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NPU compiler에서는 model entry/exit descriptor contract와 맞춰야 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2881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28C96"/>
                </a:solidFill>
                <a:latin typeface="Noto Sans CJK KR"/>
              </a:defRPr>
            </a:pPr>
            <a:r>
              <a:t>AI/NPU Compiler를 위한 MLIR 기초 - Lecture 12 Bufferization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93458"/>
          </a:solidFill>
          <a:ln>
            <a:solidFill>
              <a:srgbClr val="19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Noto Sans CJK KR"/>
              </a:defRPr>
            </a:pPr>
            <a:r>
              <a:t>Memory Layout 선택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6F0"/>
                </a:solidFill>
                <a:latin typeface="Noto Sans CJK KR"/>
              </a:defRPr>
            </a:pPr>
            <a: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97280"/>
            <a:ext cx="10789920" cy="5120640"/>
          </a:xfrm>
          <a:prstGeom prst="roundRect">
            <a:avLst/>
          </a:prstGeom>
          <a:solidFill>
            <a:srgbClr val="F7F9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28600" tIns="201168"/>
          <a:lstStyle/>
          <a:p>
            <a:pPr algn="ctr"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unknown-type-conversion이 layout map 생성 정책에 영향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fully dynamic layout은 partial bufferization composition에 안전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identity layout은 단순하지만 cast/copy 증가 가능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NPU에서는 layout propagation과 bufferization 순서가 중요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2881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28C96"/>
                </a:solidFill>
                <a:latin typeface="Noto Sans CJK KR"/>
              </a:defRPr>
            </a:pPr>
            <a:r>
              <a:t>AI/NPU Compiler를 위한 MLIR 기초 - Lecture 12 Bufferization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93458"/>
          </a:solidFill>
          <a:ln>
            <a:solidFill>
              <a:srgbClr val="19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Noto Sans CJK KR"/>
              </a:defRPr>
            </a:pPr>
            <a:r>
              <a:t>Bufferization 이후 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6F0"/>
                </a:solidFill>
                <a:latin typeface="Noto Sans CJK KR"/>
              </a:defRPr>
            </a:pPr>
            <a: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97280"/>
            <a:ext cx="10789920" cy="5120640"/>
          </a:xfrm>
          <a:prstGeom prst="roundRect">
            <a:avLst/>
          </a:prstGeom>
          <a:solidFill>
            <a:srgbClr val="F7F9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28600" tIns="201168"/>
          <a:lstStyle/>
          <a:p>
            <a:pPr algn="ctr"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tensor.empty -&gt; memref.alloc 또는 bufferization alloc 계열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tensor.extract/insert -&gt; memref.load/store 또는 copy/subview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linalg-on-tensors -&gt; linalg-on-buffers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deallocation/ownership pass가 memory leak 방지에 필요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2881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28C96"/>
                </a:solidFill>
                <a:latin typeface="Noto Sans CJK KR"/>
              </a:defRPr>
            </a:pPr>
            <a:r>
              <a:t>AI/NPU Compiler를 위한 MLIR 기초 - Lecture 12 Bufferization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93458"/>
          </a:solidFill>
          <a:ln>
            <a:solidFill>
              <a:srgbClr val="19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Noto Sans CJK KR"/>
              </a:defRPr>
            </a:pPr>
            <a:r>
              <a:t>NPU Memory Space 관점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6F0"/>
                </a:solidFill>
                <a:latin typeface="Noto Sans CJK KR"/>
              </a:defRPr>
            </a:pPr>
            <a: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868680"/>
            <a:ext cx="4023360" cy="5440680"/>
          </a:xfrm>
          <a:prstGeom prst="roundRect">
            <a:avLst/>
          </a:prstGeom>
          <a:solidFill>
            <a:srgbClr val="F7F9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28600" tIns="201168"/>
          <a:lstStyle/>
          <a:p>
            <a:pPr algn="ctr">
              <a:spcAft>
                <a:spcPts val="800"/>
              </a:spcAft>
              <a:defRPr sz="1500">
                <a:solidFill>
                  <a:srgbClr val="1E2832"/>
                </a:solidFill>
                <a:latin typeface="Noto Sans CJK KR"/>
              </a:defRPr>
            </a:pPr>
            <a:r>
              <a:t>DRAM: large persistent tensors / model IO</a:t>
            </a:r>
          </a:p>
          <a:p>
            <a:pPr>
              <a:spcAft>
                <a:spcPts val="800"/>
              </a:spcAft>
              <a:defRPr sz="1500">
                <a:solidFill>
                  <a:srgbClr val="1E2832"/>
                </a:solidFill>
                <a:latin typeface="Noto Sans CJK KR"/>
              </a:defRPr>
            </a:pPr>
            <a:r>
              <a:t>SRAM: tile buffers, double buffering, intermediate activation</a:t>
            </a:r>
          </a:p>
          <a:p>
            <a:pPr>
              <a:spcAft>
                <a:spcPts val="800"/>
              </a:spcAft>
              <a:defRPr sz="1500">
                <a:solidFill>
                  <a:srgbClr val="1E2832"/>
                </a:solidFill>
                <a:latin typeface="Noto Sans CJK KR"/>
              </a:defRPr>
            </a:pPr>
            <a:r>
              <a:t>Accumulator: wider partial sums, reduction buffers</a:t>
            </a:r>
          </a:p>
          <a:p>
            <a:pPr>
              <a:spcAft>
                <a:spcPts val="800"/>
              </a:spcAft>
              <a:defRPr sz="1500">
                <a:solidFill>
                  <a:srgbClr val="1E2832"/>
                </a:solidFill>
                <a:latin typeface="Noto Sans CJK KR"/>
              </a:defRPr>
            </a:pPr>
            <a:r>
              <a:t>memory_space attribute는 target-specific contract로 설계</a:t>
            </a:r>
          </a:p>
        </p:txBody>
      </p:sp>
      <p:pic>
        <p:nvPicPr>
          <p:cNvPr id="6" name="Picture 5" descr="MLIR_NPU_Lecture_12_NPU_Memory_Pla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960120"/>
            <a:ext cx="7086600" cy="39862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652881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28C96"/>
                </a:solidFill>
                <a:latin typeface="Noto Sans CJK KR"/>
              </a:defRPr>
            </a:pPr>
            <a:r>
              <a:t>AI/NPU Compiler를 위한 MLIR 기초 - Lecture 12 Bufferization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93458"/>
          </a:solidFill>
          <a:ln>
            <a:solidFill>
              <a:srgbClr val="19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Noto Sans CJK KR"/>
              </a:defRPr>
            </a:pPr>
            <a:r>
              <a:t>Alias Analysis for NPU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6F0"/>
                </a:solidFill>
                <a:latin typeface="Noto Sans CJK KR"/>
              </a:defRPr>
            </a:pPr>
            <a: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97280"/>
            <a:ext cx="10789920" cy="5120640"/>
          </a:xfrm>
          <a:prstGeom prst="roundRect">
            <a:avLst/>
          </a:prstGeom>
          <a:solidFill>
            <a:srgbClr val="F7F9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28600" tIns="201168"/>
          <a:lstStyle/>
          <a:p>
            <a:pPr algn="ctr"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같은 physical buffer를 공유하는 SSA value set을 추적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subview/extract_slice/insert_slice는 alias region을 만든다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parallel DMA/compute schedule에서는 alias conflict가 더 위험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memory reuse는 lifetime non-overlap이 증명될 때만 가능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2881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28C96"/>
                </a:solidFill>
                <a:latin typeface="Noto Sans CJK KR"/>
              </a:defRPr>
            </a:pPr>
            <a:r>
              <a:t>AI/NPU Compiler를 위한 MLIR 기초 - Lecture 12 Bufferization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93458"/>
          </a:solidFill>
          <a:ln>
            <a:solidFill>
              <a:srgbClr val="19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Noto Sans CJK KR"/>
              </a:defRPr>
            </a:pPr>
            <a:r>
              <a:t>Lifetime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6F0"/>
                </a:solidFill>
                <a:latin typeface="Noto Sans CJK KR"/>
              </a:defRPr>
            </a:pPr>
            <a: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97280"/>
            <a:ext cx="10789920" cy="5120640"/>
          </a:xfrm>
          <a:prstGeom prst="roundRect">
            <a:avLst/>
          </a:prstGeom>
          <a:solidFill>
            <a:srgbClr val="F7F9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28600" tIns="201168"/>
          <a:lstStyle/>
          <a:p>
            <a:pPr algn="ctr"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definition부터 last use까지 live range를 잡는다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live range overlap이 있으면 같은 scratch buffer reuse 불가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tile loop 내부 lifetime은 loop-carried value와 yield도 고려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runtime buffer pool 설계의 compiler-side 근거가 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2881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28C96"/>
                </a:solidFill>
                <a:latin typeface="Noto Sans CJK KR"/>
              </a:defRPr>
            </a:pPr>
            <a:r>
              <a:t>AI/NPU Compiler를 위한 MLIR 기초 - Lecture 12 Bufferization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93458"/>
          </a:solidFill>
          <a:ln>
            <a:solidFill>
              <a:srgbClr val="19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Noto Sans CJK KR"/>
              </a:defRPr>
            </a:pPr>
            <a:r>
              <a:t>Case Study: MatMul + Bias + ReLU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6F0"/>
                </a:solidFill>
                <a:latin typeface="Noto Sans CJK KR"/>
              </a:defRPr>
            </a:pPr>
            <a: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97280"/>
            <a:ext cx="10789920" cy="5120640"/>
          </a:xfrm>
          <a:prstGeom prst="roundRect">
            <a:avLst/>
          </a:prstGeom>
          <a:solidFill>
            <a:srgbClr val="F7F9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28600" tIns="201168"/>
          <a:lstStyle/>
          <a:p>
            <a:pPr algn="ctr"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Before: tensor.empty + linalg.matmul + linalg.generic epilogue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Bufferization: C output tensor가 memref C buffer로 materialize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Fusion이 된 상태라면 intermediate tensor copy를 줄일 수 있음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After: linalg-on-buffers 또는 npu_kernel.matmul_epilogue로 lowering 가능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2881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28C96"/>
                </a:solidFill>
                <a:latin typeface="Noto Sans CJK KR"/>
              </a:defRPr>
            </a:pPr>
            <a:r>
              <a:t>AI/NPU Compiler를 위한 MLIR 기초 - Lecture 12 Bufferization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93458"/>
          </a:solidFill>
          <a:ln>
            <a:solidFill>
              <a:srgbClr val="19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Noto Sans CJK KR"/>
              </a:defRPr>
            </a:pPr>
            <a:r>
              <a:t>Case Study: LayerNorm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6F0"/>
                </a:solidFill>
                <a:latin typeface="Noto Sans CJK KR"/>
              </a:defRPr>
            </a:pPr>
            <a:r>
              <a:t>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97280"/>
            <a:ext cx="10789920" cy="5120640"/>
          </a:xfrm>
          <a:prstGeom prst="roundRect">
            <a:avLst/>
          </a:prstGeom>
          <a:solidFill>
            <a:srgbClr val="F7F9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28600" tIns="201168"/>
          <a:lstStyle/>
          <a:p>
            <a:pPr algn="ctr"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mean/variance reduction result lifetime이 짧음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normalized activation은 gamma/beta broadcast와 alias하면 안 됨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reduction buffer와 activation buffer memory space가 다를 수 있음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bufferization 전 fusion/legalization이 매우 중요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2881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28C96"/>
                </a:solidFill>
                <a:latin typeface="Noto Sans CJK KR"/>
              </a:defRPr>
            </a:pPr>
            <a:r>
              <a:t>AI/NPU Compiler를 위한 MLIR 기초 - Lecture 12 Bufferization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93458"/>
          </a:solidFill>
          <a:ln>
            <a:solidFill>
              <a:srgbClr val="19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Noto Sans CJK KR"/>
              </a:defRPr>
            </a:pPr>
            <a:r>
              <a:t>Copy Debugging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6F0"/>
                </a:solidFill>
                <a:latin typeface="Noto Sans CJK KR"/>
              </a:defRPr>
            </a:pPr>
            <a:r>
              <a:t>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97280"/>
            <a:ext cx="10789920" cy="5120640"/>
          </a:xfrm>
          <a:prstGeom prst="roundRect">
            <a:avLst/>
          </a:prstGeom>
          <a:solidFill>
            <a:srgbClr val="F7F9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28600" tIns="201168"/>
          <a:lstStyle/>
          <a:p>
            <a:pPr algn="ctr"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IR에서 memref.copy, bufferization.clone, alloc_tensor 증가를 추적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one-shot-bufferize debug flags로 copy insertion 원인 확인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FileCheck로 불필요 copy가 생기지 않는지 회귀 테스트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NPU에서는 copy count를 bandwidth model과 연결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2881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28C96"/>
                </a:solidFill>
                <a:latin typeface="Noto Sans CJK KR"/>
              </a:defRPr>
            </a:pPr>
            <a:r>
              <a:t>AI/NPU Compiler를 위한 MLIR 기초 - Lecture 12 Bufferization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93458"/>
          </a:solidFill>
          <a:ln>
            <a:solidFill>
              <a:srgbClr val="19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Noto Sans CJK KR"/>
              </a:defRPr>
            </a:pPr>
            <a:r>
              <a:t>Pass Pipeline 위치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6F0"/>
                </a:solidFill>
                <a:latin typeface="Noto Sans CJK KR"/>
              </a:defRPr>
            </a:pPr>
            <a:r>
              <a:t>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97280"/>
            <a:ext cx="10789920" cy="5120640"/>
          </a:xfrm>
          <a:prstGeom prst="roundRect">
            <a:avLst/>
          </a:prstGeom>
          <a:solidFill>
            <a:srgbClr val="F7F9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28600" tIns="201168"/>
          <a:lstStyle/>
          <a:p>
            <a:pPr algn="ctr">
              <a:spcAft>
                <a:spcPts val="800"/>
              </a:spcAft>
              <a:defRPr sz="2000">
                <a:solidFill>
                  <a:srgbClr val="1E2832"/>
                </a:solidFill>
                <a:latin typeface="Noto Sans CJK KR"/>
              </a:defRPr>
            </a:pPr>
            <a:r>
              <a:t>canonicalize/cse</a:t>
            </a:r>
          </a:p>
          <a:p>
            <a:pPr>
              <a:spcAft>
                <a:spcPts val="800"/>
              </a:spcAft>
              <a:defRPr sz="2000">
                <a:solidFill>
                  <a:srgbClr val="1E2832"/>
                </a:solidFill>
                <a:latin typeface="Noto Sans CJK KR"/>
              </a:defRPr>
            </a:pPr>
            <a:r>
              <a:t>tensor/linalg fusion and tiling</a:t>
            </a:r>
          </a:p>
          <a:p>
            <a:pPr>
              <a:spcAft>
                <a:spcPts val="800"/>
              </a:spcAft>
              <a:defRPr sz="2000">
                <a:solidFill>
                  <a:srgbClr val="1E2832"/>
                </a:solidFill>
                <a:latin typeface="Noto Sans CJK KR"/>
              </a:defRPr>
            </a:pPr>
            <a:r>
              <a:t>one-shot-bufferize</a:t>
            </a:r>
          </a:p>
          <a:p>
            <a:pPr>
              <a:spcAft>
                <a:spcPts val="800"/>
              </a:spcAft>
              <a:defRPr sz="2000">
                <a:solidFill>
                  <a:srgbClr val="1E2832"/>
                </a:solidFill>
                <a:latin typeface="Noto Sans CJK KR"/>
              </a:defRPr>
            </a:pPr>
            <a:r>
              <a:t>buffer deallocation / ownership</a:t>
            </a:r>
          </a:p>
          <a:p>
            <a:pPr>
              <a:spcAft>
                <a:spcPts val="800"/>
              </a:spcAft>
              <a:defRPr sz="2000">
                <a:solidFill>
                  <a:srgbClr val="1E2832"/>
                </a:solidFill>
                <a:latin typeface="Noto Sans CJK KR"/>
              </a:defRPr>
            </a:pPr>
            <a:r>
              <a:t>memref layout/memory-space assignment</a:t>
            </a:r>
          </a:p>
          <a:p>
            <a:pPr>
              <a:spcAft>
                <a:spcPts val="800"/>
              </a:spcAft>
              <a:defRPr sz="2000">
                <a:solidFill>
                  <a:srgbClr val="1E2832"/>
                </a:solidFill>
                <a:latin typeface="Noto Sans CJK KR"/>
              </a:defRPr>
            </a:pPr>
            <a:r>
              <a:t>DMA/barrier/runtime lowering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2881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28C96"/>
                </a:solidFill>
                <a:latin typeface="Noto Sans CJK KR"/>
              </a:defRPr>
            </a:pPr>
            <a:r>
              <a:t>AI/NPU Compiler를 위한 MLIR 기초 - Lecture 12 Bufferization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93458"/>
          </a:solidFill>
          <a:ln>
            <a:solidFill>
              <a:srgbClr val="19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Noto Sans CJK KR"/>
              </a:defRPr>
            </a:pPr>
            <a:r>
              <a:t>NPU Recommended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6F0"/>
                </a:solidFill>
                <a:latin typeface="Noto Sans CJK KR"/>
              </a:defRPr>
            </a:pPr>
            <a:r>
              <a:t>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868680"/>
            <a:ext cx="4023360" cy="5440680"/>
          </a:xfrm>
          <a:prstGeom prst="roundRect">
            <a:avLst/>
          </a:prstGeom>
          <a:solidFill>
            <a:srgbClr val="F7F9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28600" tIns="201168"/>
          <a:lstStyle/>
          <a:p>
            <a:pPr algn="ctr">
              <a:spcAft>
                <a:spcPts val="800"/>
              </a:spcAft>
              <a:defRPr sz="1500">
                <a:solidFill>
                  <a:srgbClr val="1E2832"/>
                </a:solidFill>
                <a:latin typeface="Noto Sans CJK KR"/>
              </a:defRPr>
            </a:pPr>
            <a:r>
              <a:t>StableHLO/TOSA legalize</a:t>
            </a:r>
          </a:p>
          <a:p>
            <a:pPr>
              <a:spcAft>
                <a:spcPts val="800"/>
              </a:spcAft>
              <a:defRPr sz="1500">
                <a:solidFill>
                  <a:srgbClr val="1E2832"/>
                </a:solidFill>
                <a:latin typeface="Noto Sans CJK KR"/>
              </a:defRPr>
            </a:pPr>
            <a:r>
              <a:t>Linalg-on-tensors fusion/tiling</a:t>
            </a:r>
          </a:p>
          <a:p>
            <a:pPr>
              <a:spcAft>
                <a:spcPts val="800"/>
              </a:spcAft>
              <a:defRPr sz="1500">
                <a:solidFill>
                  <a:srgbClr val="1E2832"/>
                </a:solidFill>
                <a:latin typeface="Noto Sans CJK KR"/>
              </a:defRPr>
            </a:pPr>
            <a:r>
              <a:t>insert tensor.empty / alloc_tensor anchors intentionally</a:t>
            </a:r>
          </a:p>
          <a:p>
            <a:pPr>
              <a:spcAft>
                <a:spcPts val="800"/>
              </a:spcAft>
              <a:defRPr sz="1500">
                <a:solidFill>
                  <a:srgbClr val="1E2832"/>
                </a:solidFill>
                <a:latin typeface="Noto Sans CJK KR"/>
              </a:defRPr>
            </a:pPr>
            <a:r>
              <a:t>one-shot-bufferize with required dialect models</a:t>
            </a:r>
          </a:p>
          <a:p>
            <a:pPr>
              <a:spcAft>
                <a:spcPts val="800"/>
              </a:spcAft>
              <a:defRPr sz="1500">
                <a:solidFill>
                  <a:srgbClr val="1E2832"/>
                </a:solidFill>
                <a:latin typeface="Noto Sans CJK KR"/>
              </a:defRPr>
            </a:pPr>
            <a:r>
              <a:t>buffer-level cleanup, memory planning, command emission</a:t>
            </a:r>
          </a:p>
        </p:txBody>
      </p:sp>
      <p:pic>
        <p:nvPicPr>
          <p:cNvPr id="6" name="Picture 5" descr="MLIR_NPU_Lecture_12_NPU_Memory_Pla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960120"/>
            <a:ext cx="7086600" cy="39862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652881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28C96"/>
                </a:solidFill>
                <a:latin typeface="Noto Sans CJK KR"/>
              </a:defRPr>
            </a:pPr>
            <a:r>
              <a:t>AI/NPU Compiler를 위한 MLIR 기초 - Lecture 12 Bufferization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93458"/>
          </a:solidFill>
          <a:ln>
            <a:solidFill>
              <a:srgbClr val="19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Noto Sans CJK KR"/>
              </a:defRPr>
            </a:pPr>
            <a:r>
              <a:t>Bufferization Correctness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6F0"/>
                </a:solidFill>
                <a:latin typeface="Noto Sans CJK KR"/>
              </a:defRPr>
            </a:pPr>
            <a:r>
              <a:t>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05840"/>
            <a:ext cx="5303520" cy="4937760"/>
          </a:xfrm>
          <a:prstGeom prst="roundRect">
            <a:avLst/>
          </a:prstGeom>
          <a:solidFill>
            <a:srgbClr val="F7F9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28600" tIns="201168"/>
          <a:lstStyle/>
          <a:p>
            <a:pPr algn="ctr">
              <a:spcAft>
                <a:spcPts val="800"/>
              </a:spcAft>
              <a:defRPr sz="2000">
                <a:solidFill>
                  <a:srgbClr val="1E2832"/>
                </a:solidFill>
                <a:latin typeface="Noto Sans CJK KR"/>
              </a:defRPr>
            </a:pPr>
            <a:r>
              <a:t>All tensor ops are bufferizable or boundary ops are intentional</a:t>
            </a:r>
          </a:p>
          <a:p>
            <a:pPr>
              <a:spcAft>
                <a:spcPts val="800"/>
              </a:spcAft>
              <a:defRPr sz="2000">
                <a:solidFill>
                  <a:srgbClr val="1E2832"/>
                </a:solidFill>
                <a:latin typeface="Noto Sans CJK KR"/>
              </a:defRPr>
            </a:pPr>
            <a:r>
              <a:t>No unexpected RaW conflicts remain</a:t>
            </a:r>
          </a:p>
          <a:p>
            <a:pPr>
              <a:spcAft>
                <a:spcPts val="800"/>
              </a:spcAft>
              <a:defRPr sz="2000">
                <a:solidFill>
                  <a:srgbClr val="1E2832"/>
                </a:solidFill>
                <a:latin typeface="Noto Sans CJK KR"/>
              </a:defRPr>
            </a:pPr>
            <a:r>
              <a:t>Function boundary policy matches runtime ABI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005840"/>
            <a:ext cx="5303520" cy="4937760"/>
          </a:xfrm>
          <a:prstGeom prst="roundRect">
            <a:avLst/>
          </a:prstGeom>
          <a:solidFill>
            <a:srgbClr val="F7F9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28600" tIns="201168"/>
          <a:lstStyle/>
          <a:p>
            <a:pPr algn="ctr">
              <a:spcAft>
                <a:spcPts val="800"/>
              </a:spcAft>
              <a:defRPr sz="2000">
                <a:solidFill>
                  <a:srgbClr val="1E2832"/>
                </a:solidFill>
                <a:latin typeface="Noto Sans CJK KR"/>
              </a:defRPr>
            </a:pPr>
            <a:r>
              <a:t>Copies are expected and justified</a:t>
            </a:r>
          </a:p>
          <a:p>
            <a:pPr>
              <a:spcAft>
                <a:spcPts val="800"/>
              </a:spcAft>
              <a:defRPr sz="2000">
                <a:solidFill>
                  <a:srgbClr val="1E2832"/>
                </a:solidFill>
                <a:latin typeface="Noto Sans CJK KR"/>
              </a:defRPr>
            </a:pPr>
            <a:r>
              <a:t>Memory spaces are preserved through lowering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52881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28C96"/>
                </a:solidFill>
                <a:latin typeface="Noto Sans CJK KR"/>
              </a:defRPr>
            </a:pPr>
            <a:r>
              <a:t>AI/NPU Compiler를 위한 MLIR 기초 - Lecture 12 Bufferization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93458"/>
          </a:solidFill>
          <a:ln>
            <a:solidFill>
              <a:srgbClr val="19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Noto Sans CJK KR"/>
              </a:defRPr>
            </a:pPr>
            <a:r>
              <a:t>Performance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6F0"/>
                </a:solidFill>
                <a:latin typeface="Noto Sans CJK KR"/>
              </a:defRPr>
            </a:pPr>
            <a:r>
              <a:t>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05840"/>
            <a:ext cx="5303520" cy="4937760"/>
          </a:xfrm>
          <a:prstGeom prst="roundRect">
            <a:avLst/>
          </a:prstGeom>
          <a:solidFill>
            <a:srgbClr val="F7F9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28600" tIns="201168"/>
          <a:lstStyle/>
          <a:p>
            <a:pPr algn="ctr">
              <a:spcAft>
                <a:spcPts val="800"/>
              </a:spcAft>
              <a:defRPr sz="2000">
                <a:solidFill>
                  <a:srgbClr val="1E2832"/>
                </a:solidFill>
                <a:latin typeface="Noto Sans CJK KR"/>
              </a:defRPr>
            </a:pPr>
            <a:r>
              <a:t>Peak live bytes fits SRAM budget?</a:t>
            </a:r>
          </a:p>
          <a:p>
            <a:pPr>
              <a:spcAft>
                <a:spcPts val="800"/>
              </a:spcAft>
              <a:defRPr sz="2000">
                <a:solidFill>
                  <a:srgbClr val="1E2832"/>
                </a:solidFill>
                <a:latin typeface="Noto Sans CJK KR"/>
              </a:defRPr>
            </a:pPr>
            <a:r>
              <a:t>Copy bytes per tile acceptable?</a:t>
            </a:r>
          </a:p>
          <a:p>
            <a:pPr>
              <a:spcAft>
                <a:spcPts val="800"/>
              </a:spcAft>
              <a:defRPr sz="2000">
                <a:solidFill>
                  <a:srgbClr val="1E2832"/>
                </a:solidFill>
                <a:latin typeface="Noto Sans CJK KR"/>
              </a:defRPr>
            </a:pPr>
            <a:r>
              <a:t>DRAM load/store coalescing preserved?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005840"/>
            <a:ext cx="5303520" cy="4937760"/>
          </a:xfrm>
          <a:prstGeom prst="roundRect">
            <a:avLst/>
          </a:prstGeom>
          <a:solidFill>
            <a:srgbClr val="F7F9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28600" tIns="201168"/>
          <a:lstStyle/>
          <a:p>
            <a:pPr algn="ctr">
              <a:spcAft>
                <a:spcPts val="800"/>
              </a:spcAft>
              <a:defRPr sz="2000">
                <a:solidFill>
                  <a:srgbClr val="1E2832"/>
                </a:solidFill>
                <a:latin typeface="Noto Sans CJK KR"/>
              </a:defRPr>
            </a:pPr>
            <a:r>
              <a:t>Double buffering creates no alias hazard?</a:t>
            </a:r>
          </a:p>
          <a:p>
            <a:pPr>
              <a:spcAft>
                <a:spcPts val="800"/>
              </a:spcAft>
              <a:defRPr sz="2000">
                <a:solidFill>
                  <a:srgbClr val="1E2832"/>
                </a:solidFill>
                <a:latin typeface="Noto Sans CJK KR"/>
              </a:defRPr>
            </a:pPr>
            <a:r>
              <a:t>Can scratch buffers be reused across non-overlapping live ranges?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52881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28C96"/>
                </a:solidFill>
                <a:latin typeface="Noto Sans CJK KR"/>
              </a:defRPr>
            </a:pPr>
            <a:r>
              <a:t>AI/NPU Compiler를 위한 MLIR 기초 - Lecture 12 Bufferization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93458"/>
          </a:solidFill>
          <a:ln>
            <a:solidFill>
              <a:srgbClr val="19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Noto Sans CJK KR"/>
              </a:defRPr>
            </a:pPr>
            <a:r>
              <a:t>FileCheck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6F0"/>
                </a:solidFill>
                <a:latin typeface="Noto Sans CJK KR"/>
              </a:defRPr>
            </a:pPr>
            <a:r>
              <a:t>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97280"/>
            <a:ext cx="10789920" cy="5120640"/>
          </a:xfrm>
          <a:prstGeom prst="roundRect">
            <a:avLst/>
          </a:prstGeom>
          <a:solidFill>
            <a:srgbClr val="F7F9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28600" tIns="201168"/>
          <a:lstStyle/>
          <a:p>
            <a:pPr algn="ctr">
              <a:spcAft>
                <a:spcPts val="800"/>
              </a:spcAft>
              <a:defRPr sz="2000">
                <a:solidFill>
                  <a:srgbClr val="1E2832"/>
                </a:solidFill>
                <a:latin typeface="Noto Sans CJK KR"/>
              </a:defRPr>
            </a:pPr>
            <a:r>
              <a:t>CHECK-LABEL for function boundary</a:t>
            </a:r>
          </a:p>
          <a:p>
            <a:pPr>
              <a:spcAft>
                <a:spcPts val="800"/>
              </a:spcAft>
              <a:defRPr sz="2000">
                <a:solidFill>
                  <a:srgbClr val="1E2832"/>
                </a:solidFill>
                <a:latin typeface="Noto Sans CJK KR"/>
              </a:defRPr>
            </a:pPr>
            <a:r>
              <a:t>CHECK-NOT: memref.copy for expected in-place case</a:t>
            </a:r>
          </a:p>
          <a:p>
            <a:pPr>
              <a:spcAft>
                <a:spcPts val="800"/>
              </a:spcAft>
              <a:defRPr sz="2000">
                <a:solidFill>
                  <a:srgbClr val="1E2832"/>
                </a:solidFill>
                <a:latin typeface="Noto Sans CJK KR"/>
              </a:defRPr>
            </a:pPr>
            <a:r>
              <a:t>CHECK: memref.alloc for expected fresh buffer case</a:t>
            </a:r>
          </a:p>
          <a:p>
            <a:pPr>
              <a:spcAft>
                <a:spcPts val="800"/>
              </a:spcAft>
              <a:defRPr sz="2000">
                <a:solidFill>
                  <a:srgbClr val="1E2832"/>
                </a:solidFill>
                <a:latin typeface="Noto Sans CJK KR"/>
              </a:defRPr>
            </a:pPr>
            <a:r>
              <a:t>negative test for unsupported tensor op</a:t>
            </a:r>
          </a:p>
          <a:p>
            <a:pPr>
              <a:spcAft>
                <a:spcPts val="800"/>
              </a:spcAft>
              <a:defRPr sz="2000">
                <a:solidFill>
                  <a:srgbClr val="1E2832"/>
                </a:solidFill>
                <a:latin typeface="Noto Sans CJK KR"/>
              </a:defRPr>
            </a:pPr>
            <a:r>
              <a:t>keep tests semantic, not overfitted to SSA names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2881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28C96"/>
                </a:solidFill>
                <a:latin typeface="Noto Sans CJK KR"/>
              </a:defRPr>
            </a:pPr>
            <a:r>
              <a:t>AI/NPU Compiler를 위한 MLIR 기초 - Lecture 12 Bufferization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93458"/>
          </a:solidFill>
          <a:ln>
            <a:solidFill>
              <a:srgbClr val="19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Noto Sans CJK KR"/>
              </a:defRPr>
            </a:pPr>
            <a:r>
              <a:t>Exercise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6F0"/>
                </a:solidFill>
                <a:latin typeface="Noto Sans CJK KR"/>
              </a:defRPr>
            </a:pPr>
            <a:r>
              <a:t>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97280"/>
            <a:ext cx="10789920" cy="5120640"/>
          </a:xfrm>
          <a:prstGeom prst="roundRect">
            <a:avLst/>
          </a:prstGeom>
          <a:solidFill>
            <a:srgbClr val="F7F9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28600" tIns="201168"/>
          <a:lstStyle/>
          <a:p>
            <a:pPr algn="ctr"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Annotate tensor IR and mark destination operands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For each result, write candidate buffer(result)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Identify possible in-place decisions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Mark any follow-up read that can cause RaW conflict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2881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28C96"/>
                </a:solidFill>
                <a:latin typeface="Noto Sans CJK KR"/>
              </a:defRPr>
            </a:pPr>
            <a:r>
              <a:t>AI/NPU Compiler를 위한 MLIR 기초 - Lecture 12 Bufferization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93458"/>
          </a:solidFill>
          <a:ln>
            <a:solidFill>
              <a:srgbClr val="19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Noto Sans CJK KR"/>
              </a:defRPr>
            </a:pPr>
            <a:r>
              <a:t>Exercise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6F0"/>
                </a:solidFill>
                <a:latin typeface="Noto Sans CJK KR"/>
              </a:defRPr>
            </a:pPr>
            <a:r>
              <a:t>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97280"/>
            <a:ext cx="10789920" cy="5120640"/>
          </a:xfrm>
          <a:prstGeom prst="roundRect">
            <a:avLst/>
          </a:prstGeom>
          <a:solidFill>
            <a:srgbClr val="F7F9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28600" tIns="201168"/>
          <a:lstStyle/>
          <a:p>
            <a:pPr algn="ctr"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Run/inspect a pseudo one-shot-bufferize pipeline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Compare before/after IR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Count alloc/copy/dealloc operations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Explain every copy 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2881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28C96"/>
                </a:solidFill>
                <a:latin typeface="Noto Sans CJK KR"/>
              </a:defRPr>
            </a:pPr>
            <a:r>
              <a:t>AI/NPU Compiler를 위한 MLIR 기초 - Lecture 12 Bufferization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93458"/>
          </a:solidFill>
          <a:ln>
            <a:solidFill>
              <a:srgbClr val="19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Noto Sans CJK KR"/>
              </a:defRPr>
            </a:pPr>
            <a:r>
              <a:t>Exercise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6F0"/>
                </a:solidFill>
                <a:latin typeface="Noto Sans CJK KR"/>
              </a:defRPr>
            </a:pPr>
            <a:r>
              <a:t>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97280"/>
            <a:ext cx="10789920" cy="5120640"/>
          </a:xfrm>
          <a:prstGeom prst="roundRect">
            <a:avLst/>
          </a:prstGeom>
          <a:solidFill>
            <a:srgbClr val="F7F9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28600" tIns="201168"/>
          <a:lstStyle/>
          <a:p>
            <a:pPr algn="ctr"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Design NPU buffer lifetime table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Map buffers to DRAM/SRAM/ACCUM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Decide which scratch buffers can share storage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Write runtime tensor descriptor fields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2881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28C96"/>
                </a:solidFill>
                <a:latin typeface="Noto Sans CJK KR"/>
              </a:defRPr>
            </a:pPr>
            <a:r>
              <a:t>AI/NPU Compiler를 위한 MLIR 기초 - Lecture 12 Bufferization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93458"/>
          </a:solidFill>
          <a:ln>
            <a:solidFill>
              <a:srgbClr val="19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Noto Sans CJK KR"/>
              </a:defRPr>
            </a:pPr>
            <a:r>
              <a:t>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6F0"/>
                </a:solidFill>
                <a:latin typeface="Noto Sans CJK KR"/>
              </a:defRPr>
            </a:pPr>
            <a:r>
              <a:t>31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97280"/>
            <a:ext cx="10789920" cy="5120640"/>
          </a:xfrm>
          <a:prstGeom prst="roundRect">
            <a:avLst/>
          </a:prstGeom>
          <a:solidFill>
            <a:srgbClr val="F7F9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28600" tIns="201168"/>
          <a:lstStyle/>
          <a:p>
            <a:pPr algn="ctr">
              <a:spcAft>
                <a:spcPts val="800"/>
              </a:spcAft>
              <a:defRPr sz="2000">
                <a:solidFill>
                  <a:srgbClr val="1E2832"/>
                </a:solidFill>
                <a:latin typeface="Noto Sans CJK KR"/>
              </a:defRPr>
            </a:pPr>
            <a:r>
              <a:t>Bufferizing before fusion and creating unnecessary intermediates</a:t>
            </a:r>
          </a:p>
          <a:p>
            <a:pPr>
              <a:spcAft>
                <a:spcPts val="800"/>
              </a:spcAft>
              <a:defRPr sz="2000">
                <a:solidFill>
                  <a:srgbClr val="1E2832"/>
                </a:solidFill>
                <a:latin typeface="Noto Sans CJK KR"/>
              </a:defRPr>
            </a:pPr>
            <a:r>
              <a:t>Ignoring function boundary ABI</a:t>
            </a:r>
          </a:p>
          <a:p>
            <a:pPr>
              <a:spcAft>
                <a:spcPts val="800"/>
              </a:spcAft>
              <a:defRPr sz="2000">
                <a:solidFill>
                  <a:srgbClr val="1E2832"/>
                </a:solidFill>
                <a:latin typeface="Noto Sans CJK KR"/>
              </a:defRPr>
            </a:pPr>
            <a:r>
              <a:t>Treating memory_space as a cosmetic attribute</a:t>
            </a:r>
          </a:p>
          <a:p>
            <a:pPr>
              <a:spcAft>
                <a:spcPts val="800"/>
              </a:spcAft>
              <a:defRPr sz="2000">
                <a:solidFill>
                  <a:srgbClr val="1E2832"/>
                </a:solidFill>
                <a:latin typeface="Noto Sans CJK KR"/>
              </a:defRPr>
            </a:pPr>
            <a:r>
              <a:t>Assuming subviews do not alias</a:t>
            </a:r>
          </a:p>
          <a:p>
            <a:pPr>
              <a:spcAft>
                <a:spcPts val="800"/>
              </a:spcAft>
              <a:defRPr sz="2000">
                <a:solidFill>
                  <a:srgbClr val="1E2832"/>
                </a:solidFill>
                <a:latin typeface="Noto Sans CJK KR"/>
              </a:defRPr>
            </a:pPr>
            <a:r>
              <a:t>Using alloc_tensor everywhere instead of fixing the producer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2881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28C96"/>
                </a:solidFill>
                <a:latin typeface="Noto Sans CJK KR"/>
              </a:defRPr>
            </a:pPr>
            <a:r>
              <a:t>AI/NPU Compiler를 위한 MLIR 기초 - Lecture 12 Bufferization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93458"/>
          </a:solidFill>
          <a:ln>
            <a:solidFill>
              <a:srgbClr val="19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Noto Sans CJK KR"/>
              </a:defRPr>
            </a:pPr>
            <a:r>
              <a:t>Homework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6F0"/>
                </a:solidFill>
                <a:latin typeface="Noto Sans CJK KR"/>
              </a:defRPr>
            </a:pPr>
            <a:r>
              <a:t>32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97280"/>
            <a:ext cx="10789920" cy="5120640"/>
          </a:xfrm>
          <a:prstGeom prst="roundRect">
            <a:avLst/>
          </a:prstGeom>
          <a:solidFill>
            <a:srgbClr val="F7F9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28600" tIns="201168"/>
          <a:lstStyle/>
          <a:p>
            <a:pPr algn="ctr"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For MatMul+Bias+ReLU, produce before/after bufferization IR sketch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Create a memory lifetime chart for 3 tile buffers and 1 accumulator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Write FileCheck test that rejects unexpected memref.copy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Document runtime ABI change caused by tensor-&gt;memref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2881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28C96"/>
                </a:solidFill>
                <a:latin typeface="Noto Sans CJK KR"/>
              </a:defRPr>
            </a:pPr>
            <a:r>
              <a:t>AI/NPU Compiler를 위한 MLIR 기초 - Lecture 12 Bufferization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93458"/>
          </a:solidFill>
          <a:ln>
            <a:solidFill>
              <a:srgbClr val="19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Noto Sans CJK KR"/>
              </a:defRPr>
            </a:pPr>
            <a: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6F0"/>
                </a:solidFill>
                <a:latin typeface="Noto Sans CJK KR"/>
              </a:defRPr>
            </a:pPr>
            <a:r>
              <a:t>33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97280"/>
            <a:ext cx="10789920" cy="5120640"/>
          </a:xfrm>
          <a:prstGeom prst="roundRect">
            <a:avLst/>
          </a:prstGeom>
          <a:solidFill>
            <a:srgbClr val="F7F9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28600" tIns="201168"/>
          <a:lstStyle/>
          <a:p>
            <a:pPr algn="ctr"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Bufferization is a correctness and performance boundary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One-Shot Bufferize uses SSA use-def analysis to make in-place/copy decisions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DPS style is the best input form for high-quality bufferization</a:t>
            </a:r>
          </a:p>
          <a:p>
            <a:pPr>
              <a:spcAft>
                <a:spcPts val="800"/>
              </a:spcAft>
              <a:defRPr sz="2200">
                <a:solidFill>
                  <a:srgbClr val="1E2832"/>
                </a:solidFill>
                <a:latin typeface="Noto Sans CJK KR"/>
              </a:defRPr>
            </a:pPr>
            <a:r>
              <a:t>NPU compiler should connect bufferization output to memory planning and runtime ABI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2881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28C96"/>
                </a:solidFill>
                <a:latin typeface="Noto Sans CJK KR"/>
              </a:defRPr>
            </a:pPr>
            <a:r>
              <a:t>AI/NPU Compiler를 위한 MLIR 기초 - Lecture 12 Bufferization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93458"/>
          </a:solidFill>
          <a:ln>
            <a:solidFill>
              <a:srgbClr val="19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Noto Sans CJK KR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6F0"/>
                </a:solidFill>
                <a:latin typeface="Noto Sans CJK KR"/>
              </a:defRPr>
            </a:pPr>
            <a:r>
              <a:t>34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97280"/>
            <a:ext cx="10789920" cy="5120640"/>
          </a:xfrm>
          <a:prstGeom prst="roundRect">
            <a:avLst/>
          </a:prstGeom>
          <a:solidFill>
            <a:srgbClr val="F7F9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28600" tIns="201168"/>
          <a:lstStyle/>
          <a:p>
            <a:pPr algn="ctr">
              <a:spcAft>
                <a:spcPts val="800"/>
              </a:spcAft>
              <a:defRPr sz="2000">
                <a:solidFill>
                  <a:srgbClr val="1E2832"/>
                </a:solidFill>
                <a:latin typeface="Noto Sans CJK KR"/>
              </a:defRPr>
            </a:pPr>
            <a:r>
              <a:t>MLIR Bufferization</a:t>
            </a:r>
          </a:p>
          <a:p>
            <a:pPr>
              <a:spcAft>
                <a:spcPts val="800"/>
              </a:spcAft>
              <a:defRPr sz="2000">
                <a:solidFill>
                  <a:srgbClr val="1E2832"/>
                </a:solidFill>
                <a:latin typeface="Noto Sans CJK KR"/>
              </a:defRPr>
            </a:pPr>
            <a:r>
              <a:t>MLIR Bufferization Dialect</a:t>
            </a:r>
          </a:p>
          <a:p>
            <a:pPr>
              <a:spcAft>
                <a:spcPts val="800"/>
              </a:spcAft>
              <a:defRPr sz="2000">
                <a:solidFill>
                  <a:srgbClr val="1E2832"/>
                </a:solidFill>
                <a:latin typeface="Noto Sans CJK KR"/>
              </a:defRPr>
            </a:pPr>
            <a:r>
              <a:t>MLIR MemRef Dialect</a:t>
            </a:r>
          </a:p>
          <a:p>
            <a:pPr>
              <a:spcAft>
                <a:spcPts val="800"/>
              </a:spcAft>
              <a:defRPr sz="2000">
                <a:solidFill>
                  <a:srgbClr val="1E2832"/>
                </a:solidFill>
                <a:latin typeface="Noto Sans CJK KR"/>
              </a:defRPr>
            </a:pPr>
            <a:r>
              <a:t>MLIR Builtin Dialect - MemRef type and memory space</a:t>
            </a:r>
          </a:p>
          <a:p>
            <a:pPr>
              <a:spcAft>
                <a:spcPts val="800"/>
              </a:spcAft>
              <a:defRPr sz="2000">
                <a:solidFill>
                  <a:srgbClr val="1E2832"/>
                </a:solidFill>
                <a:latin typeface="Noto Sans CJK KR"/>
              </a:defRPr>
            </a:pPr>
            <a:r>
              <a:t>MLIR Tensor Dialect</a:t>
            </a:r>
          </a:p>
          <a:p>
            <a:pPr>
              <a:spcAft>
                <a:spcPts val="800"/>
              </a:spcAft>
              <a:defRPr sz="2000">
                <a:solidFill>
                  <a:srgbClr val="1E2832"/>
                </a:solidFill>
                <a:latin typeface="Noto Sans CJK KR"/>
              </a:defRPr>
            </a:pPr>
            <a:r>
              <a:t>MLIR Linalg Dialect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2881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28C96"/>
                </a:solidFill>
                <a:latin typeface="Noto Sans CJK KR"/>
              </a:defRPr>
            </a:pPr>
            <a:r>
              <a:t>AI/NPU Compiler를 위한 MLIR 기초 - Lecture 12 Bufferization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