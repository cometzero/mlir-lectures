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9728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NanumGothic"/>
              </a:defRPr>
            </a:pPr>
            <a:r>
              <a:t>Lecture 04</a:t>
            </a:r>
            <a:br/>
            <a:r>
              <a:t>mlir-opt, mlir-translate, FileCheck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80360"/>
            <a:ext cx="10607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E1EBF5"/>
                </a:solidFill>
                <a:latin typeface="NanumGothic"/>
              </a:defRPr>
            </a:pPr>
            <a:r>
              <a:t>Pass pipeline execution and regression testing for AI/NPU compiler development</a:t>
            </a:r>
          </a:p>
        </p:txBody>
      </p:sp>
      <p:pic>
        <p:nvPicPr>
          <p:cNvPr id="5" name="Picture 4" descr="MLIR_NPU_Lecture_04_Tool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886200"/>
            <a:ext cx="10424160" cy="41188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오늘의 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mlir-opt로 MLIR input을 parse/verify하고 pass pipeline을 실행한다.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textual pass pipeline 문법을 읽고 NPU lowering pipeline을 command line으로 표현한다.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mlir-translate의 역할을 MLIR 내부 pass와 구분한다.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FileCheck + lit RUN line으로 regression test를 작성한다.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NPU compiler의 fusion/tiling/bufferization/codegen invariant를 테스트로 만든다.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4강의 위치: toolchain을 몸에 익히는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1-3강: IR을 읽는 눈 - Operation, Value, Type, Attribute, Region, Block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4강: IR을 실행하고, 관찰하고, 테스트하는 도구 사용법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5강 이후: Dialect/Pass/Rewrite/Conversion을 만들 때 4강 테스트 패턴을 계속 재사용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NPU compiler 개발에서는 pass 하나를 만들 때마다 최소 3종 test가 필요: positive, negative, ordering/invariant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MLIR tooling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4</a:t>
            </a:r>
          </a:p>
        </p:txBody>
      </p:sp>
      <p:pic>
        <p:nvPicPr>
          <p:cNvPr id="5" name="Picture 4" descr="MLIR_NPU_Lecture_04_Tooling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51560"/>
            <a:ext cx="11155680" cy="44078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mlir-opt는 무엇을 하는가?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입력 textual/bytecode MLIR을 in-memory IR로 load한다.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Verifier를 실행해 well-formed IR인지 확인한다.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선택된 pass 또는 pass pipeline을 순서대로 실행한다.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결과 IR을 다시 textual MLIR로 serialize한다.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주된 용도: pass 개발, lowering debug, regression test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가장 작은 mlir-opt 명령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41414"/>
                </a:solidFill>
                <a:latin typeface="NanumGothicCoding"/>
              </a:defRPr>
            </a:pPr>
            <a:r>
              <a:t># parse + verify + print</a:t>
            </a:r>
            <a:br/>
            <a:r>
              <a:t>mlir-opt input.mlir</a:t>
            </a:r>
            <a:br/>
            <a:br/>
            <a:r>
              <a:t># stdin/stdout 기반 사용</a:t>
            </a:r>
            <a:br/>
            <a:r>
              <a:t>cat input.mlir | mlir-opt -o output.mlir</a:t>
            </a:r>
            <a:br/>
            <a:br/>
            <a:r>
              <a:t># generic form으로 출력해 hidden details 확인</a:t>
            </a:r>
            <a:br/>
            <a:r>
              <a:t>mlir-opt input.mlir --mlir-print-op-generic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pass 하나 실행하기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41414"/>
                </a:solidFill>
                <a:latin typeface="NanumGothicCoding"/>
              </a:defRPr>
            </a:pPr>
            <a:r>
              <a:t># CSE pass 실행</a:t>
            </a:r>
            <a:br/>
            <a:r>
              <a:t>mlir-opt cse_test.mlir   --pass-pipeline='builtin.module(func.func(cse))'</a:t>
            </a:r>
            <a:br/>
            <a:br/>
            <a:r>
              <a:t># canonicalize + CSE</a:t>
            </a:r>
            <a:br/>
            <a:r>
              <a:t>mlir-opt input.mlir   --pass-pipeline='builtin.module(func.func(canonicalize,cse))'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10515600" cy="5486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핵심: pass 이름뿐 아니라 어느 operation level에 anchor되는지도 중요하다.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Textual pass pipeline 문법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10789920" cy="242316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252728"/>
            <a:ext cx="10515600" cy="220370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41414"/>
                </a:solidFill>
                <a:latin typeface="NanumGothicCoding"/>
              </a:defRPr>
            </a:pPr>
            <a:r>
              <a:t>pipeline ::= op-anchor '(' pipeline-element (',' pipeline-element)* ')'</a:t>
            </a:r>
            <a:br/>
            <a:br/>
            <a:r>
              <a:t>builtin.module(</a:t>
            </a:r>
            <a:br/>
            <a:r>
              <a:t>  func.func(cse,canonicalize),</a:t>
            </a:r>
            <a:br/>
            <a:r>
              <a:t>  convert-func-to-llvm{use-bare-ptr-memref-call-conv=1}</a:t>
            </a:r>
            <a:br/>
            <a:r>
              <a:t>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40480"/>
            <a:ext cx="1033272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op-anchor: builtin.module, func.func, any 등 pass manager 실행 단위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nested pipeline: module pass와 function pass를 섞어 구성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options: pass별 key=value 설정을 중괄호에 작성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NPU lowering pipeline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9</a:t>
            </a:r>
          </a:p>
        </p:txBody>
      </p:sp>
      <p:pic>
        <p:nvPicPr>
          <p:cNvPr id="5" name="Picture 4" descr="MLIR_NPU_Lecture_04_Pass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84280" cy="391917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NPU compiler에서 pass ordering이 중요한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Legalize 전에 fusion을 시도하면 op semantics가 아직 frontend dialect에 흩어져 있을 수 있다.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Tiling 전에 layout propagation이 없으면 SRAM burst와 bank conflict가 잘못 계산된다.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Bufferization 이후에는 tensor-level rewrite가 어려워진다.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DMA/barrier/compute ordering은 기능 correctness와 직접 연결된다.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따라서 pass pipeline은 compiler architecture document의 실행 가능한 버전이어야 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IR debug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--mlir-print-ir-before-all / --mlir-print-ir-after-all: 모든 pass 전후 IR dump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--mlir-print-ir-after-change: IR이 실제로 바뀐 pass 이후만 dump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--mlir-print-ir-tree-dir=&lt;dir&gt;: pass별 dump를 directory tree에 저장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--mlir-timing: pass별 compiler latency 확인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--mlir-disable-threading: deterministic debug와 local reproducer에 유용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실전 debug recipe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141414"/>
                </a:solidFill>
                <a:latin typeface="NanumGothicCoding"/>
              </a:defRPr>
            </a:pPr>
            <a:r>
              <a:t># 1. pass가 실제로 IR을 바꾸는지 확인</a:t>
            </a:r>
            <a:br/>
            <a:r>
              <a:t>mlir-opt model.mlir --pass-pipeline="$PIPELINE"   --mlir-print-ir-after-change</a:t>
            </a:r>
            <a:br/>
            <a:br/>
            <a:r>
              <a:t># 2. 대형 graph는 파일 트리로 dump</a:t>
            </a:r>
            <a:br/>
            <a:r>
              <a:t>mlir-opt model.mlir --pass-pipeline="$PIPELINE"   --mlir-print-ir-tree-dir=/tmp/mlir_dump</a:t>
            </a:r>
            <a:br/>
            <a:br/>
            <a:r>
              <a:t># 3. pass latency 측정</a:t>
            </a:r>
            <a:br/>
            <a:r>
              <a:t>mlir-opt model.mlir --pass-pipeline="$PIPELINE" --mlir-timing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mlir-translate는 무엇이 다른가?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mlir-opt: MLIR 내부에서 pass를 실행하고 MLIR을 출력한다.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mlir-translate: MLIR module과 외부 representation 사이를 변환한다.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대표 예: LLVM dialect MLIR -&gt; LLVM IR, SPIR-V binary round-trip</a:t>
            </a:r>
          </a:p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NPU 관점: command buffer, firmware packet, simulator JSON 같은 외부 ABI emitter 설계와 유사한 책임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mlir-translate command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700">
                <a:solidFill>
                  <a:srgbClr val="141414"/>
                </a:solidFill>
                <a:latin typeface="NanumGothicCoding"/>
              </a:defRPr>
            </a:pPr>
            <a:r>
              <a:t># LLVM dialect MLIR -&gt; LLVM IR</a:t>
            </a:r>
            <a:br/>
            <a:r>
              <a:t>mlir-translate --mlir-to-llvmir llvm_dialect.mlir &gt; output.ll</a:t>
            </a:r>
            <a:br/>
            <a:br/>
            <a:r>
              <a:t># typical flow</a:t>
            </a:r>
            <a:br/>
            <a:r>
              <a:t>high_level.mlir   --mlir-opt lowering passes--&gt; llvm_dialect.mlir   --mlir-translate--&gt; output.ll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FileCheck는 왜 필요한가?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compiler output은 whitespace, SSA numbering, attribute order가 자주 바뀐다.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golden file 전체 비교는 유지보수가 어렵고 false failure가 많다.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FileCheck는 필요한 pattern과 invariant만 확인한다.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MLIR pass test는 "출력 전체"보다 "pass가 보장해야 하는 성질"을 테스트해야 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FileCheck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16</a:t>
            </a:r>
          </a:p>
        </p:txBody>
      </p:sp>
      <p:pic>
        <p:nvPicPr>
          <p:cNvPr id="5" name="Picture 4" descr="MLIR_NPU_Lecture_04_FileCheck_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11430000" cy="518890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RUN line과 CHECK 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141414"/>
                </a:solidFill>
                <a:latin typeface="NanumGothicCoding"/>
              </a:defRPr>
            </a:pPr>
            <a:r>
              <a:t>// RUN: mlir-opt %s -cse | FileCheck %s</a:t>
            </a:r>
            <a:br/>
            <a:br/>
            <a:r>
              <a:t>// CHECK-LABEL: func.func @simple_constant</a:t>
            </a:r>
            <a:br/>
            <a:r>
              <a:t>func.func @simple_constant() -&gt; (i32, i32) {</a:t>
            </a:r>
            <a:br/>
            <a:r>
              <a:t>  // CHECK-NEXT: %[[RESULT:.*]] = arith.constant 1</a:t>
            </a:r>
            <a:br/>
            <a:r>
              <a:t>  // CHECK-NEXT: return %[[RESULT]], %[[RESULT]]</a:t>
            </a:r>
            <a:br/>
            <a:r>
              <a:t>  %0 = arith.constant 1 : i32</a:t>
            </a:r>
            <a:br/>
            <a:r>
              <a:t>  %1 = arith.constant 1 : i32</a:t>
            </a:r>
            <a:br/>
            <a:r>
              <a:t>  return %0, %1 : i32, i32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FileCheck directive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CHECK-LABEL: 함수/kernel 단위로 match 영역을 분리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CHECK: 순서 있는 positive match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CHECK-NEXT: 바로 다음 줄. 남용하면 brittle해짐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CHECK-SAME: 같은 줄의 type/attribute 일부 확인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CHECK-NOT: illegal op가 사라졌는지 확인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CHECK-DAG: 순서 무관 match. scheduling-independent output에 사용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%[[V:.*]]: SSA 이름 capture로 printed name 변화에 대응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CHECK-DAG를 조심해야 하는 NPU 사례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좋은 사용: 독립 constant, metadata, 순서가 의미 없는 op 집합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위험한 사용: npu.dma.load -&gt; npu.barrier.await -&gt; npu.matmul -&gt; npu.dma.store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NPU command sequence는 순서가 correctness이다.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DMA/store/barrier ordering을 DAG로 풀어버리면 실제 하드웨어 race bug를 숨길 수 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Diagnostic test: negative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400">
                <a:solidFill>
                  <a:srgbClr val="141414"/>
                </a:solidFill>
                <a:latin typeface="NanumGothicCoding"/>
              </a:defRPr>
            </a:pPr>
            <a:r>
              <a:t>// RUN: mlir-opt %s -split-input-file -verify-diagnostics</a:t>
            </a:r>
            <a:br/>
            <a:br/>
            <a:r>
              <a:t>func.func @bad_branch() {</a:t>
            </a:r>
            <a:br/>
            <a:r>
              <a:t>  cf.br ^missing  // expected-error {{reference to an undefined block}}</a:t>
            </a:r>
            <a:br/>
            <a:r>
              <a:t>}</a:t>
            </a:r>
            <a:br/>
            <a:br/>
            <a:r>
              <a:t>// -----</a:t>
            </a:r>
            <a:br/>
            <a:br/>
            <a:r>
              <a:t>func.func @bad_cmp(%a : f32) {</a:t>
            </a:r>
            <a:br/>
            <a:r>
              <a:t>  // expected-error@+1 {{invalid predicate attribute specification: "foo"}}</a:t>
            </a:r>
            <a:br/>
            <a:r>
              <a:t>  %result = arith.cmpf "foo", %a, %a : f32</a:t>
            </a:r>
            <a:br/>
            <a:r>
              <a:t>  return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NPU regression test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21</a:t>
            </a:r>
          </a:p>
        </p:txBody>
      </p:sp>
      <p:pic>
        <p:nvPicPr>
          <p:cNvPr id="5" name="Picture 4" descr="MLIR_NPU_Lecture_04_Regres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60120"/>
            <a:ext cx="10332720" cy="615055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실습 A: parse/verify + FileCheck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900">
                <a:solidFill>
                  <a:srgbClr val="141414"/>
                </a:solidFill>
                <a:latin typeface="NanumGothicCoding"/>
              </a:defRPr>
            </a:pPr>
            <a:r>
              <a:t>cd examples</a:t>
            </a:r>
            <a:br/>
            <a:r>
              <a:t>mlir-opt 01_parse_verify.mlir</a:t>
            </a:r>
            <a:br/>
            <a:r>
              <a:t>mlir-opt 01_parse_verify.mlir | FileCheck 01_parse_verify.mlir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10698480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141414"/>
                </a:solidFill>
                <a:latin typeface="NanumGothic"/>
              </a:defRPr>
            </a:pPr>
            <a:r>
              <a:t>산출물: input IR이 well-formed인지 확인하고 CHECK-LABEL로 함수가 유지되는지 검증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실습 B: CSE regression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600">
                <a:solidFill>
                  <a:srgbClr val="141414"/>
                </a:solidFill>
                <a:latin typeface="NanumGothicCoding"/>
              </a:defRPr>
            </a:pPr>
            <a:r>
              <a:t>mlir-opt 02_cse_regression_test.mlir   --pass-pipeline='builtin.module(func.func(cse))'   | FileCheck 02_cse_regression_test.mlir</a:t>
            </a:r>
            <a:br/>
            <a:br/>
            <a:r>
              <a:t>// CHECK-NEXT: %[[C:.*]] = arith.constant 1</a:t>
            </a:r>
            <a:br/>
            <a:r>
              <a:t>// CHECK-NEXT: return %[[C]], %[[C]]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실습 C: pass debug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>
                <a:solidFill>
                  <a:srgbClr val="141414"/>
                </a:solidFill>
                <a:latin typeface="NanumGothicCoding"/>
              </a:defRPr>
            </a:pPr>
            <a:r>
              <a:t>mlir-opt 03_pass_pipeline_debug.mlir   --pass-pipeline='builtin.module(func.func(cse,canonicalize))'   --mlir-print-ir-after-all</a:t>
            </a:r>
            <a:br/>
            <a:br/>
            <a:r>
              <a:t>mlir-opt 03_pass_pipeline_debug.mlir   --pass-pipeline='builtin.module(func.func(cse,canonicalize))'   --mlir-print-ir-after-change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실습 D: NPU pass test template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899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BEC8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89888"/>
            <a:ext cx="10515600" cy="416966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800">
                <a:solidFill>
                  <a:srgbClr val="141414"/>
                </a:solidFill>
                <a:latin typeface="NanumGothicCoding"/>
              </a:defRPr>
            </a:pPr>
            <a:r>
              <a:t>// CHECK-LABEL: func.func @matmul_bias_relu</a:t>
            </a:r>
            <a:br/>
            <a:r>
              <a:t>// CHECK: npu.matmul</a:t>
            </a:r>
            <a:br/>
            <a:r>
              <a:t>// CHECK-SAME: tile_m = 16</a:t>
            </a:r>
            <a:br/>
            <a:r>
              <a:t>// CHECK-SAME: tile_n = 16</a:t>
            </a:r>
            <a:br/>
            <a:r>
              <a:t>// CHECK-SAME: tile_k = 32</a:t>
            </a:r>
            <a:br/>
            <a:r>
              <a:t>// CHECK: npu.relu</a:t>
            </a:r>
            <a:br/>
            <a:r>
              <a:t>// CHECK-NOT: stablehlo.dot_general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515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핵심 질문: 각 CHECK line은 어떤 NPU correctness invariant를 검증하는가?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좋은 테스트 vs 나쁜 테스트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나쁜 테스트: printer가 출력한 모든 줄을 CHECK-NEXT로 고정한다.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좋은 테스트: pass가 보장해야 하는 핵심 invariant만 확인한다.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나쁜 테스트: %0, %1 같은 SSA 이름에 의존한다.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좋은 테스트: %[[V:.*]] 같은 FileCheck 변수를 사용한다.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나쁜 테스트: negative case 없이 supported case만 확인한다.</a:t>
            </a:r>
          </a:p>
          <a:p>
            <a:pPr>
              <a:spcAft>
                <a:spcPts val="600"/>
              </a:spcAft>
              <a:defRPr sz="1800">
                <a:solidFill>
                  <a:srgbClr val="141414"/>
                </a:solidFill>
                <a:latin typeface="NanumGothic"/>
              </a:defRPr>
            </a:pPr>
            <a:r>
              <a:t>좋은 테스트: unsupported shape/layout/quantization diagnostic도 테스트한다.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NPU compiler CI에 넣을 최소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Smoke: parse/verify, basic pass pipeline 실행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Transform: fusion/tiling/bufferization pass output invariant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Negative: unsupported op/layout/tile/quantization diagnostic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Ordering: DMA/barrier/compute/store command sequence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Translation: final command buffer 또는 LLVM IR/SPIR-V translation smoke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Performance sanity: pass timing regression threshold 또는 compile latency trend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Common failure modes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Pass가 실행되지 않음: op-anchor가 잘못되었거나 dialect/pass registry 누락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Test가 가끔 실패: CHECK-DAG/parallel pass output/order assumption 문제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출력은 맞는데 FileCheck 실패: CHECK line이 너무 구체적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FileCheck는 통과하지만 bug 존재: 중요한 invariant를 체크하지 않음</a:t>
            </a:r>
          </a:p>
          <a:p>
            <a:pPr>
              <a:spcAft>
                <a:spcPts val="600"/>
              </a:spcAft>
              <a:defRPr sz="1900">
                <a:solidFill>
                  <a:srgbClr val="141414"/>
                </a:solidFill>
                <a:latin typeface="NanumGothic"/>
              </a:defRPr>
            </a:pPr>
            <a:r>
              <a:t>Negative test 실패: diagnostic message가 너무 불안정하거나 위치 지정이 틀림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mlir-opt는 NPU compiler pass 개발의 기본 실험대이다.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pass pipeline 문자열은 compiler lowering architecture를 실행 가능한 형태로 표현한다.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mlir-translate는 MLIR과 외부 IR/ABI representation의 경계 도구이다.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FileCheck는 출력 전체가 아니라 compiler invariant를 검증해야 한다.</a:t>
            </a:r>
          </a:p>
          <a:p>
            <a:pPr>
              <a:spcAft>
                <a:spcPts val="600"/>
              </a:spcAft>
              <a:defRPr sz="2100">
                <a:solidFill>
                  <a:srgbClr val="141414"/>
                </a:solidFill>
                <a:latin typeface="NanumGothic"/>
              </a:defRPr>
            </a:pPr>
            <a:r>
              <a:t>NPU에서는 command order, memory space, layout, quantization metadata가 test 대상이다.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1C36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FFFFFF"/>
                </a:solidFill>
                <a:latin typeface="NanumGothic"/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446520"/>
            <a:ext cx="11521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4"/>
                </a:solidFill>
                <a:latin typeface="NanumGothic"/>
              </a:defRPr>
            </a:pPr>
            <a:r>
              <a:t>MLIR NPU Compiler | Lecture 04 | 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10972800" cy="5029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141414"/>
                </a:solidFill>
                <a:latin typeface="NanumGothic"/>
              </a:defRPr>
            </a:pPr>
            <a:r>
              <a:t>MLIR: Using mlir-opt</a:t>
            </a:r>
          </a:p>
          <a:p>
            <a:pPr>
              <a:spcAft>
                <a:spcPts val="600"/>
              </a:spcAft>
              <a:defRPr sz="2200">
                <a:solidFill>
                  <a:srgbClr val="141414"/>
                </a:solidFill>
                <a:latin typeface="NanumGothic"/>
              </a:defRPr>
            </a:pPr>
            <a:r>
              <a:t>MLIR: Pass Infrastructure and Passes</a:t>
            </a:r>
          </a:p>
          <a:p>
            <a:pPr>
              <a:spcAft>
                <a:spcPts val="600"/>
              </a:spcAft>
              <a:defRPr sz="2200">
                <a:solidFill>
                  <a:srgbClr val="141414"/>
                </a:solidFill>
                <a:latin typeface="NanumGothic"/>
              </a:defRPr>
            </a:pPr>
            <a:r>
              <a:t>MLIR: Testing Guide</a:t>
            </a:r>
          </a:p>
          <a:p>
            <a:pPr>
              <a:spcAft>
                <a:spcPts val="600"/>
              </a:spcAft>
              <a:defRPr sz="2200">
                <a:solidFill>
                  <a:srgbClr val="141414"/>
                </a:solidFill>
                <a:latin typeface="NanumGothic"/>
              </a:defRPr>
            </a:pPr>
            <a:r>
              <a:t>LLVM: FileCheck Command Guide</a:t>
            </a:r>
          </a:p>
          <a:p>
            <a:pPr>
              <a:spcAft>
                <a:spcPts val="600"/>
              </a:spcAft>
              <a:defRPr sz="2200">
                <a:solidFill>
                  <a:srgbClr val="141414"/>
                </a:solidFill>
                <a:latin typeface="NanumGothic"/>
              </a:defRPr>
            </a:pPr>
            <a:r>
              <a:t>MLIR source: mlir-translate main entry and translation infrastructure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