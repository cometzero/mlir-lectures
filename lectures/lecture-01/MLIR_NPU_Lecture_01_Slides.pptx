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49039" y="0"/>
            <a:ext cx="164592" cy="6858000"/>
          </a:xfrm>
          <a:prstGeom prst="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2834640" cy="64008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3000" b="1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834640" cy="12801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MLIR와 AI/NPU
Compiler 큰 그림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868680"/>
            <a:ext cx="70408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3400" b="1">
                <a:solidFill>
                  <a:srgbClr val="112240"/>
                </a:solidFill>
                <a:latin typeface="Noto Sans CJK KR"/>
              </a:rPr>
              <a:t>MLIR for AI/NPU Compiler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7408" y="1874519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0">
                <a:solidFill>
                  <a:srgbClr val="5C6370"/>
                </a:solidFill>
                <a:latin typeface="Noto Sans CJK KR"/>
              </a:rPr>
              <a:t>기초부터 NPU lowering pipeline까지 연결하는 첫 강의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743200"/>
            <a:ext cx="6949440" cy="9144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000" b="1">
                <a:solidFill>
                  <a:srgbClr val="112240"/>
                </a:solidFill>
                <a:latin typeface="Noto Sans CJK KR"/>
              </a:rPr>
              <a:t>목표: 모델 그래프를 NPU 명령 스트림으로 바꾸는 전체 경로를 한 장의 지도로 이해한다.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977639"/>
            <a:ext cx="6949440" cy="15544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대상: AI/NPU compiler 입문자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관점: 256+ TOPS급 Edge/Embedded NPU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산출물: NPU compiler lowering pipeline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1강 위치와 전체 코스 맥락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20강 전체 중 1강은 “지도 만들기”입니다.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51560"/>
            <a:ext cx="5303520" cy="4434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800" b="1">
                <a:solidFill>
                  <a:srgbClr val="112240"/>
                </a:solidFill>
                <a:latin typeface="Noto Sans CJK KR"/>
              </a:rPr>
              <a:t>오늘 강의의 역할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오늘은 MLIR 문법보다 compiler stack 전체 경로를 먼저 잡습니다.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2-5강: IR 구조, tool, dialect 기본기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6-17강: AI model IR부터 tensor/memory/kernel optimization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18-20강: Custom NPU dialect, runtime ABI, capstone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03520" cy="44348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800" b="1">
                <a:solidFill>
                  <a:srgbClr val="112240"/>
                </a:solidFill>
                <a:latin typeface="Noto Sans CJK KR"/>
              </a:rPr>
              <a:t>핵심 질문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왜 하나의 IR만으로는 AI/NPU compiler가 어려운가?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StableHLO/TOSA/Linalg/MemRef/Vector/NPU Dialect는 어디에 쓰이는가?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성능과 correctness를 모두 만족하는 lowering pipeline은 어떤 모양인가?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학습 목표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강의 후 스스로 설명할 수 있어야 하는 내용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24128"/>
            <a:ext cx="502920" cy="502920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996696"/>
            <a:ext cx="9875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0">
                <a:solidFill>
                  <a:srgbClr val="1E2127"/>
                </a:solidFill>
                <a:latin typeface="Noto Sans CJK KR"/>
              </a:rPr>
              <a:t>AI/NPU compiler의 end-to-end 역할을 설명한다.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502920" cy="502920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1947672"/>
            <a:ext cx="9875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0">
                <a:solidFill>
                  <a:srgbClr val="1E2127"/>
                </a:solidFill>
                <a:latin typeface="Noto Sans CJK KR"/>
              </a:rPr>
              <a:t>MLIR가 multi-level IR + dialect ecosystem인 이유를 이해한다.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502920" cy="502920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898648"/>
            <a:ext cx="9875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0">
                <a:solidFill>
                  <a:srgbClr val="1E2127"/>
                </a:solidFill>
                <a:latin typeface="Noto Sans CJK KR"/>
              </a:rPr>
              <a:t>StableHLO/TOSA -&gt; Linalg/Tensor -&gt; MemRef/Vector/SCF -&gt; NPU dialect 흐름을 그린다.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77056"/>
            <a:ext cx="502920" cy="502920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3849624"/>
            <a:ext cx="9875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0">
                <a:solidFill>
                  <a:srgbClr val="1E2127"/>
                </a:solidFill>
                <a:latin typeface="Noto Sans CJK KR"/>
              </a:rPr>
              <a:t>Tiling, fusion, layout, memory space, command buffer가 왜 중요한지 연결한다.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28032"/>
            <a:ext cx="502920" cy="502920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4800600"/>
            <a:ext cx="9875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0">
                <a:solidFill>
                  <a:srgbClr val="1E2127"/>
                </a:solidFill>
                <a:latin typeface="Noto Sans CJK KR"/>
              </a:rPr>
              <a:t>MatMul 기반 NPU lowering pipeline 초안을 작성한다.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MLIR 한 문장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NPU compiler 관점의 핵심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24128"/>
            <a:ext cx="10835640" cy="1078992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100" b="1">
                <a:solidFill>
                  <a:srgbClr val="112240"/>
                </a:solidFill>
                <a:latin typeface="Noto Sans CJK KR"/>
              </a:rPr>
              <a:t>MLIR는 여러 abstraction level을 하나의 compiler infrastructure 안에서 표현하고, dialect로 domain-specific IR을 확장하며, pass/rewrite/conversion으로 점진적으로 lowering하는 프레임워크입니다.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3429000" cy="25146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800" b="1">
                <a:solidFill>
                  <a:srgbClr val="112240"/>
                </a:solidFill>
                <a:latin typeface="Noto Sans CJK KR"/>
              </a:rPr>
              <a:t>High Level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모델 그래프 수준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Tensor/shape semantics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Framework portability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2514600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008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800" b="1">
                <a:solidFill>
                  <a:srgbClr val="112240"/>
                </a:solidFill>
                <a:latin typeface="Noto Sans CJK KR"/>
              </a:rPr>
              <a:t>Mid Level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Loop/tile/memory 수준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Bufferization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Layout propagation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514600"/>
            <a:ext cx="3429000" cy="251460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800" b="1">
                <a:solidFill>
                  <a:srgbClr val="112240"/>
                </a:solidFill>
                <a:latin typeface="Noto Sans CJK KR"/>
              </a:rPr>
              <a:t>Low/Target Level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Vector/kernel 수준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Custom NPU ops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127"/>
                </a:solidFill>
                <a:latin typeface="Noto Sans CJK KR"/>
              </a:rPr>
              <a:t>Runtime command ABI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1960" y="3749039"/>
            <a:ext cx="155448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3749039"/>
            <a:ext cx="155448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왜 AI/NPU Compiler에 MLIR가 필요한가?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Single IR, single pass 방식은 NPU 최적화에 부족합니다.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60120"/>
            <a:ext cx="5257800" cy="489204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문제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AI 모델은 graph-level semantics와 tensor-level shape 정보가 중요합니다.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NPU는 SRAM, DMA, PE array, accumulator, quantization constraint가 성능을 좌우합니다.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High-level fusion과 low-level memory scheduling을 같은 pipeline에서 연결해야 합니다.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MLIR는 dialect별 abstraction을 유지하면서 단계별 legality/correctness를 검증할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349240" cy="4892040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008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MLIR식 해결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Frontend IR: 모델 의미 보존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Tensor IR: fusion/tile/vectorize 전 변환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Memory IR: tensor를 buffer로 배치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Kernel IR: vector/loop/DMA scheduling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NPU IR: target-specific command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End-to-End NPU Compiler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오늘 강의의 핵심 지도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6</a:t>
            </a:r>
          </a:p>
        </p:txBody>
      </p:sp>
      <p:pic>
        <p:nvPicPr>
          <p:cNvPr id="8" name="Picture 7" descr="lecture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201400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MLIR Core Objects: 이름만 먼저 익히기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2-3강에서 상세 문법을 다룹니다.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05840"/>
            <a:ext cx="3246120" cy="566928"/>
          </a:xfrm>
          <a:prstGeom prst="roundRect">
            <a:avLst/>
          </a:prstGeom>
          <a:solidFill>
            <a:srgbClr val="2C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KR"/>
              </a:rPr>
              <a:t>Operation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246120" cy="7498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>
                <a:solidFill>
                  <a:srgbClr val="1E2127"/>
                </a:solidFill>
                <a:latin typeface="Noto Sans CJK KR"/>
              </a:rPr>
              <a:t>계산/제어/선언의 기본 단위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005840"/>
            <a:ext cx="3246120" cy="566928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KR"/>
              </a:rPr>
              <a:t>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37360"/>
            <a:ext cx="3246120" cy="7498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>
                <a:solidFill>
                  <a:srgbClr val="1E2127"/>
                </a:solidFill>
                <a:latin typeface="Noto Sans CJK KR"/>
              </a:rPr>
              <a:t>SSA data 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005840"/>
            <a:ext cx="3246120" cy="566928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KR"/>
              </a:rPr>
              <a:t>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246120" cy="7498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>
                <a:solidFill>
                  <a:srgbClr val="1E2127"/>
                </a:solidFill>
                <a:latin typeface="Noto Sans CJK KR"/>
              </a:rPr>
              <a:t>shape/element/memory 표현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3246120" cy="566928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KR"/>
              </a:rPr>
              <a:t>Attribute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3246120" cy="7498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>
                <a:solidFill>
                  <a:srgbClr val="1E2127"/>
                </a:solidFill>
                <a:latin typeface="Noto Sans CJK KR"/>
              </a:rPr>
              <a:t>layout/quant/tile metadata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108960"/>
            <a:ext cx="3246120" cy="566928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KR"/>
              </a:rPr>
              <a:t>Region/Block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840480"/>
            <a:ext cx="3246120" cy="7498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>
                <a:solidFill>
                  <a:srgbClr val="1E2127"/>
                </a:solidFill>
                <a:latin typeface="Noto Sans CJK KR"/>
              </a:rPr>
              <a:t>function/loop/graph body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108960"/>
            <a:ext cx="3246120" cy="566928"/>
          </a:xfrm>
          <a:prstGeom prst="roundRect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KR"/>
              </a:rPr>
              <a:t>Dialect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840480"/>
            <a:ext cx="3246120" cy="7498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>
                <a:solidFill>
                  <a:srgbClr val="1E2127"/>
                </a:solidFill>
                <a:latin typeface="Noto Sans CJK KR"/>
              </a:rPr>
              <a:t>namespace + semantics package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Multi-Level Abstraction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정보 손실을 제어하면서 내려갑니다.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1828800" cy="594360"/>
          </a:xfrm>
          <a:prstGeom prst="roundRect">
            <a:avLst/>
          </a:prstGeom>
          <a:solidFill>
            <a:srgbClr val="2C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182880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StableHLO/TOSA
op semantics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2888" y="2423160"/>
            <a:ext cx="329184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234440"/>
            <a:ext cx="1828800" cy="594360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Tensor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965960"/>
            <a:ext cx="182880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tensor/linalg
fusion/tile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73168" y="2423160"/>
            <a:ext cx="329184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234440"/>
            <a:ext cx="1828800" cy="594360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965960"/>
            <a:ext cx="182880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memref
layout/space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13448" y="2423160"/>
            <a:ext cx="329184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234440"/>
            <a:ext cx="1828800" cy="59436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Loop/Vector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965960"/>
            <a:ext cx="182880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scf/affine/vector
schedule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53728" y="2423160"/>
            <a:ext cx="329184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1234440"/>
            <a:ext cx="1828800" cy="5943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965960"/>
            <a:ext cx="182880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custom npu
command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617720"/>
            <a:ext cx="10332720" cy="82296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NPU compiler 원칙: 너무 빨리 low-level로 내리면 fusion/shape 최적화를 잃고, 너무 늦게 memory를 보면 SRAM/DMA 제약을 놓칩니다.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AI 모델 입력 IR: StableHLO와 TOSA의 위치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프레임워크와 NPU backend 사이의 공통 언어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960120"/>
            <a:ext cx="5394960" cy="48463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StableHLO 관점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StableHLO: ML high-level operation semantics를 안정적으로 표현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Framework portability가 핵심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Backend에서는 legal op set으로 점진적으로 lowering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960120"/>
            <a:ext cx="5303520" cy="4846320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008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TOSA 관점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TOSA: DNN에서 자주 쓰는 whole-tensor operation set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CPU/GPU/NPU target concern을 고려한 tensor-level 표현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Edge NPU에서는 op coverage와 quantized semantics가 중요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NPU Target Model: Compiler가 알아야 할 하드웨어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아키텍처 정보를 IR/Pass에 반영해야 성능이 나옵니다.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914400"/>
            <a:ext cx="182880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5C6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E2127"/>
                </a:solidFill>
                <a:latin typeface="Noto Sans CJK KR"/>
              </a:rPr>
              <a:t>DRAM
weights/activations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868680"/>
            <a:ext cx="1828800" cy="100584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E2127"/>
                </a:solidFill>
                <a:latin typeface="Noto Sans CJK KR"/>
              </a:rPr>
              <a:t>DMA
load/store overlap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822960"/>
            <a:ext cx="2148840" cy="1097280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008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E2127"/>
                </a:solidFill>
                <a:latin typeface="Noto Sans CJK KR"/>
              </a:rPr>
              <a:t>On-chip SRAM
banks / double buffer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731520"/>
            <a:ext cx="2880360" cy="128016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1E2127"/>
                </a:solidFill>
                <a:latin typeface="Noto Sans CJK KR"/>
              </a:rPr>
              <a:t>PE Array / Tensor Core
MAC tiles / accumulator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1371600"/>
            <a:ext cx="475488" cy="0"/>
          </a:xfrm>
          <a:prstGeom prst="line">
            <a:avLst/>
          </a:prstGeom>
          <a:ln w="17780">
            <a:solidFill>
              <a:srgbClr val="E87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92040" y="1371600"/>
            <a:ext cx="521208" cy="0"/>
          </a:xfrm>
          <a:prstGeom prst="line">
            <a:avLst/>
          </a:prstGeom>
          <a:ln w="17780">
            <a:solidFill>
              <a:srgbClr val="E87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0" y="1371600"/>
            <a:ext cx="566928" cy="0"/>
          </a:xfrm>
          <a:prstGeom prst="line">
            <a:avLst/>
          </a:prstGeom>
          <a:ln w="17780">
            <a:solidFill>
              <a:srgbClr val="2C6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2743200"/>
            <a:ext cx="107442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Compiler-visible constraints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Tiling: M/N/K tile size가 PE utilization과 SRAM footprint를 결정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Layout: blocked layout, weight packing, swizzle가 DMA 효율에 영향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Scheduling: DMA load, compute, store, barrier 순서를 생성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Quantization: INT8/INT4 입력, accumulator, requant scale/zero-point 관리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NPU Lowering Pipeline 초안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1강 실습에서 직접 작성할 결과물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2423160" cy="475488"/>
          </a:xfrm>
          <a:prstGeom prst="roundRect">
            <a:avLst/>
          </a:prstGeom>
          <a:solidFill>
            <a:srgbClr val="2C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01 Import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4231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1E2127"/>
                </a:solidFill>
                <a:latin typeface="Noto Sans CJK KR"/>
              </a:rPr>
              <a:t>ONNX/StableHLO/TOSA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1828800"/>
            <a:ext cx="393192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1005840"/>
            <a:ext cx="2423160" cy="475488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02 Legalize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00200"/>
            <a:ext cx="24231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1E2127"/>
                </a:solidFill>
                <a:latin typeface="Noto Sans CJK KR"/>
              </a:rPr>
              <a:t>unsupported op decomposition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1828800"/>
            <a:ext cx="393192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005840"/>
            <a:ext cx="2423160" cy="475488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03 Canonicalize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24231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1E2127"/>
                </a:solidFill>
                <a:latin typeface="Noto Sans CJK KR"/>
              </a:rPr>
              <a:t>shape + algebra simplify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0" y="1828800"/>
            <a:ext cx="393192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1005840"/>
            <a:ext cx="2423160" cy="475488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04 Fuse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00200"/>
            <a:ext cx="24231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1E2127"/>
                </a:solidFill>
                <a:latin typeface="Noto Sans CJK KR"/>
              </a:rPr>
              <a:t>locality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34640"/>
            <a:ext cx="2423160" cy="475488"/>
          </a:xfrm>
          <a:prstGeom prst="roundRect">
            <a:avLst/>
          </a:prstGeom>
          <a:solidFill>
            <a:srgbClr val="2C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05 Tile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29000"/>
            <a:ext cx="24231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1E2127"/>
                </a:solidFill>
                <a:latin typeface="Noto Sans CJK KR"/>
              </a:rPr>
              <a:t>SRAM/PE-aware tiling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3657600"/>
            <a:ext cx="393192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383280" y="2834640"/>
            <a:ext cx="2423160" cy="475488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06 Bufferize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429000"/>
            <a:ext cx="24231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1E2127"/>
                </a:solidFill>
                <a:latin typeface="Noto Sans CJK KR"/>
              </a:rPr>
              <a:t>tensor -&gt; memref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06440" y="3657600"/>
            <a:ext cx="393192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834640"/>
            <a:ext cx="2423160" cy="475488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07 Schedule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429000"/>
            <a:ext cx="24231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1E2127"/>
                </a:solidFill>
                <a:latin typeface="Noto Sans CJK KR"/>
              </a:rPr>
              <a:t>DMA/compute/barrier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0" y="3657600"/>
            <a:ext cx="393192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0" y="2834640"/>
            <a:ext cx="2423160" cy="475488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08 Emit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429000"/>
            <a:ext cx="2423160" cy="731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1E2127"/>
                </a:solidFill>
                <a:latin typeface="Noto Sans CJK KR"/>
              </a:rPr>
              <a:t>command buffer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074920"/>
            <a:ext cx="10241280" cy="65836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112240"/>
                </a:solidFill>
                <a:latin typeface="Noto Sans CJK KR"/>
              </a:rPr>
              <a:t>중간 산출물은 항상 dump 가능해야 합니다: IR after each pass, verifier result, shape/layout/memory report, performance estimate.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예시: MatMul + Bias + ReLU가 NPU 명령이 되기까지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아주 단순한 op도 여러 compiler 단계가 필요합니다.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572768" cy="530352"/>
          </a:xfrm>
          <a:prstGeom prst="roundRect">
            <a:avLst/>
          </a:prstGeom>
          <a:solidFill>
            <a:srgbClr val="2C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572768" cy="89611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0">
                <a:solidFill>
                  <a:srgbClr val="1E2127"/>
                </a:solidFill>
                <a:latin typeface="Noto Sans CJK KR"/>
              </a:rPr>
              <a:t>dot_general + add + max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75688" y="2286000"/>
            <a:ext cx="301751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41448" y="1143000"/>
            <a:ext cx="1572768" cy="530352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Fusion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8" y="1828800"/>
            <a:ext cx="1572768" cy="89611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0">
                <a:solidFill>
                  <a:srgbClr val="1E2127"/>
                </a:solidFill>
                <a:latin typeface="Noto Sans CJK KR"/>
              </a:rPr>
              <a:t>matmul_bias_relu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14215" y="2286000"/>
            <a:ext cx="301753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79976" y="1143000"/>
            <a:ext cx="1572768" cy="530352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Tiling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828800"/>
            <a:ext cx="1572768" cy="89611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0">
                <a:solidFill>
                  <a:srgbClr val="1E2127"/>
                </a:solidFill>
                <a:latin typeface="Noto Sans CJK KR"/>
              </a:rPr>
              <a:t>M/N/K=64/64/128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2744" y="2286000"/>
            <a:ext cx="301752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18504" y="1143000"/>
            <a:ext cx="1572768" cy="530352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Buffers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828800"/>
            <a:ext cx="1572768" cy="89611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0">
                <a:solidFill>
                  <a:srgbClr val="1E2127"/>
                </a:solidFill>
                <a:latin typeface="Noto Sans CJK KR"/>
              </a:rPr>
              <a:t>A/B/C SRAM tile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91272" y="2286000"/>
            <a:ext cx="301752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57032" y="1143000"/>
            <a:ext cx="1572768" cy="53035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Schedule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7032" y="1828800"/>
            <a:ext cx="1572768" cy="89611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0">
                <a:solidFill>
                  <a:srgbClr val="1E2127"/>
                </a:solidFill>
                <a:latin typeface="Noto Sans CJK KR"/>
              </a:rPr>
              <a:t>DMA -&gt; compute -&gt; store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29800" y="2286000"/>
            <a:ext cx="301752" cy="0"/>
          </a:xfrm>
          <a:prstGeom prst="line">
            <a:avLst/>
          </a:prstGeom>
          <a:ln w="17780">
            <a:solidFill>
              <a:srgbClr val="5C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95560" y="1143000"/>
            <a:ext cx="1572768" cy="530352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Command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5560" y="1828800"/>
            <a:ext cx="1572768" cy="89611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100" b="0">
                <a:solidFill>
                  <a:srgbClr val="1E2127"/>
                </a:solidFill>
                <a:latin typeface="Noto Sans CJK KR"/>
              </a:rPr>
              <a:t>descriptor + stream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703320"/>
            <a:ext cx="10241280" cy="146304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동시에 만족해야 하는 두 조건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Correctness: semantics, broadcasting, shape, activation clamp 유지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Performance: tile size, memory layout, prefetch distance, double buffering, accumulator spill 여부가 성능 좌우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Dialect Map: 어느 계층에 어떤 Dialect를 쓰나?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다음 강의들의 navigation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960120"/>
            <a:ext cx="2103120" cy="438912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계층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960120"/>
            <a:ext cx="2606040" cy="438912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대표 Dialect/IR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960120"/>
            <a:ext cx="2377440" cy="438912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주요 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960120"/>
            <a:ext cx="3017520" cy="438912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NPU compiler 포인트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508760"/>
            <a:ext cx="21031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508760"/>
            <a:ext cx="260604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StableHLO/TOSA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508760"/>
            <a:ext cx="237744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op semantics, shape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508760"/>
            <a:ext cx="30175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frontend portability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21991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Tensor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221991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tensor/linalg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221991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structured ops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221991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fusion/tile candidate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21031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935224"/>
            <a:ext cx="260604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scf/affine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2935224"/>
            <a:ext cx="237744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loop nest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935224"/>
            <a:ext cx="30175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tile loops, DMA order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48456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648456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bufferization/memref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3648456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buffer/layout/space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648456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SRAM/DRAM mapping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61688"/>
            <a:ext cx="21031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Kernel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4361688"/>
            <a:ext cx="260604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vector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4361688"/>
            <a:ext cx="237744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vector.contract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4361688"/>
            <a:ext cx="301752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tensorization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Target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5074920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custom npu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507492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dma/matmul/barrier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5074920"/>
            <a:ext cx="3017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command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Pass Pipeline Skeleton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실제 pass 이름은 project별로 달라져도 구조는 유사합니다.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987552"/>
            <a:ext cx="10652760" cy="2834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ctr"/>
            <a:r>
              <a:rPr sz="1600">
                <a:solidFill>
                  <a:srgbClr val="1E1E1E"/>
                </a:solidFill>
                <a:latin typeface="DejaVu Sans Mono"/>
              </a:rPr>
              <a:t>Pass pipeline shape:
model import
  -&gt; legalize model ops to tensor/linalg
  -&gt; canonicalize + CSE
  -&gt; fuse elementwise producers/consumers
  -&gt; tile for SRAM and PE array
  -&gt; bufferize tensor to memref
  -&gt; lower to loops/vector
  -&gt; insert DMA + barrier
  -&gt; emit NPU runtime ABI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10149840" cy="11887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1강에서는 “이런 pipeline이 필요하다”를 이해합니다.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NPU-specific pass는 legal op set, SRAM model, DMA model, quantization model을 알아야 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Performance와 Correctness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좋은 compiler는 빠르기만 해서는 안 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0120"/>
            <a:ext cx="5303520" cy="45262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Correctness contract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Shape/type consistency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Broadcasting/quant semantics preservation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Numerical tolerance and golden output comparison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Deterministic runtime ABI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Unsupported op fallback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960120"/>
            <a:ext cx="5303520" cy="4526280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008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Performance contract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TOPS utilization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DRAM bandwidth reduction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SRAM bank conflict avoidance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DMA/compute overlap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Latency predictability for robotics/autonomous driving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Verification Strategy: IR 단계마다 체크하기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NPU compiler debug 비용을 낮추는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960120"/>
            <a:ext cx="2240280" cy="411480"/>
          </a:xfrm>
          <a:prstGeom prst="roundRect">
            <a:avLst/>
          </a:prstGeom>
          <a:solidFill>
            <a:srgbClr val="2C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960120"/>
            <a:ext cx="80467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shape/dtype/opset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46504"/>
            <a:ext cx="2240280" cy="411480"/>
          </a:xfrm>
          <a:prstGeom prst="roundRect">
            <a:avLst/>
          </a:prstGeom>
          <a:solidFill>
            <a:srgbClr val="00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After legalization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746504"/>
            <a:ext cx="80467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all ops legal or fallback-tagged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32888"/>
            <a:ext cx="2240280" cy="411480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After fusion/tile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532888"/>
            <a:ext cx="80467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same semantics + valid tile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19272"/>
            <a:ext cx="2240280" cy="411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After bufferization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3319272"/>
            <a:ext cx="80467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alias/lifetime/memory space valid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05656"/>
            <a:ext cx="2240280" cy="41148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After schedule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4105656"/>
            <a:ext cx="80467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DMA order/barrier/dependency valid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2240280" cy="411480"/>
          </a:xfrm>
          <a:prstGeom prst="roundRect">
            <a:avLst/>
          </a:prstGeom>
          <a:solidFill>
            <a:srgbClr val="5C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After codegen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892040"/>
            <a:ext cx="804672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>
                <a:solidFill>
                  <a:srgbClr val="1E2127"/>
                </a:solidFill>
                <a:latin typeface="Noto Sans CJK KR"/>
              </a:rPr>
              <a:t>runtime descriptor matches binary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Lab 1: NPU Compiler Lowering Pipeline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45-60분 실습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14400"/>
            <a:ext cx="5212080" cy="48006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실습 문제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입력: MatMul + Bias + ReLU, batch=1, M=128, K=256, N=512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가정: PE tile 64x64, K chunk 128, SRAM 2MB, INT8/FP16 지원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출력: compiler pipeline 단계와 각 단계 산출물 정의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옵션: DMA double-buffering 순서를 pseudo IR로 표현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14400"/>
            <a:ext cx="5212080" cy="4800600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008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제출 산출물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표 1: pipeline 단계 / 입력 IR / 출력 IR / 목적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표 2: NPU target constraint / compiler decision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그림 1: DRAM-SRAM-PE dataflow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짧은 설명: correctness check 3개 + performance metric 3개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초보자가 자주 하는 실수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NPU compiler 관점에서는 추상화 선택이 성능을 결정합니다.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960120"/>
            <a:ext cx="5166360" cy="4709160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IR/Pass 실수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Graph IR만 보고 backend가 알아서 한다고 생각함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너무 빨리 low-level loop로 내려서 fusion 정보를 잃음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Bufferization 전후 alias/lifetime 문제를 무시함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layout을 마지막 codegen 단계의 문제로 미룸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960120"/>
            <a:ext cx="5166360" cy="470916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NPU Mapping 실수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TOPS만 보고 DRAM bandwidth와 SRAM reuse를 보지 않음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DMA/compute overlap 없는 schedule 생성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quantized accumulator/requant 범위 미검증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127"/>
                </a:solidFill>
                <a:latin typeface="Noto Sans CJK KR"/>
              </a:rPr>
              <a:t>runtime ABI와 compiler IR의 연결 부족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1강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오늘 반드시 가져갈 세 문장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143000"/>
            <a:ext cx="10561320" cy="84124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C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1. MLIR는 high-level model semantics와 low-level NPU mapping을 연결하는 multi-level infrastructure입니다.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10561320" cy="841248"/>
          </a:xfrm>
          <a:prstGeom prst="roundRect">
            <a:avLst/>
          </a:prstGeom>
          <a:solidFill>
            <a:srgbClr val="E5F7F5"/>
          </a:solidFill>
          <a:ln w="12700">
            <a:solidFill>
              <a:srgbClr val="008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2. NPU 성능은 fusion, tiling, layout, memory space, DMA schedule을 lowering pipeline에서 어떻게 결정하느냐에 달려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10561320" cy="841248"/>
          </a:xfrm>
          <a:prstGeom prst="roundRect">
            <a:avLst/>
          </a:prstGeom>
          <a:solidFill>
            <a:srgbClr val="FFF2E5"/>
          </a:solidFill>
          <a:ln w="127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>
                <a:solidFill>
                  <a:srgbClr val="112240"/>
                </a:solidFill>
                <a:latin typeface="Noto Sans CJK KR"/>
              </a:rPr>
              <a:t>3. 좋은 NPU compiler는 pass마다 IR dump, verifier, legality, numerical correctness, performance metric을 남깁니다.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74920"/>
            <a:ext cx="10287000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>
                <a:solidFill>
                  <a:srgbClr val="1E2127"/>
                </a:solidFill>
                <a:latin typeface="Noto Sans CJK KR"/>
              </a:rPr>
              <a:t>다음 2강: Operation / Value / Type / Attribute를 직접 읽고 간단한 MLIR 텍스트를 해부합니다.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91440"/>
            <a:ext cx="9601200" cy="329184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0" y="137160"/>
            <a:ext cx="1554480" cy="25603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900" b="0">
                <a:solidFill>
                  <a:srgbClr val="FFFFFF"/>
                </a:solidFill>
                <a:latin typeface="Noto Sans CJK KR"/>
              </a:rPr>
              <a:t>Lecture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0080"/>
            <a:ext cx="11155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>
                <a:solidFill>
                  <a:srgbClr val="5C6370"/>
                </a:solidFill>
                <a:latin typeface="Noto Sans CJK KR"/>
              </a:rPr>
              <a:t>공식 문서 중심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6601968"/>
            <a:ext cx="914400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700" b="0">
                <a:solidFill>
                  <a:srgbClr val="5C6370"/>
                </a:solidFill>
                <a:latin typeface="Noto Sans CJK KR"/>
              </a:rPr>
              <a:t>MLIR for AI/NPU Compiler - Lecture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6601968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r"/>
            <a:r>
              <a:rPr sz="700" b="0">
                <a:solidFill>
                  <a:srgbClr val="5C6370"/>
                </a:solidFill>
                <a:latin typeface="Noto Sans CJK KR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914400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1. MLIR Language Reference - https://mlir.llvm.org/docs/LangRef/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2. MLIR Understanding the IR Structure - https://mlir.llvm.org/docs/Tutorials/UnderstandingTheIRStructure/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3. MLIR Using mlir-opt - https://mlir.llvm.org/docs/Tutorials/MlirOpt/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4. MLIR Dialects - https://mlir.llvm.org/docs/Dialects/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5. MLIR Bufferization - https://mlir.llvm.org/docs/Bufferization/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6. StableHLO Specification - https://openxla.org/stablehlo/spec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7. TOSA - https://www.mlplatform.org/tosa/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10789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0">
                <a:solidFill>
                  <a:srgbClr val="1E2127"/>
                </a:solidFill>
                <a:latin typeface="Noto Sans CJK KR"/>
              </a:rPr>
              <a:t>8. MLIR TOSA Dialect - https://mlir.llvm.org/docs/Dialects/TOSA/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