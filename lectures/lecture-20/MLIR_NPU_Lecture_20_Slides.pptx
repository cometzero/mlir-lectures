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Noto Sans CJK KR"/>
              </a:defRPr>
            </a:pPr>
            <a:r>
              <a:t>Lecture 20</a:t>
            </a:r>
          </a:p>
          <a:p>
            <a:pPr>
              <a:defRPr sz="3000" b="1">
                <a:solidFill>
                  <a:srgbClr val="FFFFFF"/>
                </a:solidFill>
                <a:latin typeface="Noto Sans CJK KR"/>
              </a:defRPr>
            </a:pPr>
            <a:r>
              <a:t>Capstone: Mini NPU Compiler Design Spec</a:t>
            </a:r>
          </a:p>
          <a:p>
            <a:pPr>
              <a:defRPr sz="1800">
                <a:solidFill>
                  <a:srgbClr val="DCEBFA"/>
                </a:solidFill>
                <a:latin typeface="Noto Sans CJK KR"/>
              </a:defRPr>
            </a:pPr>
            <a:r>
              <a:t>AI / NPU Compiler를 위한 MLIR 실전 통합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1-19강에서 배운 MLIR IR, dialect, pass, bufferization, vectorization, runtime ABI를 하나의 설계로 통합합니다.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최종 산출물은 실행 가능한 compiler가 아니라, 구현 가능한 Mini NPU Compiler Design Spec입니다.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평가 기준은 correctness, architecture fit, optimization, implementation plan, validation입니다.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20강 전체에서 배운 MLIR 개념을 하나의 NPU compiler architecture로 통합한다.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StableHLO/TOSA 입력에서 npu_runtime command buffer까지 이어지는 lowering boundary를 설계한다.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legal op set, dialect contract, transform schedule, bufferization/memory plan, runtime ABI를 문서화한다.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FileCheck, negative test, cost model, demo script까지 포함한 검증 가능한 compiler design spec을 작성한다.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Capstone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Transformer MLP 또는 MatMul+Bias+Activation을 target NPU에 맞게 lower합니다.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입력 IR, legal op set, pass pipeline, schedule, memory plan, custom dialect, runtime ABI를 명확히 정의합니다.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FileCheck와 negative verifier test, cost model로 설계가 검증 가능해야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Recommended Workload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Option A: MatMul + Bias + ReLU/GELU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Option B: Transformer MLP - two matmuls plus activation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Option C: SwiGLU MLP - gate/up projection, elementwise activation/mul, down projection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Scope를 작게 잡고 compiler contract를 깊게 작성하는 것이 목표입니다.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Capstone Pipeline</a:t>
            </a:r>
          </a:p>
        </p:txBody>
      </p:sp>
      <p:pic>
        <p:nvPicPr>
          <p:cNvPr id="3" name="Picture 2" descr="MLIR_NPU_Lecture_20_Capston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10789920" cy="5694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Mini NPU Compiler Stack</a:t>
            </a:r>
          </a:p>
        </p:txBody>
      </p:sp>
      <p:pic>
        <p:nvPicPr>
          <p:cNvPr id="3" name="Picture 2" descr="MLIR_NPU_Lecture_20_Compiler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10789920" cy="6473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Deliverables Map</a:t>
            </a:r>
          </a:p>
        </p:txBody>
      </p:sp>
      <p:pic>
        <p:nvPicPr>
          <p:cNvPr id="3" name="Picture 2" descr="MLIR_NPU_Lecture_20_Deliverable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10789920" cy="60693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Deliverables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70432"/>
          <a:ext cx="11201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200">
                          <a:latin typeface="Noto Sans CJK KR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Noto Sans CJK KR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latin typeface="Noto Sans CJK KR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Design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input/legal/pipeline/dialect/runtime/test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8-12p document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Pipeline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pass order, anchors, invariants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YAML or markdown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Pseudo MLIR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before/after + npu_kernel/npu_rt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MLIR snippets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Runtime ABI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descriptor + packet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manifest YAML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FileCheck + negative + cost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Noto Sans CJK KR"/>
                        </a:defRPr>
                      </a:pPr>
                      <a:r>
                        <a:t>test files + outputs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Target NPU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Native tile: 16x16x32 for INT8 GEMM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Memory spaces: DRAM, SRAM, ACCUM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Explicit async DMA and barrier token model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Runtime artifact: descriptor table + command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Input IR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Choose StableHLO, TOSA, or Linalg as semantic input.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Define shape, dtype, layout, quantization, and dynamic shape policy.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Unsupported cases must produce a clear diagnostic or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Legal Op Set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Legal op set is not only op names.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Dynamic legality depends on shape, dtype, layout, quant metadata, tile/tail policy.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Every unsupported op needs one of: decompose, approximate, materialize, fallback, reject.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Pass Pipeline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import-semantic-audit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canonicalize + cse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decompose-composites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legalize-to-npu-graph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fuse-epilogues + propagate-layout + quant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schedule + bufferize + memory-space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lower-to-npu-kernel + emit-runtime-abi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IR Boundary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StableHLO/TOSA: frontend semantic contract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npu_graph: graph fusion/layout/quant contract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Linalg/Tensor: structured transformation contract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MemRef/Vector/SCF: storage/schedule contract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npu_kernel/npu_rt: target/runtime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Schedule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Represent tile/fuse/vectorize decisions explicitly.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Use Transform Dialect, schedule YAML, or custom npu.schedule ops.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Schedule must include edge tiles, double buffering, layout packing, epilogue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SRAM Footprint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DB * (M*K*bytes(A) + K*N*bytes(B)) + M*N*bytes(ACC)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For 16x16x32 INT8/INT32 with double buffering: 3072 bytes per tile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Use footprint to reject or retile schedules.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Fusion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Fuse only when semantics, layout, dtype, quant, and use-count are legal.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MatMul+Bias+Activation is a strong candidate.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Layout conflict or quant mismatch should materialize or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Layout Propagation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Keep layout abstract at graph/tensor level as long as useful.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Materialize transpose/repack only when unavoidable.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Document which ops preserve, require, or change layout.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Quantization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Define accumulator width and saturation semantics.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Bias scale must match input_scale * weight_scale.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Requant must specify rounding, shift, zero-point, per-channel axis.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Bufferization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Bufferize after fusion and schedule decisions when possible.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Track alias, lifetime, copy count, and memory_space.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Unexpected memref.copy should be a regression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NPU Dialect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npu.matmul: compute tile contract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npu.dma: asynchronous data movement contract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npu.barrier: dependency and visibility contract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npu.requant/epilogue: numeric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Verifier Invariants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Tile shape must be supported or tail policy must exist.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Memory spaces must match op contract.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Barrier tokens must enforce DMA/compute ordering.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Unsupported dtype/layout must emit deterministic diagnostic.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Runtime ABI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Tensor descriptor table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Command buffer header and packet schema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Version/capability query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Artifact manifest and relocation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Command Buffer Packets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DMA_LOAD / DMA_STORE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MATMUL / EPILOGUE / REQUANT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BARRIER / FENCE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Descriptor references and dependency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FileCheck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Positive: fused matmul epilogue appears.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Negative: unsupported tile/dtype/layout emits error.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ABI: descriptor and packet fields are present.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No unexpected memref.copy after bufferization.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Cost Model Minimum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SRAM footprint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DRAM traffic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MAC count and approximate cycles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copy/repack cost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fallback penalty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Demo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Show input workload.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Show before/after IR at 3 boundaries.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Show final command buffer schema.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Show tests and cost model.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Explain tradeoffs and next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Common Mistake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Trying to support too many ops.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Better: one workload, clear legality, strong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Common Mistake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Lowering too early to memref/runtime.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Better: preserve tensor/linalg semantics until fusion/schedule decisions are made.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Common Mistake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No negative tests.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Better: invalid tile, unsupported layout, missing barrier, ABI version mismatch.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Evaluation Rubric</a:t>
            </a:r>
          </a:p>
        </p:txBody>
      </p:sp>
      <p:pic>
        <p:nvPicPr>
          <p:cNvPr id="3" name="Picture 2" descr="MLIR_NPU_Lecture_20_Evaluation_Ru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10789920" cy="606933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Verification Matrix</a:t>
            </a:r>
          </a:p>
        </p:txBody>
      </p:sp>
      <p:pic>
        <p:nvPicPr>
          <p:cNvPr id="3" name="Picture 2" descr="MLIR_NPU_Lecture_20_Verific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10789920" cy="60693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Exercise A - Workload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Choose one workload and define shapes, dtypes, layout, quantization.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Write target NPU assumptions.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Identify unsupported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Exercise B - Pipeline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Write pass order and anchors.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For each pass, define input IR, output IR, invariant,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Exercise C - NPU Dialect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Define npu.matmul, npu.dma, npu.barrier.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Separate operands, results, attributes, types, verifier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Exercise D - Runtime ABI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Define tensor descriptor fields.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Define command buffer header and packet types.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Add ABI version and capability 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Exercise E - Validation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Write one positive FileCheck test.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Write one negative verifier test.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Run cost model and include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Submission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Design spec: 8-12 pages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Pseudo MLIR and YAML specs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Tests and cost model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10-minute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MLIR is valuable because it lets you place each compiler decision at the right abstraction level.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NPU compiler design is a set of contracts: semantic, scheduling, memory, numeric, runtime.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The capstone output should be implementable, testable, and explainable.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58"/>
          </a:solidFill>
          <a:ln>
            <a:solidFill>
              <a:srgbClr val="12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Noto Sans CJK KR"/>
              </a:defRPr>
            </a:pPr>
            <a:r>
              <a:t>MLIR LangRef / Pass Management / Dialect Conversion / Transform / Linalg / Bufferization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StableHLO specification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MLIR TOSA dialect</a:t>
            </a:r>
          </a:p>
          <a:p>
            <a:pPr>
              <a:spcAft>
                <a:spcPts val="700"/>
              </a:spcAft>
              <a:defRPr sz="2000">
                <a:solidFill>
                  <a:srgbClr val="232D3C"/>
                </a:solidFill>
                <a:latin typeface="Noto Sans CJK KR"/>
              </a:defRPr>
            </a:pPr>
            <a:r>
              <a:t>MLIR Target LLVM IR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8282"/>
                </a:solidFill>
              </a:defRPr>
            </a:pPr>
            <a:r>
              <a:t>MLIR NPU Lecture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