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B"/>
          </a:solidFill>
          <a:ln>
            <a:solidFill>
              <a:srgbClr val="F6F8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E375C"/>
                </a:solidFill>
                <a:latin typeface="Noto Sans CJK KR"/>
              </a:rPr>
              <a:t>Lecture 15. Transform Dialect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06699"/>
                </a:solidFill>
                <a:latin typeface="Noto Sans CJK KR"/>
              </a:rPr>
              <a:t>tile / fuse / vectorize schedule IR for AI &amp; NPU Compiler</a:t>
            </a:r>
          </a:p>
        </p:txBody>
      </p:sp>
      <p:pic>
        <p:nvPicPr>
          <p:cNvPr id="5" name="Picture 4" descr="MLIR_NPU_Lecture_15_Transform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88920"/>
            <a:ext cx="7315200" cy="39923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오늘의 위치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14강: vector.contract -&gt; NPU matmul mapping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15강: schedule itself as MLIR IR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16강: quantization policy and requant lowering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Learning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 Dialect의 payload IR, transform IR, handle, parameter 개념을 설명한다.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Linalg MatMul/Conv에 대해 tile, fuse, vectorize schedule을 IR로 표현한다.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schedule IR을 NPU tile shape, SRAM footprint, accumulator type, DMA policy와 연결한다.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transform-interpreter 기반 실행 흐름과 regression test 전략을 설계한다.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왜 Transform Dialect인가?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 schedule은 op semantics와 HW constraints 사이의 contract입니다.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Pass pipeline만으로는 특정 op/loop에 다른 schedule을 주기 어렵습니다.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 IR은 tile/fuse/vectorize 의사결정을 재현 가능한 IR로 기록합니다.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Pass vs Pattern vs Transform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Pass: 넓은 범위에 반복 적용되는 compiler stage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Pattern: local DAG rewrite와 canonicalization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Transform: payload IR의 특정 op set을 handle로 잡아 순서 있는 변환을 지시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Payload IR vs Transform 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5_Payload_vs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17" y="1234440"/>
            <a:ext cx="86506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Handle / Value / Parameter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operation handle: payload op set을 가리킴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value handle: payload SSA value set을 가리킴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parameter: tile size, vector size 같은 attribute-time value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Execution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top-level transform op에서 시작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scope payload op에 적용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sequence body의 transform op를 순서대로 실행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mutation op는 보통 입력 handle을 consume하고 새 handle을 반환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Failure Modes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silenceable failure: precondition 실패, fallback 가능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definite failure: postcondition/semantic violation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NPU에서는 unsupported tile/layout/shape를 silenceable로 다루는 경우가 많음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Handle Invalidation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5_Handle_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077" y="1234440"/>
            <a:ext cx="930354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Named Sequence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transform.named_sequence는 reusable schedule macro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entry point는 보통 __transform_main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NPU에서는 matmul_schedule, conv_schedule, epilogue_schedule로 분리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Interpreter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-transform-interpreter가 named sequence를 실행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debug payload root tag로 적용 범위를 좁힘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CI에서는 transform IR + FileCheck로 schedule 회귀 테스트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NPU 관점의 Schedule IR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5_NPU_Schedule_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517" y="1234440"/>
            <a:ext cx="86506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Structured Ops와 Linalg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Linalg structured ops는 indexing_maps와 iterator_types가 명확함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tile/fuse/vectorize transform이 성숙한 영역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 compiler schedule 실습의 가장 좋은 시작점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Tile using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Item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Compiler meaning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NPU meaning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Linalg op implementing TilingInterface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MatMul/Conv op candidate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tile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static or dynamic 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native tile or SRAM tile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tiled op + generated loops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new handles for later schedule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partial tiles and invalid old handles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peel/mask/fallback policy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Tile using forall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parallel tile 분배에 적합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thread/block mapping이 있는 backend에 유용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edge NPU에서는 cluster/core partitioning 모델과 연결 가능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Fuse into containing op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25880"/>
          <a:ext cx="110642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Item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Compiler meaning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CJK KR"/>
                        </a:rPr>
                        <a:t>NPU meaning</a:t>
                      </a:r>
                    </a:p>
                  </a:txBody>
                  <a:tcPr>
                    <a:solidFill>
                      <a:srgbClr val="1E375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producer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op feeding consumer 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bias/requant/relu producer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container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loop/tile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tile-local accumulator scope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compute only needed slice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reduce DRAM traffic</a:t>
                      </a:r>
                    </a:p>
                  </a:txBody>
                  <a:tcPr/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higher local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12529"/>
                          </a:solidFill>
                          <a:latin typeface="Noto Sans CJK KR"/>
                        </a:rPr>
                        <a:t>SRAM/register pressure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Vectorize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이미 적절히 tiled된 Linalg op를 vector form으로 변환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vector size는 native tile shape와 일치시켜야 함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partial tile은 mask/fallback/peeling 정책 필요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Transform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Noto Sans CJK KR"/>
              </a:rPr>
              <a:t>Pseudo schedule - check exact syntax against your MLIR revision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507492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Transform IR schedule sketch.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Syntax is close to upstream MLIR but may need adjustment for a specific LLVM/MLIR revision.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Check upstream Transform Dialect docs and examples/transform tests for exact current spelling.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module attributes {transform.with_named_sequence} {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transform.named_sequence @__transform_main(%root: !transform.any_op)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  attributes {transform.readonly} {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1. Select the MatMul payload operation.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%matmul = transform.structured.match ops{["linalg.matmul"]} in %root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  : (!transform.any_op) -&gt; !transform.any_op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2. Tile M/N/K to the NPU native tile shape.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M=16, N=16, K=32 for INT8xINT8-&gt;INT32 accumulator.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%tiled_matmul, %loops:3 = transform.structured.tile_using_for %matmul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  tile_sizes [16, 16, 32]</a:t>
            </a:r>
          </a:p>
          <a:p>
            <a:pPr>
              <a:defRPr sz="800">
                <a:solidFill>
                  <a:srgbClr val="1E1E1E"/>
                </a:solidFill>
                <a:latin typeface="NanumGothicCoding"/>
              </a:defRPr>
            </a:pPr>
            <a:r>
              <a:t>      : (!transform.any_op) -&gt; (!transform.any_op, !transform.any_op, !transform.any_op, !transform.any_op)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3. Match epilogue op and fuse it into the containing loop/tile when legal.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%epilogue = transform.structured.match ops{["npu_graph.bias_relu"]} in %root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  : (!transform.any_op) -&gt; !transform.any_op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Pseudo: exact fusion target depends on the generated loop/tile handles.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%fused, %new_loop = transform.structured.fuse_into_containing_op %epilogue into %loops#0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  : (!transform.any_op, !transform.any_op) -&gt; (!transform.any_op, !transform.any_op)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4. Vectorize the tiled MatMul. It can later be tensorized to npu_kernel.matmul.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transform.structured.vectorize %tiled_matmul vector_sizes [16, 16, 32]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  : !transform.any_op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MatMul Schedule Case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M,N,K = 128,128,64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native tile = 16x16x32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INT8 input, INT32 accumulator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epilogue: bias + requant + relu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NPU Tile Shape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compute array utilization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SRAM A/B tile footprint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ACCUM buffer size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DMA burst alignment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edge tile handling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SRAM Footprint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A_tile = M_tile x K_tile x bytes(A)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B_tile = K_tile x N_tile x bytes(B)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C_acc = M_tile x N_tile x bytes(acc)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double buffering budget 포함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Epilogue Fusion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Bias/ReLU/Requant는 accumulator locality를 활용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LayerNorm처럼 reduction이 필요한 op는 별도 schedule 검토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fusion은 correctness + register/SRAM pressure 균형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Vectorization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vector.contract가 npu.matmul으로 tensorize 가능한 shape인지 확인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mask vectorization은 hardware support 여부 필요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fallback은 split/unroll 또는 CPU path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Bufferization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tile/fuse/vectorize는 가능하면 tensor land에서 수행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bufferization 후에는 memref layout/memory space 제약이 강해짐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 schedule은 bufferization 전에 대부분 결정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Schedule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Noto Sans CJK KR"/>
              </a:rPr>
              <a:t>Schedule-as-data makes NPU policies reviewable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507492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# NPU schedule spec generated from Transform Dialect design exercise.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schedule_name: matmul_bias_relu_int8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payload_match: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op: linalg.matmul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lhs_type: tensor&lt;MxKxi8&gt;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rhs_type: tensor&lt;KxNxi8&gt;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acc_type: tensor&lt;MxNxi32&gt;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policy: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outer_tile: {M: 64, N: 64, K: 64}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inner_tile: {M: 16, N: 16, K: 32}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vector_contract: {lhs: "16x32xi8", rhs: "32x16xi8", acc: "16x16xi32"}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epilogue_fusion: [bias, requant, relu]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memory: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A_tile_space: SRAM0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B_tile_space: SRAM1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C_acc_space: ACCUM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double_buffer: true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fallback: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unsupported_layout: repack_or_cpu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k_remainder: split_or_mask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dynamic_shape: runtime_tile_selection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checks: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max_sram_bytes_per_core: 262144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max_accumulator_bytes: 65536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require_dma_alignment_bytes: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Matching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operation name match: linalg.matmul, linalg.generic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attribute/type filtering: dtype, layout, quant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payload root scope를 좁혀 unintended rewrite 방지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PDL / foreach_match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PDL로 complex match를 표현 가능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foreach_match는 matcher/action pair를 순회 적용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NPU에서는 pattern별 schedule library 설계에 유용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Debugging Recipe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transform.print로 handle 확인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-transform-dialect-check-uses로 use-after-free 탐지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small payload IR부터 FileCheck 작성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negative test: unsupported shape/layout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Regression Test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LIR_NPU_Lecture_15_Testing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383" y="1234440"/>
            <a:ext cx="9678928" cy="498347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Failure and Fallback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shape가 native tile과 다르면 peel/mask/split 선택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layout mismatch는 transpose/repack 또는 fallback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schedule failure는 diagnostic이 설명 가능해야 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Custom NPU Transform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Noto Sans CJK KR"/>
              </a:rPr>
              <a:t>Out-of-tree extension sketch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5074920"/>
          </a:xfrm>
          <a:prstGeom prst="roundRect">
            <a:avLst/>
          </a:prstGeom>
          <a:solidFill>
            <a:srgbClr val="F5F7FA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6070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Pseudo C++ skeleton for an out-of-tree NPU Transform Dialect extension.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This is a teaching artifact, not a drop-in build file.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#include "mlir/Dialect/Transform/IR/TransformDialect.h"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#include "mlir/Dialect/Transform/Interfaces/TransformInterfaces.h"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namespace npu {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class NPUTransformDialectExtension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: public mlir::transform::TransformDialectExtension&lt;NPUTransformDialectExtension&gt; {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public: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NPUTransformDialectExtension() {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declareGeneratedDialect&lt;npu::NPUKernelDialect&gt;();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  // registerTransformOps&lt;ScheduleMatmulTileOp, PromoteToSramOp, TensorizeToNpuOp&gt;();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  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};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Design sketch: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npu.schedule.matmul_tile %target {m=16, n=16, k=32}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npu.schedule.promote_to_sram %tile {space="SRAM0", double_buffer=true}</a:t>
            </a:r>
          </a:p>
          <a:p>
            <a:pPr>
              <a:defRPr sz="1000">
                <a:solidFill>
                  <a:srgbClr val="1E1E1E"/>
                </a:solidFill>
                <a:latin typeface="NanumGothicCoding"/>
              </a:defRPr>
            </a:pPr>
            <a:r>
              <a:t>// npu.schedule.tensorize_to_npu %vector_contract {instruction="mma_i8_i32"}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실습 A - Handle Annotation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payload IR에서 linalg.matmul/add/relu를 찾기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각 transform handle이 어떤 payload op set을 가리키는지 표 작성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consume 이후 사용 금지 handle 표시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실습 B - Tile/Fuse/Vectorize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MatMul schedule transform IR 작성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tile size 16x16x32 적용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bias/relu fusion 위치 결정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vector size와 npu tile shape 매핑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실습 C - NPU Schedule Spec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schedule parameter table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SRAM footprint table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fallback policy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FileCheck regression plan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Common Mistakes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old handle을 계속 사용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tile size만 보고 memory footprint를 무시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vectorize를 너무 일찍 적용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schedule IR과 pass pipeline 책임 혼동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Homework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MatMul+Bias+ReLU schedule IR 완성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Conv2D NHWC/HWCF schedule variant 작성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unsupported K remainder case negative test 작성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Transform Dialect는 schedule을 IR로 만드는 도구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NPU compiler에서는 tile/fuse/vectorize policy를 재현 가능하게 관리</a:t>
            </a:r>
          </a:p>
          <a:p>
            <a:pPr>
              <a:spcAft>
                <a:spcPts val="1000"/>
              </a:spcAft>
              <a:defRPr sz="2000">
                <a:solidFill>
                  <a:srgbClr val="212529"/>
                </a:solidFill>
                <a:latin typeface="Noto Sans CJK KR"/>
              </a:defRPr>
            </a:pPr>
            <a:r>
              <a:t>handle lifetime과 failure mode를 테스트해야 함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375C"/>
                </a:solidFill>
                <a:latin typeface="Noto Sans CJK KR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042415"/>
            <a:ext cx="11338560" cy="18288"/>
          </a:xfrm>
          <a:prstGeom prst="rect">
            <a:avLst/>
          </a:prstGeom>
          <a:solidFill>
            <a:srgbClr val="006699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MLIR Transform Dialect: https://mlir.llvm.org/docs/Dialects/Transform/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MLIR Transform Dialect Tutorial: https://mlir.llvm.org/docs/Tutorials/transform/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Transform Tutorial Chapter 1: https://mlir.llvm.org/docs/Tutorials/transform/Ch1/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Transform Tutorial Chapter H - Halide Schedule: https://mlir.llvm.org/docs/Tutorials/transform/ChH/</a:t>
            </a:r>
          </a:p>
          <a:p>
            <a:pPr>
              <a:spcAft>
                <a:spcPts val="1000"/>
              </a:spcAft>
              <a:defRPr sz="1700">
                <a:solidFill>
                  <a:srgbClr val="212529"/>
                </a:solidFill>
                <a:latin typeface="Noto Sans CJK KR"/>
              </a:defRPr>
            </a:pPr>
            <a:r>
              <a:t>MLIR Linalg Dialect: https://mlir.llvm.org/docs/Dialects/Linalg/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