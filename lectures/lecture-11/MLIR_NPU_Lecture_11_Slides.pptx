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1C2B41"/>
                </a:solidFill>
                <a:latin typeface="Noto Sans CJK KR"/>
              </a:defRPr>
            </a:pPr>
            <a:r>
              <a:t>Lecture 11</a:t>
            </a:r>
            <a:br/>
            <a:r>
              <a:t>Dialect Conversion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2962FF"/>
                </a:solidFill>
                <a:latin typeface="Noto Sans CJK KR"/>
              </a:defRPr>
            </a:pPr>
            <a:r>
              <a:t>NPU legal op set과 unsupported op lowering</a:t>
            </a:r>
          </a:p>
        </p:txBody>
      </p:sp>
      <p:pic>
        <p:nvPicPr>
          <p:cNvPr id="5" name="Picture 4" descr="MLIR_NPU_Lecture_11_Conversion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657600"/>
            <a:ext cx="9966960" cy="52949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473"/>
                </a:solidFill>
                <a:latin typeface="Noto Sans CJK KR"/>
              </a:defRPr>
            </a:pPr>
            <a:r>
              <a:t>MLIR NPU Compiler - Lecture 11 |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B41"/>
                </a:solidFill>
                <a:latin typeface="Noto Sans CJK KR"/>
              </a:defRPr>
            </a:pPr>
            <a:r>
              <a:t>오늘의 위치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64592" tIns="164592" wrap="square"/>
          <a:lstStyle/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09 Pass Infrastructure: pass pipeline 설계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10 Rewrite Pattern: local fusion/cleanup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11 Dialect Conversion: legal/illegal boundary 정의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12 Bufferization: tensor -&gt; memref memory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473"/>
                </a:solidFill>
                <a:latin typeface="Noto Sans CJK KR"/>
              </a:defRPr>
            </a:pPr>
            <a:r>
              <a:t>MLIR NPU Compiler - Lecture 11 |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B41"/>
                </a:solidFill>
                <a:latin typeface="Noto Sans CJK KR"/>
              </a:defRPr>
            </a:pPr>
            <a:r>
              <a:t>Learning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64592" tIns="164592" wrap="square"/>
          <a:lstStyle/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ConversionTarget으로 NPU legal op set을 정의한다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dynamic legality로 shape/dtype/layout 제약을 encode한다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ConversionPattern으로 unsupported op를 낮춘다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TypeConverter와 region signature conversion의 역할을 설명한다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positive/negative regression test를 작성한다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473"/>
                </a:solidFill>
                <a:latin typeface="Noto Sans CJK KR"/>
              </a:defRPr>
            </a:pPr>
            <a:r>
              <a:t>MLIR NPU Compiler - Lecture 11 |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B41"/>
                </a:solidFill>
                <a:latin typeface="Noto Sans CJK KR"/>
              </a:defRPr>
            </a:pPr>
            <a:r>
              <a:t>왜 Dialect Conversion인가?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64592" tIns="164592" wrap="square"/>
          <a:lstStyle/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RewritePattern은 “바꿀 수 있으면 바꾸기”에 가깝다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Dialect Conversion은 “이 boundary 이후 무엇이 legal인가?”를 명시한다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NPU compiler에서는 target capability contract가 pass의 성공/실패 기준이 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473"/>
                </a:solidFill>
                <a:latin typeface="Noto Sans CJK KR"/>
              </a:defRPr>
            </a:pPr>
            <a:r>
              <a:t>MLIR NPU Compiler - Lecture 11 |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B41"/>
                </a:solidFill>
                <a:latin typeface="Noto Sans CJK KR"/>
              </a:defRPr>
            </a:pPr>
            <a:r>
              <a:t>Dialect Conversion 구성 요소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64592" tIns="164592" wrap="square"/>
          <a:lstStyle/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ConversionTarget: legal/illegal/dynamic legality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RewritePatternSet: illegal op를 legal op sequence로 변환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TypeConverter: type/block argument/materialization 처리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applyPartialConversion / applyFullConversion / applyAnalysisConversion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473"/>
                </a:solidFill>
                <a:latin typeface="Noto Sans CJK KR"/>
              </a:defRPr>
            </a:pPr>
            <a:r>
              <a:t>MLIR NPU Compiler - Lecture 11 |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B41"/>
                </a:solidFill>
                <a:latin typeface="Noto Sans CJK KR"/>
              </a:defRPr>
            </a:pPr>
            <a:r>
              <a:t>Conversion Flow</a:t>
            </a:r>
          </a:p>
        </p:txBody>
      </p:sp>
      <p:pic>
        <p:nvPicPr>
          <p:cNvPr id="4" name="Picture 3" descr="MLIR_NPU_Lecture_11_Conversion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10835640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51967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473"/>
                </a:solidFill>
                <a:latin typeface="Noto Sans CJK KR"/>
              </a:defRPr>
            </a:pPr>
            <a:r>
              <a:t>MLIR NPU Compiler - Lecture 11 |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B41"/>
                </a:solidFill>
                <a:latin typeface="Noto Sans CJK KR"/>
              </a:defRPr>
            </a:pPr>
            <a:r>
              <a:t>ConversionTarget = Target Contract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64592" tIns="164592" wrap="square"/>
          <a:lstStyle/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addLegalDialect: dialect 전체를 legal로 등록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addLegalOp: 특정 op만 legal로 등록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addIllegalOp / addIllegalDialect: 반드시 변환되어야 하는 op 지정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addDynamicallyLegalOp: op property 기반 legality 지정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473"/>
                </a:solidFill>
                <a:latin typeface="Noto Sans CJK KR"/>
              </a:defRPr>
            </a:pPr>
            <a:r>
              <a:t>MLIR NPU Compiler - Lecture 11 |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B41"/>
                </a:solidFill>
                <a:latin typeface="Noto Sans CJK KR"/>
              </a:defRPr>
            </a:pPr>
            <a:r>
              <a:t>Static vs Dynamic Legality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64592" tIns="164592" wrap="square"/>
          <a:lstStyle/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Static legality: op name/dialect만 보고 판단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Dynamic legality: shape, dtype, layout, quant attr, target feature를 검사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NPU에서는 대부분 dynamic legality가 필요하다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473"/>
                </a:solidFill>
                <a:latin typeface="Noto Sans CJK KR"/>
              </a:defRPr>
            </a:pPr>
            <a:r>
              <a:t>MLIR NPU Compiler - Lecture 11 |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B41"/>
                </a:solidFill>
                <a:latin typeface="Noto Sans CJK KR"/>
              </a:defRPr>
            </a:pPr>
            <a:r>
              <a:t>Recursive Legality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64592" tIns="164592" wrap="square"/>
          <a:lstStyle/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어떤 op의 region 내부를 “이미 legal한 island”로 취급할 수 있다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예: npu_kernel.launch 내부 command sequence를 region 단위로 보호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잘못 쓰면 내부 illegal op가 숨어서 final lowering을 깨뜨린다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473"/>
                </a:solidFill>
                <a:latin typeface="Noto Sans CJK KR"/>
              </a:defRPr>
            </a:pPr>
            <a:r>
              <a:t>MLIR NPU Compiler - Lecture 11 |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B41"/>
                </a:solidFill>
                <a:latin typeface="Noto Sans CJK KR"/>
              </a:defRPr>
            </a:pPr>
            <a:r>
              <a:t>Conversion Mode #1 - Partial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64592" tIns="164592" wrap="square"/>
          <a:lstStyle/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명시적으로 illegal인 op를 가능한 만큼 legalize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unknown/pre-existing legal op는 남을 수 있음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NPU progressive lowering에 적합: graph 일부만 target op로 변환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473"/>
                </a:solidFill>
                <a:latin typeface="Noto Sans CJK KR"/>
              </a:defRPr>
            </a:pPr>
            <a:r>
              <a:t>MLIR NPU Compiler - Lecture 11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B41"/>
                </a:solidFill>
                <a:latin typeface="Noto Sans CJK KR"/>
              </a:defRPr>
            </a:pPr>
            <a:r>
              <a:t>Conversion Mode #2 - Full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64592" tIns="164592" wrap="square"/>
          <a:lstStyle/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모든 op가 target에서 known legal이어야 성공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final boundary에 적합: runtime/ABI emission 전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unsupported op가 남으면 signalPassFailure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473"/>
                </a:solidFill>
                <a:latin typeface="Noto Sans CJK KR"/>
              </a:defRPr>
            </a:pPr>
            <a:r>
              <a:t>MLIR NPU Compiler - Lecture 11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B41"/>
                </a:solidFill>
                <a:latin typeface="Noto Sans CJK KR"/>
              </a:defRPr>
            </a:pPr>
            <a:r>
              <a:t>Conversion Mode #3 -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64592" tIns="164592" wrap="square"/>
          <a:lstStyle/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IR을 바꾸지 않고 legalizable 여부를 분석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NPU capability report와 fallback planning에 적합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“이 모델이 우리 NPU에서 돌 수 있는가?”를 빠르게 판단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473"/>
                </a:solidFill>
                <a:latin typeface="Noto Sans CJK KR"/>
              </a:defRPr>
            </a:pPr>
            <a:r>
              <a:t>MLIR NPU Compiler - Lecture 11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B41"/>
                </a:solidFill>
                <a:latin typeface="Noto Sans CJK KR"/>
              </a:defRPr>
            </a:pPr>
            <a:r>
              <a:t>Conversion Modes 비교</a:t>
            </a:r>
          </a:p>
        </p:txBody>
      </p:sp>
      <p:pic>
        <p:nvPicPr>
          <p:cNvPr id="4" name="Picture 3" descr="MLIR_NPU_Lecture_11_Conversion_M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10835640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51967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473"/>
                </a:solidFill>
                <a:latin typeface="Noto Sans CJK KR"/>
              </a:defRPr>
            </a:pPr>
            <a:r>
              <a:t>MLIR NPU Compiler - Lecture 11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B41"/>
                </a:solidFill>
                <a:latin typeface="Noto Sans CJK KR"/>
              </a:defRPr>
            </a:pPr>
            <a:r>
              <a:t>ConversionPattern vs RewritePattern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64592" tIns="164592" wrap="square"/>
          <a:lstStyle/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ConversionPattern은 remapped operand adaptor를 받는다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TypeConverter가 operand/result type을 바꾼 경우 adaptor를 사용해야 한다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illegal op를 legal op로 바꾸는 것이 목적이다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473"/>
                </a:solidFill>
                <a:latin typeface="Noto Sans CJK KR"/>
              </a:defRPr>
            </a:pPr>
            <a:r>
              <a:t>MLIR NPU Compiler - Lecture 11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B41"/>
                </a:solidFill>
                <a:latin typeface="Noto Sans CJK KR"/>
              </a:defRPr>
            </a:pPr>
            <a:r>
              <a:t>Adaptor를 써야 하는 이유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64592" tIns="164592" wrap="square"/>
          <a:lstStyle/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original operand: old type일 수 있음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adaptor operand: conversion framework가 remap한 legal type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NPU layout/type conversion 후 original operand를 쓰면 verifier failure가 발생할 수 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473"/>
                </a:solidFill>
                <a:latin typeface="Noto Sans CJK KR"/>
              </a:defRPr>
            </a:pPr>
            <a:r>
              <a:t>MLIR NPU Compiler - Lecture 11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B41"/>
                </a:solidFill>
                <a:latin typeface="Noto Sans CJK KR"/>
              </a:defRPr>
            </a:pPr>
            <a:r>
              <a:t>TypeConverter 핵심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64592" tIns="164592" wrap="square"/>
          <a:lstStyle/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Type mapping: tensor -&gt; memref/custom descriptor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Argument conversion: block argument와 function signature 수정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Materialization: legal/illegal boundary에 필요한 cast/bridge op 생성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NPU에서는 layout/memory-space/ABI contract와 연결된다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473"/>
                </a:solidFill>
                <a:latin typeface="Noto Sans CJK KR"/>
              </a:defRPr>
            </a:pPr>
            <a:r>
              <a:t>MLIR NPU Compiler - Lecture 11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B41"/>
                </a:solidFill>
                <a:latin typeface="Noto Sans CJK KR"/>
              </a:defRPr>
            </a:pPr>
            <a:r>
              <a:t>Type Conversion 예시</a:t>
            </a:r>
          </a:p>
        </p:txBody>
      </p:sp>
      <p:pic>
        <p:nvPicPr>
          <p:cNvPr id="4" name="Picture 3" descr="MLIR_NPU_Lecture_11_Type_Conver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10835640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51967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473"/>
                </a:solidFill>
                <a:latin typeface="Noto Sans CJK KR"/>
              </a:defRPr>
            </a:pPr>
            <a:r>
              <a:t>MLIR NPU Compiler - Lecture 11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B41"/>
                </a:solidFill>
                <a:latin typeface="Noto Sans CJK KR"/>
              </a:defRPr>
            </a:pPr>
            <a:r>
              <a:t>NPU Legal Op Set은 이름 목록이 아니다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64592" tIns="164592" wrap="square"/>
          <a:lstStyle/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op name + shape policy + dtype policy + layout policy + target feature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latency/energy/SRAM fit 조건도 compiler decision에 반영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legal op set은 compiler와 hardware microarchitecture의 contract이다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473"/>
                </a:solidFill>
                <a:latin typeface="Noto Sans CJK KR"/>
              </a:defRPr>
            </a:pPr>
            <a:r>
              <a:t>MLIR NPU Compiler - Lecture 11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B41"/>
                </a:solidFill>
                <a:latin typeface="Noto Sans CJK KR"/>
              </a:defRPr>
            </a:pPr>
            <a:r>
              <a:t>Legal Op Set Matrix</a:t>
            </a:r>
          </a:p>
        </p:txBody>
      </p:sp>
      <p:pic>
        <p:nvPicPr>
          <p:cNvPr id="4" name="Picture 3" descr="MLIR_NPU_Lecture_11_Legal_Op_Se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10835640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51967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473"/>
                </a:solidFill>
                <a:latin typeface="Noto Sans CJK KR"/>
              </a:defRPr>
            </a:pPr>
            <a:r>
              <a:t>MLIR NPU Compiler - Lecture 11 |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B41"/>
                </a:solidFill>
                <a:latin typeface="Noto Sans CJK KR"/>
              </a:defRPr>
            </a:pPr>
            <a:r>
              <a:t>MatMul Dynamic Legality 예시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64592" tIns="164592" wrap="square"/>
          <a:lstStyle/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M/N/K static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K multiple matches MMA tile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A/B layout is packed or packable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accumulator type is i32/f32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epilogue kind is supported: none/bias/relu/gelu_lut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473"/>
                </a:solidFill>
                <a:latin typeface="Noto Sans CJK KR"/>
              </a:defRPr>
            </a:pPr>
            <a:r>
              <a:t>MLIR NPU Compiler - Lecture 11 |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B41"/>
                </a:solidFill>
                <a:latin typeface="Noto Sans CJK KR"/>
              </a:defRPr>
            </a:pPr>
            <a:r>
              <a:t>Conv2D Dynamic Legality 예시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64592" tIns="164592" wrap="square"/>
          <a:lstStyle/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NHWC/HWCF or compiler-supported packed layout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kernel/stride/dilation bounds satisfied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group/depthwise support checked separately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SRAM footprint fits tile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473"/>
                </a:solidFill>
                <a:latin typeface="Noto Sans CJK KR"/>
              </a:defRPr>
            </a:pPr>
            <a:r>
              <a:t>MLIR NPU Compiler - Lecture 11 |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B41"/>
                </a:solidFill>
                <a:latin typeface="Noto Sans CJK KR"/>
              </a:defRPr>
            </a:pPr>
            <a:r>
              <a:t>Reduction Dynamic Legality 예시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64592" tIns="164592" wrap="square"/>
          <a:lstStyle/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axis must be static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rank and reduction length within hardware policy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accumulator precision defined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reduction axis should be contiguous or cheaply transposable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473"/>
                </a:solidFill>
                <a:latin typeface="Noto Sans CJK KR"/>
              </a:defRPr>
            </a:pPr>
            <a:r>
              <a:t>MLIR NPU Compiler - Lecture 11 |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B41"/>
                </a:solidFill>
                <a:latin typeface="Noto Sans CJK KR"/>
              </a:defRPr>
            </a:pPr>
            <a:r>
              <a:t>Unsupported Op Decision Tree</a:t>
            </a:r>
          </a:p>
        </p:txBody>
      </p:sp>
      <p:pic>
        <p:nvPicPr>
          <p:cNvPr id="4" name="Picture 3" descr="MLIR_NPU_Lecture_11_Unsupported_Op_Decision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10835640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51967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473"/>
                </a:solidFill>
                <a:latin typeface="Noto Sans CJK KR"/>
              </a:defRPr>
            </a:pPr>
            <a:r>
              <a:t>MLIR NPU Compiler - Lecture 11 |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B41"/>
                </a:solidFill>
                <a:latin typeface="Noto Sans CJK KR"/>
              </a:defRPr>
            </a:pPr>
            <a:r>
              <a:t>Case Study A - GELU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64592" tIns="164592" wrap="square"/>
          <a:lstStyle/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Exact erf/tanh may be unsupported on edge NPU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Lowering options: tanh polynomial, LUT, piecewise linear, CPU fallback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Compiler must record accuracy budget and calibration domain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473"/>
                </a:solidFill>
                <a:latin typeface="Noto Sans CJK KR"/>
              </a:defRPr>
            </a:pPr>
            <a:r>
              <a:t>MLIR NPU Compiler - Lecture 11 |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B41"/>
                </a:solidFill>
                <a:latin typeface="Noto Sans CJK KR"/>
              </a:defRPr>
            </a:pPr>
            <a:r>
              <a:t>Case Study B - LayerNorm rsqrt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64592" tIns="164592" wrap="square"/>
          <a:lstStyle/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rsqrt may be approximated by LUT + Newton iteration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epsilon placement affects numerical compatibility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fusion with preceding/following ops can reduce DRAM traffic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473"/>
                </a:solidFill>
                <a:latin typeface="Noto Sans CJK KR"/>
              </a:defRPr>
            </a:pPr>
            <a:r>
              <a:t>MLIR NPU Compiler - Lecture 11 |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B41"/>
                </a:solidFill>
                <a:latin typeface="Noto Sans CJK KR"/>
              </a:defRPr>
            </a:pPr>
            <a:r>
              <a:t>Case Study C - Gather/Scatter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64592" tIns="164592" wrap="square"/>
          <a:lstStyle/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Irregular memory access may break DMA coalescing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If indices are static: precompute or transform layout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If dynamic and uncoalesced: fallback may be better than NPU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473"/>
                </a:solidFill>
                <a:latin typeface="Noto Sans CJK KR"/>
              </a:defRPr>
            </a:pPr>
            <a:r>
              <a:t>MLIR NPU Compiler - Lecture 11 |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B41"/>
                </a:solidFill>
                <a:latin typeface="Noto Sans CJK KR"/>
              </a:defRPr>
            </a:pPr>
            <a:r>
              <a:t>Pass Skeleton 구조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64592" tIns="164592" wrap="square"/>
          <a:lstStyle/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Define ConversionTarget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Mark legal/illegal/dynamic legal ops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Populate conversion patterns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Apply partial/full conversion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signalPassFailure on illegal leftovers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473"/>
                </a:solidFill>
                <a:latin typeface="Noto Sans CJK KR"/>
              </a:defRPr>
            </a:pPr>
            <a:r>
              <a:t>MLIR NPU Compiler - Lecture 11 |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B41"/>
                </a:solidFill>
                <a:latin typeface="Noto Sans CJK KR"/>
              </a:defRPr>
            </a:pPr>
            <a:r>
              <a:t>C++ Pseudocode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64592" tIns="164592" wrap="square"/>
          <a:lstStyle/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ConversionTarget target(ctx);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target.addLegalDialect&lt;npu_graph::NPUGraphDialect&gt;();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target.addDynamicallyLegalOp&lt;npu_graph::MatMulOp&gt;(predicate);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patterns.add&lt;LowerUnsupportedGelu, LowerLayerNorm&gt;(typeConverter, ctx);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applyPartialConversion(module, target, patterns);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473"/>
                </a:solidFill>
                <a:latin typeface="Noto Sans CJK KR"/>
              </a:defRPr>
            </a:pPr>
            <a:r>
              <a:t>MLIR NPU Compiler - Lecture 11 |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B41"/>
                </a:solidFill>
                <a:latin typeface="Noto Sans CJK KR"/>
              </a:defRPr>
            </a:pPr>
            <a:r>
              <a:t>Negative Diagnostics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64592" tIns="164592" wrap="square"/>
          <a:lstStyle/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Unsupported dtype: emit clear message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Unsupported dynamic shape: tell which dimension is dynamic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Unsupported layout: suggest pack/transpose pass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Unsupported accuracy: require fallback or calibration flag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473"/>
                </a:solidFill>
                <a:latin typeface="Noto Sans CJK KR"/>
              </a:defRPr>
            </a:pPr>
            <a:r>
              <a:t>MLIR NPU Compiler - Lecture 11 |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B41"/>
                </a:solidFill>
                <a:latin typeface="Noto Sans CJK KR"/>
              </a:defRPr>
            </a:pPr>
            <a:r>
              <a:t>FileCheck 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64592" tIns="164592" wrap="square"/>
          <a:lstStyle/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CHECK-NOT: unsupported op should disappear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CHECK: target npu op appears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CHECK-SAME: important attrs preserved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negative test: -verify-diagnostics for unsupported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473"/>
                </a:solidFill>
                <a:latin typeface="Noto Sans CJK KR"/>
              </a:defRPr>
            </a:pPr>
            <a:r>
              <a:t>MLIR NPU Compiler - Lecture 11 |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B41"/>
                </a:solidFill>
                <a:latin typeface="Noto Sans CJK KR"/>
              </a:defRPr>
            </a:pPr>
            <a:r>
              <a:t>Integration in NPU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64592" tIns="164592" wrap="square"/>
          <a:lstStyle/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After canonicalize/decompose/fusion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Before bufferization when tensor-level semantics are still available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May run multiple times: graph legalization, kernel legalization, runtime legalization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473"/>
                </a:solidFill>
                <a:latin typeface="Noto Sans CJK KR"/>
              </a:defRPr>
            </a:pPr>
            <a:r>
              <a:t>MLIR NPU Compiler - Lecture 11 |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B41"/>
                </a:solidFill>
                <a:latin typeface="Noto Sans CJK KR"/>
              </a:defRPr>
            </a:pPr>
            <a:r>
              <a:t>Common Mistakes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64592" tIns="164592" wrap="square"/>
          <a:lstStyle/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Using RewritePattern where conversion legality is needed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Declaring entire dialect legal too early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Forgetting dynamic legality predicates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Using original operands instead of adaptor operands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No negative tests for unsupported model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473"/>
                </a:solidFill>
                <a:latin typeface="Noto Sans CJK KR"/>
              </a:defRPr>
            </a:pPr>
            <a:r>
              <a:t>MLIR NPU Compiler - Lecture 11 |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B41"/>
                </a:solidFill>
                <a:latin typeface="Noto Sans CJK KR"/>
              </a:defRPr>
            </a:pPr>
            <a:r>
              <a:t>Exercise 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64592" tIns="164592" wrap="square"/>
          <a:lstStyle/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Fill NPU legal op set table for matmul/conv/reduce/gather/gelu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Mark each as legal, dynamic legal, decompose, approximate, or fallback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473"/>
                </a:solidFill>
                <a:latin typeface="Noto Sans CJK KR"/>
              </a:defRPr>
            </a:pPr>
            <a:r>
              <a:t>MLIR NPU Compiler - Lecture 11 |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B41"/>
                </a:solidFill>
                <a:latin typeface="Noto Sans CJK KR"/>
              </a:defRPr>
            </a:pPr>
            <a:r>
              <a:t>Exercise 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64592" tIns="164592" wrap="square"/>
          <a:lstStyle/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Write ConversionTarget skeleton for npu_graph legalization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Add at least two dynamic legality predicates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Define unsupported op diagnostics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473"/>
                </a:solidFill>
                <a:latin typeface="Noto Sans CJK KR"/>
              </a:defRPr>
            </a:pPr>
            <a:r>
              <a:t>MLIR NPU Compiler - Lecture 11 |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B41"/>
                </a:solidFill>
                <a:latin typeface="Noto Sans CJK KR"/>
              </a:defRPr>
            </a:pPr>
            <a:r>
              <a:t>Exercise 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64592" tIns="164592" wrap="square"/>
          <a:lstStyle/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Lower MatMul + Bias + unsupported GELU to npu_graph.matmul_epilogue with gelu_lut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Write before/after MLIR and FileCheck expectations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473"/>
                </a:solidFill>
                <a:latin typeface="Noto Sans CJK KR"/>
              </a:defRPr>
            </a:pPr>
            <a:r>
              <a:t>MLIR NPU Compiler - Lecture 11 |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B41"/>
                </a:solidFill>
                <a:latin typeface="Noto Sans CJK KR"/>
              </a:defRPr>
            </a:pPr>
            <a:r>
              <a:t>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64592" tIns="164592" wrap="square"/>
          <a:lstStyle/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Dialect Conversion turns target capability into compiler-enforced legality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NPU legal op set must include shape/dtype/layout/quant/memory policy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Unsupported op handling is a product decision: exact, approximate, fallback, or reject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Good diagnostics and negative tests are mandatory for production NPU compilers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473"/>
                </a:solidFill>
                <a:latin typeface="Noto Sans CJK KR"/>
              </a:defRPr>
            </a:pPr>
            <a:r>
              <a:t>MLIR NPU Compiler - Lecture 11 |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B41"/>
                </a:solidFill>
                <a:latin typeface="Noto Sans CJK KR"/>
              </a:defRPr>
            </a:pPr>
            <a:r>
              <a:t>References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64592" tIns="164592" wrap="square"/>
          <a:lstStyle/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MLIR Dialect Conversion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MLIR Toy Tutorial Ch.5/Ch.6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MLIR Language Reference</a:t>
            </a:r>
          </a:p>
          <a:p>
            <a:pPr algn="l">
              <a:spcAft>
                <a:spcPts val="700"/>
              </a:spcAft>
              <a:defRPr sz="1900">
                <a:solidFill>
                  <a:srgbClr val="1C2B41"/>
                </a:solidFill>
                <a:latin typeface="Noto Sans CJK KR"/>
              </a:defRPr>
            </a:pPr>
            <a:r>
              <a:t>• MLIR Pattern Rewriter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473"/>
                </a:solidFill>
                <a:latin typeface="Noto Sans CJK KR"/>
              </a:defRPr>
            </a:pPr>
            <a:r>
              <a:t>MLIR NPU Compiler - Lecture 11 | 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