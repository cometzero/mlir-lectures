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F"/>
          </a:solidFill>
          <a:ln>
            <a:solidFill>
              <a:srgbClr val="F7F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85800"/>
            <a:ext cx="106984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42B58"/>
                </a:solidFill>
                <a:latin typeface="Noto Sans CJK KR"/>
              </a:rPr>
              <a:t>Lecture 02</a:t>
            </a:r>
          </a:p>
          <a:p>
            <a:r>
              <a:rPr sz="4000" b="1">
                <a:solidFill>
                  <a:srgbClr val="142B58"/>
                </a:solidFill>
                <a:latin typeface="Noto Sans CJK KR"/>
              </a:rPr>
              <a:t>MLIR IR Basic Structure</a:t>
            </a:r>
          </a:p>
          <a:p>
            <a:r>
              <a:rPr sz="1600">
                <a:solidFill>
                  <a:srgbClr val="505050"/>
                </a:solidFill>
                <a:latin typeface="Noto Sans CJK KR"/>
              </a:rPr>
              <a:t>Operation / Value / Type / Attribute를 NPU Compiler 관점에서 읽기</a:t>
            </a:r>
          </a:p>
        </p:txBody>
      </p:sp>
      <p:pic>
        <p:nvPicPr>
          <p:cNvPr id="4" name="Picture 3" descr="MLIR_NPU_Lecture_02_Operation_Anatom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148840"/>
            <a:ext cx="10424160" cy="5212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6492240"/>
            <a:ext cx="10972800" cy="22860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750">
                <a:solidFill>
                  <a:srgbClr val="787878"/>
                </a:solidFill>
                <a:latin typeface="Noto Sans CJK KR"/>
              </a:rPr>
              <a:t>MLIR NPU Compiler Course - Lecture 02 |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38560" cy="566928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2500" b="1">
                <a:solidFill>
                  <a:srgbClr val="142B58"/>
                </a:solidFill>
                <a:latin typeface="Noto Sans CJK KR"/>
              </a:rPr>
              <a:t>2강의 위치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804672"/>
            <a:ext cx="10972800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150">
                <a:solidFill>
                  <a:srgbClr val="606060"/>
                </a:solidFill>
                <a:latin typeface="Noto Sans CJK KR"/>
              </a:rPr>
              <a:t>1강의 큰 그림에서 실제 IR 읽기로 내려옵니다.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60704"/>
            <a:ext cx="11338560" cy="18288"/>
          </a:xfrm>
          <a:prstGeom prst="rect">
            <a:avLst/>
          </a:prstGeom>
          <a:solidFill>
            <a:srgbClr val="CFD8EB"/>
          </a:solidFill>
          <a:ln>
            <a:solidFill>
              <a:srgbClr val="CFD8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508760"/>
            <a:ext cx="1572768" cy="685800"/>
          </a:xfrm>
          <a:prstGeom prst="roundRect">
            <a:avLst/>
          </a:prstGeom>
          <a:solidFill>
            <a:srgbClr val="E8F1FF"/>
          </a:solidFill>
          <a:ln>
            <a:solidFill>
              <a:srgbClr val="2D44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200" b="1">
                <a:solidFill>
                  <a:srgbClr val="1F2937"/>
                </a:solidFill>
                <a:latin typeface="Noto Sans CJK KR"/>
              </a:rPr>
              <a:t>1강
전체 pipeline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423160" y="1508760"/>
            <a:ext cx="1572768" cy="685800"/>
          </a:xfrm>
          <a:prstGeom prst="roundRect">
            <a:avLst/>
          </a:prstGeom>
          <a:solidFill>
            <a:srgbClr val="EAF7EA"/>
          </a:solidFill>
          <a:ln>
            <a:solidFill>
              <a:srgbClr val="2D44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200" b="1">
                <a:solidFill>
                  <a:srgbClr val="1F2937"/>
                </a:solidFill>
                <a:latin typeface="Noto Sans CJK KR"/>
              </a:rPr>
              <a:t>2강
IR 구성요소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79" y="1508760"/>
            <a:ext cx="1572768" cy="685800"/>
          </a:xfrm>
          <a:prstGeom prst="roundRect">
            <a:avLst/>
          </a:prstGeom>
          <a:solidFill>
            <a:srgbClr val="E8F1FF"/>
          </a:solidFill>
          <a:ln>
            <a:solidFill>
              <a:srgbClr val="2D44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200" b="1">
                <a:solidFill>
                  <a:srgbClr val="1F2937"/>
                </a:solidFill>
                <a:latin typeface="Noto Sans CJK KR"/>
              </a:rPr>
              <a:t>3강
Region/Block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199" y="1508760"/>
            <a:ext cx="1572768" cy="685800"/>
          </a:xfrm>
          <a:prstGeom prst="roundRect">
            <a:avLst/>
          </a:prstGeom>
          <a:solidFill>
            <a:srgbClr val="E8F1FF"/>
          </a:solidFill>
          <a:ln>
            <a:solidFill>
              <a:srgbClr val="2D44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200" b="1">
                <a:solidFill>
                  <a:srgbClr val="1F2937"/>
                </a:solidFill>
                <a:latin typeface="Noto Sans CJK KR"/>
              </a:rPr>
              <a:t>7강+
Linalg/Tensor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19" y="1508760"/>
            <a:ext cx="1572768" cy="685800"/>
          </a:xfrm>
          <a:prstGeom prst="roundRect">
            <a:avLst/>
          </a:prstGeom>
          <a:solidFill>
            <a:srgbClr val="E8F1FF"/>
          </a:solidFill>
          <a:ln>
            <a:solidFill>
              <a:srgbClr val="2D44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200" b="1">
                <a:solidFill>
                  <a:srgbClr val="1F2937"/>
                </a:solidFill>
                <a:latin typeface="Noto Sans CJK KR"/>
              </a:rPr>
              <a:t>12강+
Buffer/MemRef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921240" y="1508760"/>
            <a:ext cx="1572768" cy="685800"/>
          </a:xfrm>
          <a:prstGeom prst="roundRect">
            <a:avLst/>
          </a:prstGeom>
          <a:solidFill>
            <a:srgbClr val="E8F1FF"/>
          </a:solidFill>
          <a:ln>
            <a:solidFill>
              <a:srgbClr val="2D44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200" b="1">
                <a:solidFill>
                  <a:srgbClr val="1F2937"/>
                </a:solidFill>
                <a:latin typeface="Noto Sans CJK KR"/>
              </a:rPr>
              <a:t>18강+
Custom NPU Dialect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880360"/>
            <a:ext cx="106984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9E1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09728" rIns="146304"/>
          <a:lstStyle/>
          <a:p>
            <a:pPr algn="ctr">
              <a:spcAft>
                <a:spcPts val="400"/>
              </a:spcAft>
              <a:defRPr sz="1800">
                <a:solidFill>
                  <a:srgbClr val="1F2937"/>
                </a:solidFill>
                <a:latin typeface="Noto Sans CJK KR"/>
              </a:defRPr>
            </a:pPr>
            <a:r>
              <a:t>• 오늘의 목표: MLIR 한 줄을 compiler data structure로 분해</a:t>
            </a:r>
          </a:p>
          <a:p>
            <a:pPr>
              <a:spcAft>
                <a:spcPts val="400"/>
              </a:spcAft>
              <a:defRPr sz="1800">
                <a:solidFill>
                  <a:srgbClr val="1F2937"/>
                </a:solidFill>
                <a:latin typeface="Noto Sans CJK KR"/>
              </a:defRPr>
            </a:pPr>
            <a:r>
              <a:t>• 핵심 산출물: Operation/Value/Type/Attribute annotation 표</a:t>
            </a:r>
          </a:p>
          <a:p>
            <a:pPr>
              <a:spcAft>
                <a:spcPts val="400"/>
              </a:spcAft>
              <a:defRPr sz="1800">
                <a:solidFill>
                  <a:srgbClr val="1F2937"/>
                </a:solidFill>
                <a:latin typeface="Noto Sans CJK KR"/>
              </a:defRPr>
            </a:pPr>
            <a:r>
              <a:t>• NPU 연결: fusion, tiling, bufferization, memory planning의 입력 정보 식별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492240"/>
            <a:ext cx="10972800" cy="22860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750">
                <a:solidFill>
                  <a:srgbClr val="787878"/>
                </a:solidFill>
                <a:latin typeface="Noto Sans CJK KR"/>
              </a:rPr>
              <a:t>MLIR NPU Compiler Course - Lecture 02 |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38560" cy="566928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2500" b="1">
                <a:solidFill>
                  <a:srgbClr val="142B58"/>
                </a:solidFill>
                <a:latin typeface="Noto Sans CJK KR"/>
              </a:rP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804672"/>
            <a:ext cx="10972800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150">
                <a:solidFill>
                  <a:srgbClr val="606060"/>
                </a:solidFill>
                <a:latin typeface="Noto Sans CJK KR"/>
              </a:rPr>
              <a:t>강의 종료 후 할 수 있어야 하는 것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60704"/>
            <a:ext cx="11338560" cy="18288"/>
          </a:xfrm>
          <a:prstGeom prst="rect">
            <a:avLst/>
          </a:prstGeom>
          <a:solidFill>
            <a:srgbClr val="CFD8EB"/>
          </a:solidFill>
          <a:ln>
            <a:solidFill>
              <a:srgbClr val="CFD8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10972800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D9E1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09728" rIns="146304"/>
          <a:lstStyle/>
          <a:p>
            <a:pPr algn="ctr">
              <a:spcAft>
                <a:spcPts val="400"/>
              </a:spcAft>
              <a:defRPr sz="1800">
                <a:solidFill>
                  <a:srgbClr val="1F2937"/>
                </a:solidFill>
                <a:latin typeface="Noto Sans CJK KR"/>
              </a:defRPr>
            </a:pPr>
            <a:r>
              <a:t>• MLIR operation의 results / operands / attributes / type signature / location을 구분한다.</a:t>
            </a:r>
          </a:p>
          <a:p>
            <a:pPr>
              <a:spcAft>
                <a:spcPts val="400"/>
              </a:spcAft>
              <a:defRPr sz="1800">
                <a:solidFill>
                  <a:srgbClr val="1F2937"/>
                </a:solidFill>
                <a:latin typeface="Noto Sans CJK KR"/>
              </a:defRPr>
            </a:pPr>
            <a:r>
              <a:t>• SSA value의 definition과 use를 추적한다.</a:t>
            </a:r>
          </a:p>
          <a:p>
            <a:pPr>
              <a:spcAft>
                <a:spcPts val="400"/>
              </a:spcAft>
              <a:defRPr sz="1800">
                <a:solidFill>
                  <a:srgbClr val="1F2937"/>
                </a:solidFill>
                <a:latin typeface="Noto Sans CJK KR"/>
              </a:defRPr>
            </a:pPr>
            <a:r>
              <a:t>• tensor, memref, vector, index, scalar type이 NPU pipeline에서 갖는 의미를 설명한다.</a:t>
            </a:r>
          </a:p>
          <a:p>
            <a:pPr>
              <a:spcAft>
                <a:spcPts val="400"/>
              </a:spcAft>
              <a:defRPr sz="1800">
                <a:solidFill>
                  <a:srgbClr val="1F2937"/>
                </a:solidFill>
                <a:latin typeface="Noto Sans CJK KR"/>
              </a:defRPr>
            </a:pPr>
            <a:r>
              <a:t>• attribute와 runtime operand를 구분한다.</a:t>
            </a:r>
          </a:p>
          <a:p>
            <a:pPr>
              <a:spcAft>
                <a:spcPts val="400"/>
              </a:spcAft>
              <a:defRPr sz="1800">
                <a:solidFill>
                  <a:srgbClr val="1F2937"/>
                </a:solidFill>
                <a:latin typeface="Noto Sans CJK KR"/>
              </a:defRPr>
            </a:pPr>
            <a:r>
              <a:t>• MatMul 예제 IR을 NPU lowering 관점에서 audit한다.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92240"/>
            <a:ext cx="10972800" cy="22860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750">
                <a:solidFill>
                  <a:srgbClr val="787878"/>
                </a:solidFill>
                <a:latin typeface="Noto Sans CJK KR"/>
              </a:rPr>
              <a:t>MLIR NPU Compiler Course - Lecture 02 |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38560" cy="566928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2500" b="1">
                <a:solidFill>
                  <a:srgbClr val="142B58"/>
                </a:solidFill>
                <a:latin typeface="Noto Sans CJK KR"/>
              </a:rPr>
              <a:t>MLIR IR의 최소 구성 단위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804672"/>
            <a:ext cx="10972800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150">
                <a:solidFill>
                  <a:srgbClr val="606060"/>
                </a:solidFill>
                <a:latin typeface="Noto Sans CJK KR"/>
              </a:rPr>
              <a:t>Operation 중심으로 value/type/attribute가 결합됩니다.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60704"/>
            <a:ext cx="11338560" cy="18288"/>
          </a:xfrm>
          <a:prstGeom prst="rect">
            <a:avLst/>
          </a:prstGeom>
          <a:solidFill>
            <a:srgbClr val="CFD8EB"/>
          </a:solidFill>
          <a:ln>
            <a:solidFill>
              <a:srgbClr val="CFD8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2057400" cy="1325880"/>
          </a:xfrm>
          <a:prstGeom prst="roundRect">
            <a:avLst/>
          </a:prstGeom>
          <a:solidFill>
            <a:srgbClr val="E8F1FF"/>
          </a:solidFill>
          <a:ln>
            <a:solidFill>
              <a:srgbClr val="2D44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100" b="1">
                <a:solidFill>
                  <a:srgbClr val="1F2937"/>
                </a:solidFill>
                <a:latin typeface="Noto Sans CJK KR"/>
              </a:rPr>
              <a:t>Operation
변환의 기본 단위
ex) linalg.matmul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80360" y="1417320"/>
            <a:ext cx="2057400" cy="1325880"/>
          </a:xfrm>
          <a:prstGeom prst="roundRect">
            <a:avLst/>
          </a:prstGeom>
          <a:solidFill>
            <a:srgbClr val="E8F1FF"/>
          </a:solidFill>
          <a:ln>
            <a:solidFill>
              <a:srgbClr val="2D44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100" b="1">
                <a:solidFill>
                  <a:srgbClr val="1F2937"/>
                </a:solidFill>
                <a:latin typeface="Noto Sans CJK KR"/>
              </a:rPr>
              <a:t>Value
SSA result 또는 block arg
ex) %out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20640" y="1417320"/>
            <a:ext cx="2057400" cy="1325880"/>
          </a:xfrm>
          <a:prstGeom prst="roundRect">
            <a:avLst/>
          </a:prstGeom>
          <a:solidFill>
            <a:srgbClr val="E8F1FF"/>
          </a:solidFill>
          <a:ln>
            <a:solidFill>
              <a:srgbClr val="2D44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100" b="1">
                <a:solidFill>
                  <a:srgbClr val="1F2937"/>
                </a:solidFill>
                <a:latin typeface="Noto Sans CJK KR"/>
              </a:rPr>
              <a:t>Type
shape/element/layout contract
ex) tensor&lt;...&gt;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60920" y="1417320"/>
            <a:ext cx="2057400" cy="1325880"/>
          </a:xfrm>
          <a:prstGeom prst="roundRect">
            <a:avLst/>
          </a:prstGeom>
          <a:solidFill>
            <a:srgbClr val="E8F1FF"/>
          </a:solidFill>
          <a:ln>
            <a:solidFill>
              <a:srgbClr val="2D44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100" b="1">
                <a:solidFill>
                  <a:srgbClr val="1F2937"/>
                </a:solidFill>
                <a:latin typeface="Noto Sans CJK KR"/>
              </a:rPr>
              <a:t>Attribute
compile-time metadata
ex) tile=[...]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0" y="1417320"/>
            <a:ext cx="2057400" cy="1325880"/>
          </a:xfrm>
          <a:prstGeom prst="roundRect">
            <a:avLst/>
          </a:prstGeom>
          <a:solidFill>
            <a:srgbClr val="E8F1FF"/>
          </a:solidFill>
          <a:ln>
            <a:solidFill>
              <a:srgbClr val="2D44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100" b="1">
                <a:solidFill>
                  <a:srgbClr val="1F2937"/>
                </a:solidFill>
                <a:latin typeface="Noto Sans CJK KR"/>
              </a:rPr>
              <a:t>Location
source provenance
ex) loc(...)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657600"/>
            <a:ext cx="10241280" cy="1645920"/>
          </a:xfrm>
          <a:prstGeom prst="roundRect">
            <a:avLst/>
          </a:prstGeom>
          <a:solidFill>
            <a:srgbClr val="F6F8FA"/>
          </a:solidFill>
          <a:ln>
            <a:solidFill>
              <a:srgbClr val="D9E1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09728" rIns="146304"/>
          <a:lstStyle/>
          <a:p>
            <a:pPr algn="ctr">
              <a:spcAft>
                <a:spcPts val="400"/>
              </a:spcAft>
              <a:defRPr sz="1700">
                <a:solidFill>
                  <a:srgbClr val="1F2937"/>
                </a:solidFill>
                <a:latin typeface="Noto Sans CJK KR"/>
              </a:defRPr>
            </a:pPr>
            <a:r>
              <a:t>• Operation이 IR graph의 node라면, Value는 edge/handle입니다.</a:t>
            </a:r>
          </a:p>
          <a:p>
            <a:pPr>
              <a:spcAft>
                <a:spcPts val="400"/>
              </a:spcAft>
              <a:defRPr sz="1700">
                <a:solidFill>
                  <a:srgbClr val="1F2937"/>
                </a:solidFill>
                <a:latin typeface="Noto Sans CJK KR"/>
              </a:defRPr>
            </a:pPr>
            <a:r>
              <a:t>• Type은 edge의 계약, Attribute는 node에 붙은 static metadata입니다.</a:t>
            </a:r>
          </a:p>
          <a:p>
            <a:pPr>
              <a:spcAft>
                <a:spcPts val="400"/>
              </a:spcAft>
              <a:defRPr sz="1700">
                <a:solidFill>
                  <a:srgbClr val="1F2937"/>
                </a:solidFill>
                <a:latin typeface="Noto Sans CJK KR"/>
              </a:defRPr>
            </a:pPr>
            <a:r>
              <a:t>• NPU compiler는 이 정보를 읽어 legality, schedule, memory plan을 결정합니다.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6492240"/>
            <a:ext cx="10972800" cy="22860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750">
                <a:solidFill>
                  <a:srgbClr val="787878"/>
                </a:solidFill>
                <a:latin typeface="Noto Sans CJK KR"/>
              </a:rPr>
              <a:t>MLIR NPU Compiler Course - Lecture 02 |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38560" cy="566928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2500" b="1">
                <a:solidFill>
                  <a:srgbClr val="142B58"/>
                </a:solidFill>
                <a:latin typeface="Noto Sans CJK KR"/>
              </a:rPr>
              <a:t>Operation Anatomy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804672"/>
            <a:ext cx="10972800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150">
                <a:solidFill>
                  <a:srgbClr val="606060"/>
                </a:solidFill>
                <a:latin typeface="Noto Sans CJK KR"/>
              </a:rPr>
              <a:t>한 줄의 IR에서 무엇을 분리해 읽을 것인가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60704"/>
            <a:ext cx="11338560" cy="18288"/>
          </a:xfrm>
          <a:prstGeom prst="rect">
            <a:avLst/>
          </a:prstGeom>
          <a:solidFill>
            <a:srgbClr val="CFD8EB"/>
          </a:solidFill>
          <a:ln>
            <a:solidFill>
              <a:srgbClr val="CFD8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LIR_NPU_Lecture_02_Operation_Anatom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34440"/>
            <a:ext cx="10881360" cy="54406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1480" y="6492240"/>
            <a:ext cx="10972800" cy="22860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750">
                <a:solidFill>
                  <a:srgbClr val="787878"/>
                </a:solidFill>
                <a:latin typeface="Noto Sans CJK KR"/>
              </a:rPr>
              <a:t>MLIR NPU Compiler Course - Lecture 02 |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38560" cy="566928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2500" b="1">
                <a:solidFill>
                  <a:srgbClr val="142B58"/>
                </a:solidFill>
                <a:latin typeface="Noto Sans CJK KR"/>
              </a:rPr>
              <a:t>Generic Operation Syntax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804672"/>
            <a:ext cx="10972800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150">
                <a:solidFill>
                  <a:srgbClr val="606060"/>
                </a:solidFill>
                <a:latin typeface="Noto Sans CJK KR"/>
              </a:rPr>
              <a:t>custom form이 헷갈릴 때 generic form으로 구조를 확인합니다.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60704"/>
            <a:ext cx="11338560" cy="18288"/>
          </a:xfrm>
          <a:prstGeom prst="rect">
            <a:avLst/>
          </a:prstGeom>
          <a:solidFill>
            <a:srgbClr val="CFD8EB"/>
          </a:solidFill>
          <a:ln>
            <a:solidFill>
              <a:srgbClr val="CFD8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10881360" cy="1828800"/>
          </a:xfrm>
          <a:prstGeom prst="roundRect">
            <a:avLst/>
          </a:prstGeom>
          <a:solidFill>
            <a:srgbClr val="F6F8FA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1444752"/>
            <a:ext cx="10588752" cy="1600200"/>
          </a:xfrm>
          <a:prstGeom prst="rect">
            <a:avLst/>
          </a:prstGeom>
          <a:noFill/>
        </p:spPr>
        <p:txBody>
          <a:bodyPr wrap="none" anchor="t" lIns="0" tIns="0" rIns="0" bIns="0">
            <a:spAutoFit/>
          </a:bodyPr>
          <a:lstStyle/>
          <a:p>
            <a:pPr>
              <a:spcAft>
                <a:spcPts val="0"/>
              </a:spcAft>
              <a:defRPr sz="1200">
                <a:solidFill>
                  <a:srgbClr val="111827"/>
                </a:solidFill>
                <a:latin typeface="DejaVu Sans Mono"/>
              </a:defRPr>
            </a:pPr>
            <a:r>
              <a:t>// Custom assembly form: concise and dialect-specific.</a:t>
            </a:r>
          </a:p>
          <a:p>
            <a:pPr>
              <a:spcAft>
                <a:spcPts val="0"/>
              </a:spcAft>
              <a:defRPr sz="1200">
                <a:solidFill>
                  <a:srgbClr val="111827"/>
                </a:solidFill>
                <a:latin typeface="DejaVu Sans Mono"/>
              </a:defRPr>
            </a:pPr>
            <a:r>
              <a:t>%0 = arith.addf %a, %b : f32</a:t>
            </a:r>
          </a:p>
          <a:p>
            <a:pPr>
              <a:spcAft>
                <a:spcPts val="0"/>
              </a:spcAft>
              <a:defRPr sz="1200">
                <a:solidFill>
                  <a:srgbClr val="111827"/>
                </a:solidFill>
                <a:latin typeface="DejaVu Sans Mono"/>
              </a:defRPr>
            </a:pPr>
          </a:p>
          <a:p>
            <a:pPr>
              <a:spcAft>
                <a:spcPts val="0"/>
              </a:spcAft>
              <a:defRPr sz="1200">
                <a:solidFill>
                  <a:srgbClr val="111827"/>
                </a:solidFill>
                <a:latin typeface="DejaVu Sans Mono"/>
              </a:defRPr>
            </a:pPr>
            <a:r>
              <a:t>// Generic assembly form: explicit operation name, operands, attributes, and function type.</a:t>
            </a:r>
          </a:p>
          <a:p>
            <a:pPr>
              <a:spcAft>
                <a:spcPts val="0"/>
              </a:spcAft>
              <a:defRPr sz="1200">
                <a:solidFill>
                  <a:srgbClr val="111827"/>
                </a:solidFill>
                <a:latin typeface="DejaVu Sans Mono"/>
              </a:defRPr>
            </a:pPr>
            <a:r>
              <a:t>%0 = "arith.addf"(%a, %b) : (f32, f32) -&gt; f32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3657600"/>
            <a:ext cx="1051560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9E1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09728" rIns="146304"/>
          <a:lstStyle/>
          <a:p>
            <a:pPr algn="ctr">
              <a:spcAft>
                <a:spcPts val="400"/>
              </a:spcAft>
              <a:defRPr sz="1600">
                <a:solidFill>
                  <a:srgbClr val="1F2937"/>
                </a:solidFill>
                <a:latin typeface="Noto Sans CJK KR"/>
              </a:defRPr>
            </a:pPr>
            <a:r>
              <a:t>• Generic form = "dialect.operation"(operands) {attributes} : input-types -&gt; result-types</a:t>
            </a:r>
          </a:p>
          <a:p>
            <a:pPr>
              <a:spcAft>
                <a:spcPts val="400"/>
              </a:spcAft>
              <a:defRPr sz="1600">
                <a:solidFill>
                  <a:srgbClr val="1F2937"/>
                </a:solidFill>
                <a:latin typeface="Noto Sans CJK KR"/>
              </a:defRPr>
            </a:pPr>
            <a:r>
              <a:t>• custom NPU dialect 초기 bring-up에서는 generic form이 debug에 유리합니다.</a:t>
            </a:r>
          </a:p>
          <a:p>
            <a:pPr>
              <a:spcAft>
                <a:spcPts val="400"/>
              </a:spcAft>
              <a:defRPr sz="1600">
                <a:solidFill>
                  <a:srgbClr val="1F2937"/>
                </a:solidFill>
                <a:latin typeface="Noto Sans CJK KR"/>
              </a:defRPr>
            </a:pPr>
            <a:r>
              <a:t>• 이후 자주 쓰는 op만 custom parser/printer로 가독성을 높이면 됩니다.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92240"/>
            <a:ext cx="10972800" cy="22860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750">
                <a:solidFill>
                  <a:srgbClr val="787878"/>
                </a:solidFill>
                <a:latin typeface="Noto Sans CJK KR"/>
              </a:rPr>
              <a:t>MLIR NPU Compiler Course - Lecture 02 |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38560" cy="566928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2500" b="1">
                <a:solidFill>
                  <a:srgbClr val="142B58"/>
                </a:solidFill>
                <a:latin typeface="Noto Sans CJK KR"/>
              </a:rPr>
              <a:t>Operation Field Checklist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804672"/>
            <a:ext cx="10972800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150">
                <a:solidFill>
                  <a:srgbClr val="606060"/>
                </a:solidFill>
                <a:latin typeface="Noto Sans CJK KR"/>
              </a:rPr>
              <a:t>NPU pass writer가 보는 필드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60704"/>
            <a:ext cx="11338560" cy="18288"/>
          </a:xfrm>
          <a:prstGeom prst="rect">
            <a:avLst/>
          </a:prstGeom>
          <a:solidFill>
            <a:srgbClr val="CFD8EB"/>
          </a:solidFill>
          <a:ln>
            <a:solidFill>
              <a:srgbClr val="CFD8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234440"/>
            <a:ext cx="2011680" cy="475488"/>
          </a:xfrm>
          <a:prstGeom prst="roundRect">
            <a:avLst/>
          </a:prstGeom>
          <a:solidFill>
            <a:srgbClr val="E8F1FF"/>
          </a:solidFill>
          <a:ln>
            <a:solidFill>
              <a:srgbClr val="2D44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200" b="1">
                <a:solidFill>
                  <a:srgbClr val="1F2937"/>
                </a:solidFill>
                <a:latin typeface="Noto Sans CJK KR"/>
              </a:rPr>
              <a:t>name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71800" y="1234440"/>
            <a:ext cx="329184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2D44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200" b="0">
                <a:solidFill>
                  <a:srgbClr val="1F2937"/>
                </a:solidFill>
                <a:latin typeface="Noto Sans CJK KR"/>
              </a:rPr>
              <a:t>dialect + op semantic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92240" y="1234440"/>
            <a:ext cx="4754880" cy="475488"/>
          </a:xfrm>
          <a:prstGeom prst="roundRect">
            <a:avLst/>
          </a:prstGeom>
          <a:solidFill>
            <a:srgbClr val="EAF7EA"/>
          </a:solidFill>
          <a:ln>
            <a:solidFill>
              <a:srgbClr val="2D44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200" b="0">
                <a:solidFill>
                  <a:srgbClr val="1F2937"/>
                </a:solidFill>
                <a:latin typeface="Noto Sans CJK KR"/>
              </a:rPr>
              <a:t>legalization target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947672"/>
            <a:ext cx="2011680" cy="475488"/>
          </a:xfrm>
          <a:prstGeom prst="roundRect">
            <a:avLst/>
          </a:prstGeom>
          <a:solidFill>
            <a:srgbClr val="E8F1FF"/>
          </a:solidFill>
          <a:ln>
            <a:solidFill>
              <a:srgbClr val="2D44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200" b="1">
                <a:solidFill>
                  <a:srgbClr val="1F2937"/>
                </a:solidFill>
                <a:latin typeface="Noto Sans CJK KR"/>
              </a:rPr>
              <a:t>operands/results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71800" y="1947672"/>
            <a:ext cx="329184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2D44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200" b="0">
                <a:solidFill>
                  <a:srgbClr val="1F2937"/>
                </a:solidFill>
                <a:latin typeface="Noto Sans CJK KR"/>
              </a:rPr>
              <a:t>SSA values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1947672"/>
            <a:ext cx="4754880" cy="475488"/>
          </a:xfrm>
          <a:prstGeom prst="roundRect">
            <a:avLst/>
          </a:prstGeom>
          <a:solidFill>
            <a:srgbClr val="EAF7EA"/>
          </a:solidFill>
          <a:ln>
            <a:solidFill>
              <a:srgbClr val="2D44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200" b="0">
                <a:solidFill>
                  <a:srgbClr val="1F2937"/>
                </a:solidFill>
                <a:latin typeface="Noto Sans CJK KR"/>
              </a:rPr>
              <a:t>def-use / dependency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660904"/>
            <a:ext cx="2011680" cy="475488"/>
          </a:xfrm>
          <a:prstGeom prst="roundRect">
            <a:avLst/>
          </a:prstGeom>
          <a:solidFill>
            <a:srgbClr val="E8F1FF"/>
          </a:solidFill>
          <a:ln>
            <a:solidFill>
              <a:srgbClr val="2D44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200" b="1">
                <a:solidFill>
                  <a:srgbClr val="1F2937"/>
                </a:solidFill>
                <a:latin typeface="Noto Sans CJK KR"/>
              </a:rPr>
              <a:t>attributes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71800" y="2660904"/>
            <a:ext cx="329184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2D44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200" b="0">
                <a:solidFill>
                  <a:srgbClr val="1F2937"/>
                </a:solidFill>
                <a:latin typeface="Noto Sans CJK KR"/>
              </a:rPr>
              <a:t>static metadata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92240" y="2660904"/>
            <a:ext cx="4754880" cy="475488"/>
          </a:xfrm>
          <a:prstGeom prst="roundRect">
            <a:avLst/>
          </a:prstGeom>
          <a:solidFill>
            <a:srgbClr val="EAF7EA"/>
          </a:solidFill>
          <a:ln>
            <a:solidFill>
              <a:srgbClr val="2D44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200" b="0">
                <a:solidFill>
                  <a:srgbClr val="1F2937"/>
                </a:solidFill>
                <a:latin typeface="Noto Sans CJK KR"/>
              </a:rPr>
              <a:t>schedule/layout/quant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374136"/>
            <a:ext cx="2011680" cy="475488"/>
          </a:xfrm>
          <a:prstGeom prst="roundRect">
            <a:avLst/>
          </a:prstGeom>
          <a:solidFill>
            <a:srgbClr val="E8F1FF"/>
          </a:solidFill>
          <a:ln>
            <a:solidFill>
              <a:srgbClr val="2D44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200" b="1">
                <a:solidFill>
                  <a:srgbClr val="1F2937"/>
                </a:solidFill>
                <a:latin typeface="Noto Sans CJK KR"/>
              </a:rPr>
              <a:t>regions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971800" y="3374136"/>
            <a:ext cx="329184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2D44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200" b="0">
                <a:solidFill>
                  <a:srgbClr val="1F2937"/>
                </a:solidFill>
                <a:latin typeface="Noto Sans CJK KR"/>
              </a:rPr>
              <a:t>nested IR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92240" y="3374136"/>
            <a:ext cx="4754880" cy="475488"/>
          </a:xfrm>
          <a:prstGeom prst="roundRect">
            <a:avLst/>
          </a:prstGeom>
          <a:solidFill>
            <a:srgbClr val="EAF7EA"/>
          </a:solidFill>
          <a:ln>
            <a:solidFill>
              <a:srgbClr val="2D44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200" b="0">
                <a:solidFill>
                  <a:srgbClr val="1F2937"/>
                </a:solidFill>
                <a:latin typeface="Noto Sans CJK KR"/>
              </a:rPr>
              <a:t>loop/body/kernel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087368"/>
            <a:ext cx="2011680" cy="475488"/>
          </a:xfrm>
          <a:prstGeom prst="roundRect">
            <a:avLst/>
          </a:prstGeom>
          <a:solidFill>
            <a:srgbClr val="E8F1FF"/>
          </a:solidFill>
          <a:ln>
            <a:solidFill>
              <a:srgbClr val="2D44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200" b="1">
                <a:solidFill>
                  <a:srgbClr val="1F2937"/>
                </a:solidFill>
                <a:latin typeface="Noto Sans CJK KR"/>
              </a:rPr>
              <a:t>location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971800" y="4087368"/>
            <a:ext cx="329184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2D44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200" b="0">
                <a:solidFill>
                  <a:srgbClr val="1F2937"/>
                </a:solidFill>
                <a:latin typeface="Noto Sans CJK KR"/>
              </a:rPr>
              <a:t>source mapping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92240" y="4087368"/>
            <a:ext cx="4754880" cy="475488"/>
          </a:xfrm>
          <a:prstGeom prst="roundRect">
            <a:avLst/>
          </a:prstGeom>
          <a:solidFill>
            <a:srgbClr val="EAF7EA"/>
          </a:solidFill>
          <a:ln>
            <a:solidFill>
              <a:srgbClr val="2D44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200" b="0">
                <a:solidFill>
                  <a:srgbClr val="1F2937"/>
                </a:solidFill>
                <a:latin typeface="Noto Sans CJK KR"/>
              </a:rPr>
              <a:t>debug/profiling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6492240"/>
            <a:ext cx="10972800" cy="22860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750">
                <a:solidFill>
                  <a:srgbClr val="787878"/>
                </a:solidFill>
                <a:latin typeface="Noto Sans CJK KR"/>
              </a:rPr>
              <a:t>MLIR NPU Compiler Course - Lecture 02 |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38560" cy="566928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2500" b="1">
                <a:solidFill>
                  <a:srgbClr val="142B58"/>
                </a:solidFill>
                <a:latin typeface="Noto Sans CJK KR"/>
              </a:rPr>
              <a:t>SSA Value 읽기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804672"/>
            <a:ext cx="10972800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150">
                <a:solidFill>
                  <a:srgbClr val="606060"/>
                </a:solidFill>
                <a:latin typeface="Noto Sans CJK KR"/>
              </a:rPr>
              <a:t>value는 이름이 아니라 use-def edge입니다.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60704"/>
            <a:ext cx="11338560" cy="18288"/>
          </a:xfrm>
          <a:prstGeom prst="rect">
            <a:avLst/>
          </a:prstGeom>
          <a:solidFill>
            <a:srgbClr val="CFD8EB"/>
          </a:solidFill>
          <a:ln>
            <a:solidFill>
              <a:srgbClr val="CFD8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234440"/>
            <a:ext cx="10972800" cy="2194560"/>
          </a:xfrm>
          <a:prstGeom prst="roundRect">
            <a:avLst/>
          </a:prstGeom>
          <a:solidFill>
            <a:srgbClr val="F6F8FA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2104" y="1353312"/>
            <a:ext cx="10680192" cy="1965960"/>
          </a:xfrm>
          <a:prstGeom prst="rect">
            <a:avLst/>
          </a:prstGeom>
          <a:noFill/>
        </p:spPr>
        <p:txBody>
          <a:bodyPr wrap="none" anchor="t" lIns="0" tIns="0" rIns="0" bIns="0">
            <a:spAutoFit/>
          </a:bodyPr>
          <a:lstStyle/>
          <a:p>
            <a:pPr>
              <a:spcAft>
                <a:spcPts val="0"/>
              </a:spcAft>
              <a:defRPr sz="1050">
                <a:solidFill>
                  <a:srgbClr val="111827"/>
                </a:solidFill>
                <a:latin typeface="DejaVu Sans Mono"/>
              </a:defRPr>
            </a:pPr>
            <a:r>
              <a:t>%zero = arith.constant 0.0 : f32          // op result value</a:t>
            </a:r>
          </a:p>
          <a:p>
            <a:pPr>
              <a:spcAft>
                <a:spcPts val="0"/>
              </a:spcAft>
              <a:defRPr sz="1050">
                <a:solidFill>
                  <a:srgbClr val="111827"/>
                </a:solidFill>
                <a:latin typeface="DejaVu Sans Mono"/>
              </a:defRPr>
            </a:pPr>
            <a:r>
              <a:t>%init = tensor.empty() : tensor&lt;4x16xf32&gt; // op result value</a:t>
            </a:r>
          </a:p>
          <a:p>
            <a:pPr>
              <a:spcAft>
                <a:spcPts val="0"/>
              </a:spcAft>
              <a:defRPr sz="1050">
                <a:solidFill>
                  <a:srgbClr val="111827"/>
                </a:solidFill>
                <a:latin typeface="DejaVu Sans Mono"/>
              </a:defRPr>
            </a:pPr>
            <a:r>
              <a:t>%filled = linalg.fill ins(%zero : f32)    // %zero is used here</a:t>
            </a:r>
          </a:p>
          <a:p>
            <a:pPr>
              <a:spcAft>
                <a:spcPts val="0"/>
              </a:spcAft>
              <a:defRPr sz="1050">
                <a:solidFill>
                  <a:srgbClr val="111827"/>
                </a:solidFill>
                <a:latin typeface="DejaVu Sans Mono"/>
              </a:defRPr>
            </a:pPr>
            <a:r>
              <a:t>          outs(%init : tensor&lt;4x16xf32&gt;) -&gt; tensor&lt;4x16xf32&gt;</a:t>
            </a:r>
          </a:p>
          <a:p>
            <a:pPr>
              <a:spcAft>
                <a:spcPts val="0"/>
              </a:spcAft>
              <a:defRPr sz="1050">
                <a:solidFill>
                  <a:srgbClr val="111827"/>
                </a:solidFill>
                <a:latin typeface="DejaVu Sans Mono"/>
              </a:defRPr>
            </a:pPr>
            <a:r>
              <a:t>%out = linalg.matmul ins(%lhs, %rhs : tensor&lt;4x8xf32&gt;, tensor&lt;8x16xf32&gt;)</a:t>
            </a:r>
          </a:p>
          <a:p>
            <a:pPr>
              <a:spcAft>
                <a:spcPts val="0"/>
              </a:spcAft>
              <a:defRPr sz="1050">
                <a:solidFill>
                  <a:srgbClr val="111827"/>
                </a:solidFill>
                <a:latin typeface="DejaVu Sans Mono"/>
              </a:defRPr>
            </a:pPr>
            <a:r>
              <a:t>       outs(%filled : tensor&lt;4x16xf32&gt;) -&gt; tensor&lt;4x16xf32&gt;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3977639"/>
            <a:ext cx="105156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9E1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09728" rIns="146304"/>
          <a:lstStyle/>
          <a:p>
            <a:pPr algn="ctr">
              <a:spcAft>
                <a:spcPts val="400"/>
              </a:spcAft>
              <a:defRPr sz="1500">
                <a:solidFill>
                  <a:srgbClr val="1F2937"/>
                </a:solidFill>
                <a:latin typeface="Noto Sans CJK KR"/>
              </a:defRPr>
            </a:pPr>
            <a:r>
              <a:t>• %zero: arith.constant 결과, linalg.fill에서 사용</a:t>
            </a:r>
          </a:p>
          <a:p>
            <a:pPr>
              <a:spcAft>
                <a:spcPts val="400"/>
              </a:spcAft>
              <a:defRPr sz="1500">
                <a:solidFill>
                  <a:srgbClr val="1F2937"/>
                </a:solidFill>
                <a:latin typeface="Noto Sans CJK KR"/>
              </a:defRPr>
            </a:pPr>
            <a:r>
              <a:t>• %init: tensor.empty 결과, allocation 후보</a:t>
            </a:r>
          </a:p>
          <a:p>
            <a:pPr>
              <a:spcAft>
                <a:spcPts val="400"/>
              </a:spcAft>
              <a:defRPr sz="1500">
                <a:solidFill>
                  <a:srgbClr val="1F2937"/>
                </a:solidFill>
                <a:latin typeface="Noto Sans CJK KR"/>
              </a:defRPr>
            </a:pPr>
            <a:r>
              <a:t>• %filled: fill 결과, matmul destination으로 사용</a:t>
            </a:r>
          </a:p>
          <a:p>
            <a:pPr>
              <a:spcAft>
                <a:spcPts val="400"/>
              </a:spcAft>
              <a:defRPr sz="1500">
                <a:solidFill>
                  <a:srgbClr val="1F2937"/>
                </a:solidFill>
                <a:latin typeface="Noto Sans CJK KR"/>
              </a:defRPr>
            </a:pPr>
            <a:r>
              <a:t>• %out: matmul 결과, function return으로 전달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92240"/>
            <a:ext cx="10972800" cy="22860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750">
                <a:solidFill>
                  <a:srgbClr val="787878"/>
                </a:solidFill>
                <a:latin typeface="Noto Sans CJK KR"/>
              </a:rPr>
              <a:t>MLIR NPU Compiler Course - Lecture 02 |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38560" cy="566928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2500" b="1">
                <a:solidFill>
                  <a:srgbClr val="142B58"/>
                </a:solidFill>
                <a:latin typeface="Noto Sans CJK KR"/>
              </a:rPr>
              <a:t>Type은 계약이다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804672"/>
            <a:ext cx="10972800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150">
                <a:solidFill>
                  <a:srgbClr val="606060"/>
                </a:solidFill>
                <a:latin typeface="Noto Sans CJK KR"/>
              </a:rPr>
              <a:t>shape, element, memory, vector/token 의미를 다음 pass에 전달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60704"/>
            <a:ext cx="11338560" cy="18288"/>
          </a:xfrm>
          <a:prstGeom prst="rect">
            <a:avLst/>
          </a:prstGeom>
          <a:solidFill>
            <a:srgbClr val="CFD8EB"/>
          </a:solidFill>
          <a:ln>
            <a:solidFill>
              <a:srgbClr val="CFD8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371600"/>
            <a:ext cx="2606040" cy="1143000"/>
          </a:xfrm>
          <a:prstGeom prst="roundRect">
            <a:avLst/>
          </a:prstGeom>
          <a:solidFill>
            <a:srgbClr val="E8F1FF"/>
          </a:solidFill>
          <a:ln>
            <a:solidFill>
              <a:srgbClr val="2D44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050" b="1">
                <a:solidFill>
                  <a:srgbClr val="1F2937"/>
                </a:solidFill>
                <a:latin typeface="Noto Sans CJK KR"/>
              </a:rPr>
              <a:t>tensor&lt;1x128x768xf16&gt;
ranked tensor
model/tensor IR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66160" y="1371600"/>
            <a:ext cx="2606040" cy="1143000"/>
          </a:xfrm>
          <a:prstGeom prst="roundRect">
            <a:avLst/>
          </a:prstGeom>
          <a:solidFill>
            <a:srgbClr val="E8F1FF"/>
          </a:solidFill>
          <a:ln>
            <a:solidFill>
              <a:srgbClr val="2D44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050" b="1">
                <a:solidFill>
                  <a:srgbClr val="1F2937"/>
                </a:solidFill>
                <a:latin typeface="Noto Sans CJK KR"/>
              </a:rPr>
              <a:t>memref&lt;128x768xf16, #layout, 1&gt;
buffer + layout
memory space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55079" y="1371600"/>
            <a:ext cx="2606040" cy="1143000"/>
          </a:xfrm>
          <a:prstGeom prst="roundRect">
            <a:avLst/>
          </a:prstGeom>
          <a:solidFill>
            <a:srgbClr val="E8F1FF"/>
          </a:solidFill>
          <a:ln>
            <a:solidFill>
              <a:srgbClr val="2D44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050" b="1">
                <a:solidFill>
                  <a:srgbClr val="1F2937"/>
                </a:solidFill>
                <a:latin typeface="Noto Sans CJK KR"/>
              </a:rPr>
              <a:t>vector&lt;16x16xf16&gt;
register/tile vector
tensorization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3999" y="1371600"/>
            <a:ext cx="2606040" cy="1143000"/>
          </a:xfrm>
          <a:prstGeom prst="roundRect">
            <a:avLst/>
          </a:prstGeom>
          <a:solidFill>
            <a:srgbClr val="E8F1FF"/>
          </a:solidFill>
          <a:ln>
            <a:solidFill>
              <a:srgbClr val="2D44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050" b="1">
                <a:solidFill>
                  <a:srgbClr val="1F2937"/>
                </a:solidFill>
                <a:latin typeface="Noto Sans CJK KR"/>
              </a:rPr>
              <a:t>!npu.token
custom dependency
DMA/compute ordering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3383280"/>
            <a:ext cx="106070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9E1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09728" rIns="146304"/>
          <a:lstStyle/>
          <a:p>
            <a:pPr algn="ctr">
              <a:spcAft>
                <a:spcPts val="400"/>
              </a:spcAft>
              <a:defRPr sz="1600">
                <a:solidFill>
                  <a:srgbClr val="1F2937"/>
                </a:solidFill>
                <a:latin typeface="Noto Sans CJK KR"/>
              </a:defRPr>
            </a:pPr>
            <a:r>
              <a:t>• Type mismatch는 lowering 오류의 가장 빠른 signal입니다.</a:t>
            </a:r>
          </a:p>
          <a:p>
            <a:pPr>
              <a:spcAft>
                <a:spcPts val="400"/>
              </a:spcAft>
              <a:defRPr sz="1600">
                <a:solidFill>
                  <a:srgbClr val="1F2937"/>
                </a:solidFill>
                <a:latin typeface="Noto Sans CJK KR"/>
              </a:defRPr>
            </a:pPr>
            <a:r>
              <a:t>• NPU에서는 accumulator width, memory space, vector tile shape를 type 또는 descriptor로 명확히 표현해야 합니다.</a:t>
            </a:r>
          </a:p>
          <a:p>
            <a:pPr>
              <a:spcAft>
                <a:spcPts val="400"/>
              </a:spcAft>
              <a:defRPr sz="1600">
                <a:solidFill>
                  <a:srgbClr val="1F2937"/>
                </a:solidFill>
                <a:latin typeface="Noto Sans CJK KR"/>
              </a:defRPr>
            </a:pPr>
            <a:r>
              <a:t>• Dynamic shape는 type만으로 충분하지 않을 수 있어 runtime descriptor/shape value가 필요합니다.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6492240"/>
            <a:ext cx="10972800" cy="22860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750">
                <a:solidFill>
                  <a:srgbClr val="787878"/>
                </a:solidFill>
                <a:latin typeface="Noto Sans CJK KR"/>
              </a:rPr>
              <a:t>MLIR NPU Compiler Course - Lecture 02 |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38560" cy="566928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2500" b="1">
                <a:solidFill>
                  <a:srgbClr val="142B58"/>
                </a:solidFill>
                <a:latin typeface="Noto Sans CJK KR"/>
              </a:rPr>
              <a:t>Attribute는 compile-time metadata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804672"/>
            <a:ext cx="10972800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150">
                <a:solidFill>
                  <a:srgbClr val="606060"/>
                </a:solidFill>
                <a:latin typeface="Noto Sans CJK KR"/>
              </a:rPr>
              <a:t>static decision과 runtime value를 구분합니다.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60704"/>
            <a:ext cx="11338560" cy="18288"/>
          </a:xfrm>
          <a:prstGeom prst="rect">
            <a:avLst/>
          </a:prstGeom>
          <a:solidFill>
            <a:srgbClr val="CFD8EB"/>
          </a:solidFill>
          <a:ln>
            <a:solidFill>
              <a:srgbClr val="CFD8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234440"/>
            <a:ext cx="10972800" cy="2194560"/>
          </a:xfrm>
          <a:prstGeom prst="roundRect">
            <a:avLst/>
          </a:prstGeom>
          <a:solidFill>
            <a:srgbClr val="F6F8FA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2104" y="1353312"/>
            <a:ext cx="10680192" cy="1965960"/>
          </a:xfrm>
          <a:prstGeom prst="rect">
            <a:avLst/>
          </a:prstGeom>
          <a:noFill/>
        </p:spPr>
        <p:txBody>
          <a:bodyPr wrap="none" anchor="t" lIns="0" tIns="0" rIns="0" bIns="0">
            <a:spAutoFit/>
          </a:bodyPr>
          <a:lstStyle/>
          <a:p>
            <a:pPr>
              <a:spcAft>
                <a:spcPts val="0"/>
              </a:spcAft>
              <a:defRPr sz="840">
                <a:solidFill>
                  <a:srgbClr val="111827"/>
                </a:solidFill>
                <a:latin typeface="DejaVu Sans Mono"/>
              </a:defRPr>
            </a:pPr>
            <a:r>
              <a:t>#map0 = affine_map&lt;(d0, d1, d2) -&gt; (d0, d2)&gt;</a:t>
            </a:r>
          </a:p>
          <a:p>
            <a:pPr>
              <a:spcAft>
                <a:spcPts val="0"/>
              </a:spcAft>
              <a:defRPr sz="840">
                <a:solidFill>
                  <a:srgbClr val="111827"/>
                </a:solidFill>
                <a:latin typeface="DejaVu Sans Mono"/>
              </a:defRPr>
            </a:pPr>
            <a:r>
              <a:t>#map1 = affine_map&lt;(d0, d1, d2) -&gt; (d2, d1)&gt;</a:t>
            </a:r>
          </a:p>
          <a:p>
            <a:pPr>
              <a:spcAft>
                <a:spcPts val="0"/>
              </a:spcAft>
              <a:defRPr sz="840">
                <a:solidFill>
                  <a:srgbClr val="111827"/>
                </a:solidFill>
                <a:latin typeface="DejaVu Sans Mono"/>
              </a:defRPr>
            </a:pPr>
            <a:r>
              <a:t>#map2 = affine_map&lt;(d0, d1, d2) -&gt; (d0, d1)&gt;</a:t>
            </a:r>
          </a:p>
          <a:p>
            <a:pPr>
              <a:spcAft>
                <a:spcPts val="0"/>
              </a:spcAft>
              <a:defRPr sz="840">
                <a:solidFill>
                  <a:srgbClr val="111827"/>
                </a:solidFill>
                <a:latin typeface="DejaVu Sans Mono"/>
              </a:defRPr>
            </a:pPr>
          </a:p>
          <a:p>
            <a:pPr>
              <a:spcAft>
                <a:spcPts val="0"/>
              </a:spcAft>
              <a:defRPr sz="840">
                <a:solidFill>
                  <a:srgbClr val="111827"/>
                </a:solidFill>
                <a:latin typeface="DejaVu Sans Mono"/>
              </a:defRPr>
            </a:pPr>
            <a:r>
              <a:t>"linalg.generic"(%A, %B, %C) {</a:t>
            </a:r>
          </a:p>
          <a:p>
            <a:pPr>
              <a:spcAft>
                <a:spcPts val="0"/>
              </a:spcAft>
              <a:defRPr sz="840">
                <a:solidFill>
                  <a:srgbClr val="111827"/>
                </a:solidFill>
                <a:latin typeface="DejaVu Sans Mono"/>
              </a:defRPr>
            </a:pPr>
            <a:r>
              <a:t>  indexing_maps = [#map0, #map1, #map2],</a:t>
            </a:r>
          </a:p>
          <a:p>
            <a:pPr>
              <a:spcAft>
                <a:spcPts val="0"/>
              </a:spcAft>
              <a:defRPr sz="840">
                <a:solidFill>
                  <a:srgbClr val="111827"/>
                </a:solidFill>
                <a:latin typeface="DejaVu Sans Mono"/>
              </a:defRPr>
            </a:pPr>
            <a:r>
              <a:t>  iterator_types = ["parallel", "parallel", "reduction"]</a:t>
            </a:r>
          </a:p>
          <a:p>
            <a:pPr>
              <a:spcAft>
                <a:spcPts val="0"/>
              </a:spcAft>
              <a:defRPr sz="840">
                <a:solidFill>
                  <a:srgbClr val="111827"/>
                </a:solidFill>
                <a:latin typeface="DejaVu Sans Mono"/>
              </a:defRPr>
            </a:pPr>
            <a:r>
              <a:t>} : (tensor&lt;4x8xf32&gt;, tensor&lt;8x16xf32&gt;, tensor&lt;4x16xf32&gt;) -&gt; tensor&lt;4x16xf32&gt;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3840480"/>
            <a:ext cx="1060704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9E1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09728" rIns="146304"/>
          <a:lstStyle/>
          <a:p>
            <a:pPr algn="ctr">
              <a:spcAft>
                <a:spcPts val="400"/>
              </a:spcAft>
              <a:defRPr sz="1500">
                <a:solidFill>
                  <a:srgbClr val="1F2937"/>
                </a:solidFill>
                <a:latin typeface="Noto Sans CJK KR"/>
              </a:defRPr>
            </a:pPr>
            <a:r>
              <a:t>• indexing_maps / iterator_types: structured op semantics</a:t>
            </a:r>
          </a:p>
          <a:p>
            <a:pPr>
              <a:spcAft>
                <a:spcPts val="400"/>
              </a:spcAft>
              <a:defRPr sz="1500">
                <a:solidFill>
                  <a:srgbClr val="1F2937"/>
                </a:solidFill>
                <a:latin typeface="Noto Sans CJK KR"/>
              </a:defRPr>
            </a:pPr>
            <a:r>
              <a:t>• tile / layout / memory_space: NPU schedule 또는 placement decision</a:t>
            </a:r>
          </a:p>
          <a:p>
            <a:pPr>
              <a:spcAft>
                <a:spcPts val="400"/>
              </a:spcAft>
              <a:defRPr sz="1500">
                <a:solidFill>
                  <a:srgbClr val="1F2937"/>
                </a:solidFill>
                <a:latin typeface="Noto Sans CJK KR"/>
              </a:defRPr>
            </a:pPr>
            <a:r>
              <a:t>• quant scale: static이면 attribute, runtime이면 operand/descriptor</a:t>
            </a:r>
          </a:p>
          <a:p>
            <a:pPr>
              <a:spcAft>
                <a:spcPts val="400"/>
              </a:spcAft>
              <a:defRPr sz="1500">
                <a:solidFill>
                  <a:srgbClr val="1F2937"/>
                </a:solidFill>
                <a:latin typeface="Noto Sans CJK KR"/>
              </a:defRPr>
            </a:pPr>
            <a:r>
              <a:t>• pointer address / dynamic batch: attribute가 아니라 runtime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92240"/>
            <a:ext cx="10972800" cy="22860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750">
                <a:solidFill>
                  <a:srgbClr val="787878"/>
                </a:solidFill>
                <a:latin typeface="Noto Sans CJK KR"/>
              </a:rPr>
              <a:t>MLIR NPU Compiler Course - Lecture 02 |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38560" cy="566928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2500" b="1">
                <a:solidFill>
                  <a:srgbClr val="142B58"/>
                </a:solidFill>
                <a:latin typeface="Noto Sans CJK KR"/>
              </a:rPr>
              <a:t>Location을 버리지 마세요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804672"/>
            <a:ext cx="10972800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150">
                <a:solidFill>
                  <a:srgbClr val="606060"/>
                </a:solidFill>
                <a:latin typeface="Noto Sans CJK KR"/>
              </a:rPr>
              <a:t>debug/profiling/accuracy 추적의 연결고리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60704"/>
            <a:ext cx="11338560" cy="18288"/>
          </a:xfrm>
          <a:prstGeom prst="rect">
            <a:avLst/>
          </a:prstGeom>
          <a:solidFill>
            <a:srgbClr val="CFD8EB"/>
          </a:solidFill>
          <a:ln>
            <a:solidFill>
              <a:srgbClr val="CFD8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10789920" cy="1188720"/>
          </a:xfrm>
          <a:prstGeom prst="roundRect">
            <a:avLst/>
          </a:prstGeom>
          <a:solidFill>
            <a:srgbClr val="F6F8FA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1536192"/>
            <a:ext cx="10497312" cy="960120"/>
          </a:xfrm>
          <a:prstGeom prst="rect">
            <a:avLst/>
          </a:prstGeom>
          <a:noFill/>
        </p:spPr>
        <p:txBody>
          <a:bodyPr wrap="none" anchor="t" lIns="0" tIns="0" rIns="0" bIns="0">
            <a:spAutoFit/>
          </a:bodyPr>
          <a:lstStyle/>
          <a:p>
            <a:pPr>
              <a:spcAft>
                <a:spcPts val="0"/>
              </a:spcAft>
              <a:defRPr sz="1200">
                <a:solidFill>
                  <a:srgbClr val="111827"/>
                </a:solidFill>
                <a:latin typeface="DejaVu Sans Mono"/>
              </a:defRPr>
            </a:pPr>
            <a:r>
              <a:t>%0 = arith.addf %a, %b : f32 loc("model.py":42:7)</a:t>
            </a:r>
          </a:p>
          <a:p>
            <a:pPr>
              <a:spcAft>
                <a:spcPts val="0"/>
              </a:spcAft>
              <a:defRPr sz="1200">
                <a:solidFill>
                  <a:srgbClr val="111827"/>
                </a:solidFill>
                <a:latin typeface="DejaVu Sans Mono"/>
              </a:defRPr>
            </a:pPr>
            <a:r>
              <a:t>%1 = "npu.matmul"(%A, %B) : (...) -&gt; (...) loc("encoder.layer.3.mlp.fc1")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3017520"/>
            <a:ext cx="1042416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9E1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09728" rIns="146304"/>
          <a:lstStyle/>
          <a:p>
            <a:pPr algn="ctr">
              <a:spcAft>
                <a:spcPts val="400"/>
              </a:spcAft>
              <a:defRPr sz="1800">
                <a:solidFill>
                  <a:srgbClr val="1F2937"/>
                </a:solidFill>
                <a:latin typeface="Noto Sans CJK KR"/>
              </a:defRPr>
            </a:pPr>
            <a:r>
              <a:t>• Lowering 후에도 어떤 모델 node에서 온 op인지 추적해야 합니다.</a:t>
            </a:r>
          </a:p>
          <a:p>
            <a:pPr>
              <a:spcAft>
                <a:spcPts val="400"/>
              </a:spcAft>
              <a:defRPr sz="1800">
                <a:solidFill>
                  <a:srgbClr val="1F2937"/>
                </a:solidFill>
                <a:latin typeface="Noto Sans CJK KR"/>
              </a:defRPr>
            </a:pPr>
            <a:r>
              <a:t>• 성능 hotspot을 source graph로 되돌려야 schedule 개선이 가능합니다.</a:t>
            </a:r>
          </a:p>
          <a:p>
            <a:pPr>
              <a:spcAft>
                <a:spcPts val="400"/>
              </a:spcAft>
              <a:defRPr sz="1800">
                <a:solidFill>
                  <a:srgbClr val="1F2937"/>
                </a:solidFill>
                <a:latin typeface="Noto Sans CJK KR"/>
              </a:defRPr>
            </a:pPr>
            <a:r>
              <a:t>• 정확도 문제는 quantized op와 원래 op를 매칭해야 디버깅할 수 있습니다.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92240"/>
            <a:ext cx="10972800" cy="22860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750">
                <a:solidFill>
                  <a:srgbClr val="787878"/>
                </a:solidFill>
                <a:latin typeface="Noto Sans CJK KR"/>
              </a:rPr>
              <a:t>MLIR NPU Compiler Course - Lecture 02 |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38560" cy="566928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2500" b="1">
                <a:solidFill>
                  <a:srgbClr val="142B58"/>
                </a:solidFill>
                <a:latin typeface="Noto Sans CJK KR"/>
              </a:rPr>
              <a:t>Operation-Region-Block 재귀 구조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804672"/>
            <a:ext cx="10972800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150">
                <a:solidFill>
                  <a:srgbClr val="606060"/>
                </a:solidFill>
                <a:latin typeface="Noto Sans CJK KR"/>
              </a:rPr>
              <a:t>3강의 주제지만, 2강에서도 전체 그림은 필요합니다.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60704"/>
            <a:ext cx="11338560" cy="18288"/>
          </a:xfrm>
          <a:prstGeom prst="rect">
            <a:avLst/>
          </a:prstGeom>
          <a:solidFill>
            <a:srgbClr val="CFD8EB"/>
          </a:solidFill>
          <a:ln>
            <a:solidFill>
              <a:srgbClr val="CFD8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LIR_NPU_Lecture_02_IR_Nest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417320"/>
            <a:ext cx="10241280" cy="5120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1480" y="6492240"/>
            <a:ext cx="10972800" cy="22860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750">
                <a:solidFill>
                  <a:srgbClr val="787878"/>
                </a:solidFill>
                <a:latin typeface="Noto Sans CJK KR"/>
              </a:rPr>
              <a:t>MLIR NPU Compiler Course - Lecture 02 |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38560" cy="566928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2500" b="1">
                <a:solidFill>
                  <a:srgbClr val="142B58"/>
                </a:solidFill>
                <a:latin typeface="Noto Sans CJK KR"/>
              </a:rPr>
              <a:t>Example: linalg-on-tensors MatMul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804672"/>
            <a:ext cx="10972800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150">
                <a:solidFill>
                  <a:srgbClr val="606060"/>
                </a:solidFill>
                <a:latin typeface="Noto Sans CJK KR"/>
              </a:rPr>
              <a:t>operation/result/type을 실제 snippet에서 읽기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60704"/>
            <a:ext cx="11338560" cy="18288"/>
          </a:xfrm>
          <a:prstGeom prst="rect">
            <a:avLst/>
          </a:prstGeom>
          <a:solidFill>
            <a:srgbClr val="CFD8EB"/>
          </a:solidFill>
          <a:ln>
            <a:solidFill>
              <a:srgbClr val="CFD8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10881360" cy="3886200"/>
          </a:xfrm>
          <a:prstGeom prst="roundRect">
            <a:avLst/>
          </a:prstGeom>
          <a:solidFill>
            <a:srgbClr val="F6F8FA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2104" y="1444752"/>
            <a:ext cx="10588752" cy="3657600"/>
          </a:xfrm>
          <a:prstGeom prst="rect">
            <a:avLst/>
          </a:prstGeom>
          <a:noFill/>
        </p:spPr>
        <p:txBody>
          <a:bodyPr wrap="none" anchor="t" lIns="0" tIns="0" rIns="0" bIns="0">
            <a:spAutoFit/>
          </a:bodyPr>
          <a:lstStyle/>
          <a:p>
            <a:pPr>
              <a:spcAft>
                <a:spcPts val="0"/>
              </a:spcAft>
              <a:defRPr sz="1000">
                <a:solidFill>
                  <a:srgbClr val="111827"/>
                </a:solidFill>
                <a:latin typeface="DejaVu Sans Mono"/>
              </a:defRPr>
            </a:pPr>
            <a:r>
              <a:t>module {</a:t>
            </a:r>
          </a:p>
          <a:p>
            <a:pPr>
              <a:spcAft>
                <a:spcPts val="0"/>
              </a:spcAft>
              <a:defRPr sz="1000">
                <a:solidFill>
                  <a:srgbClr val="111827"/>
                </a:solidFill>
                <a:latin typeface="DejaVu Sans Mono"/>
              </a:defRPr>
            </a:pPr>
            <a:r>
              <a:t>  func.func @matmul_basic(</a:t>
            </a:r>
          </a:p>
          <a:p>
            <a:pPr>
              <a:spcAft>
                <a:spcPts val="0"/>
              </a:spcAft>
              <a:defRPr sz="1000">
                <a:solidFill>
                  <a:srgbClr val="111827"/>
                </a:solidFill>
                <a:latin typeface="DejaVu Sans Mono"/>
              </a:defRPr>
            </a:pPr>
            <a:r>
              <a:t>      %lhs: tensor&lt;4x8xf32&gt;,</a:t>
            </a:r>
          </a:p>
          <a:p>
            <a:pPr>
              <a:spcAft>
                <a:spcPts val="0"/>
              </a:spcAft>
              <a:defRPr sz="1000">
                <a:solidFill>
                  <a:srgbClr val="111827"/>
                </a:solidFill>
                <a:latin typeface="DejaVu Sans Mono"/>
              </a:defRPr>
            </a:pPr>
            <a:r>
              <a:t>      %rhs: tensor&lt;8x16xf32&gt;) -&gt; tensor&lt;4x16xf32&gt; {</a:t>
            </a:r>
          </a:p>
          <a:p>
            <a:pPr>
              <a:spcAft>
                <a:spcPts val="0"/>
              </a:spcAft>
              <a:defRPr sz="1000">
                <a:solidFill>
                  <a:srgbClr val="111827"/>
                </a:solidFill>
                <a:latin typeface="DejaVu Sans Mono"/>
              </a:defRPr>
            </a:pPr>
            <a:r>
              <a:t>    %zero = arith.constant 0.000000e+00 : f32</a:t>
            </a:r>
          </a:p>
          <a:p>
            <a:pPr>
              <a:spcAft>
                <a:spcPts val="0"/>
              </a:spcAft>
              <a:defRPr sz="1000">
                <a:solidFill>
                  <a:srgbClr val="111827"/>
                </a:solidFill>
                <a:latin typeface="DejaVu Sans Mono"/>
              </a:defRPr>
            </a:pPr>
            <a:r>
              <a:t>    %init = tensor.empty() : tensor&lt;4x16xf32&gt;</a:t>
            </a:r>
          </a:p>
          <a:p>
            <a:pPr>
              <a:spcAft>
                <a:spcPts val="0"/>
              </a:spcAft>
              <a:defRPr sz="1000">
                <a:solidFill>
                  <a:srgbClr val="111827"/>
                </a:solidFill>
                <a:latin typeface="DejaVu Sans Mono"/>
              </a:defRPr>
            </a:pPr>
            <a:r>
              <a:t>    %filled = linalg.fill ins(%zero : f32)</a:t>
            </a:r>
          </a:p>
          <a:p>
            <a:pPr>
              <a:spcAft>
                <a:spcPts val="0"/>
              </a:spcAft>
              <a:defRPr sz="1000">
                <a:solidFill>
                  <a:srgbClr val="111827"/>
                </a:solidFill>
                <a:latin typeface="DejaVu Sans Mono"/>
              </a:defRPr>
            </a:pPr>
            <a:r>
              <a:t>              outs(%init : tensor&lt;4x16xf32&gt;) -&gt; tensor&lt;4x16xf32&gt;</a:t>
            </a:r>
          </a:p>
          <a:p>
            <a:pPr>
              <a:spcAft>
                <a:spcPts val="0"/>
              </a:spcAft>
              <a:defRPr sz="1000">
                <a:solidFill>
                  <a:srgbClr val="111827"/>
                </a:solidFill>
                <a:latin typeface="DejaVu Sans Mono"/>
              </a:defRPr>
            </a:pPr>
            <a:r>
              <a:t>    %out = linalg.matmul</a:t>
            </a:r>
          </a:p>
          <a:p>
            <a:pPr>
              <a:spcAft>
                <a:spcPts val="0"/>
              </a:spcAft>
              <a:defRPr sz="1000">
                <a:solidFill>
                  <a:srgbClr val="111827"/>
                </a:solidFill>
                <a:latin typeface="DejaVu Sans Mono"/>
              </a:defRPr>
            </a:pPr>
            <a:r>
              <a:t>        ins(%lhs, %rhs : tensor&lt;4x8xf32&gt;, tensor&lt;8x16xf32&gt;)</a:t>
            </a:r>
          </a:p>
          <a:p>
            <a:pPr>
              <a:spcAft>
                <a:spcPts val="0"/>
              </a:spcAft>
              <a:defRPr sz="1000">
                <a:solidFill>
                  <a:srgbClr val="111827"/>
                </a:solidFill>
                <a:latin typeface="DejaVu Sans Mono"/>
              </a:defRPr>
            </a:pPr>
            <a:r>
              <a:t>        outs(%filled : tensor&lt;4x16xf32&gt;) -&gt; tensor&lt;4x16xf32&gt;</a:t>
            </a:r>
          </a:p>
          <a:p>
            <a:pPr>
              <a:spcAft>
                <a:spcPts val="0"/>
              </a:spcAft>
              <a:defRPr sz="1000">
                <a:solidFill>
                  <a:srgbClr val="111827"/>
                </a:solidFill>
                <a:latin typeface="DejaVu Sans Mono"/>
              </a:defRPr>
            </a:pPr>
            <a:r>
              <a:t>    func.return %out : tensor&lt;4x16xf32&gt;</a:t>
            </a:r>
          </a:p>
          <a:p>
            <a:pPr>
              <a:spcAft>
                <a:spcPts val="0"/>
              </a:spcAft>
              <a:defRPr sz="1000">
                <a:solidFill>
                  <a:srgbClr val="111827"/>
                </a:solidFill>
                <a:latin typeface="DejaVu Sans Mono"/>
              </a:defRPr>
            </a:pPr>
            <a:r>
              <a:t>  }</a:t>
            </a:r>
          </a:p>
          <a:p>
            <a:pPr>
              <a:spcAft>
                <a:spcPts val="0"/>
              </a:spcAft>
              <a:defRPr sz="1000">
                <a:solidFill>
                  <a:srgbClr val="111827"/>
                </a:solidFill>
                <a:latin typeface="DejaVu Sans Mono"/>
              </a:defRPr>
            </a:pPr>
            <a: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92240"/>
            <a:ext cx="10972800" cy="22860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750">
                <a:solidFill>
                  <a:srgbClr val="787878"/>
                </a:solidFill>
                <a:latin typeface="Noto Sans CJK KR"/>
              </a:rPr>
              <a:t>MLIR NPU Compiler Course - Lecture 02 |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38560" cy="566928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2500" b="1">
                <a:solidFill>
                  <a:srgbClr val="142B58"/>
                </a:solidFill>
                <a:latin typeface="Noto Sans CJK KR"/>
              </a:rPr>
              <a:t>MatMul 예제 읽기 순서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804672"/>
            <a:ext cx="10972800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150">
                <a:solidFill>
                  <a:srgbClr val="606060"/>
                </a:solidFill>
                <a:latin typeface="Noto Sans CJK KR"/>
              </a:rPr>
              <a:t>IR audit을 pass writer처럼 수행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60704"/>
            <a:ext cx="11338560" cy="18288"/>
          </a:xfrm>
          <a:prstGeom prst="rect">
            <a:avLst/>
          </a:prstGeom>
          <a:solidFill>
            <a:srgbClr val="CFD8EB"/>
          </a:solidFill>
          <a:ln>
            <a:solidFill>
              <a:srgbClr val="CFD8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1097280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D9E1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09728" rIns="146304"/>
          <a:lstStyle/>
          <a:p>
            <a:pPr algn="ctr">
              <a:spcAft>
                <a:spcPts val="400"/>
              </a:spcAft>
              <a:defRPr sz="1700">
                <a:solidFill>
                  <a:srgbClr val="1F2937"/>
                </a:solidFill>
                <a:latin typeface="Noto Sans CJK KR"/>
              </a:defRPr>
            </a:pPr>
            <a:r>
              <a:t>• func.func: function body를 가진 operation, %lhs/%rhs는 block argument</a:t>
            </a:r>
          </a:p>
          <a:p>
            <a:pPr>
              <a:spcAft>
                <a:spcPts val="400"/>
              </a:spcAft>
              <a:defRPr sz="1700">
                <a:solidFill>
                  <a:srgbClr val="1F2937"/>
                </a:solidFill>
                <a:latin typeface="Noto Sans CJK KR"/>
              </a:defRPr>
            </a:pPr>
            <a:r>
              <a:t>• arith.constant: scalar f32 value 생성</a:t>
            </a:r>
          </a:p>
          <a:p>
            <a:pPr>
              <a:spcAft>
                <a:spcPts val="400"/>
              </a:spcAft>
              <a:defRPr sz="1700">
                <a:solidFill>
                  <a:srgbClr val="1F2937"/>
                </a:solidFill>
                <a:latin typeface="Noto Sans CJK KR"/>
              </a:defRPr>
            </a:pPr>
            <a:r>
              <a:t>• tensor.empty: destination tensor 생성, bufferization 이후 allocation 후보</a:t>
            </a:r>
          </a:p>
          <a:p>
            <a:pPr>
              <a:spcAft>
                <a:spcPts val="400"/>
              </a:spcAft>
              <a:defRPr sz="1700">
                <a:solidFill>
                  <a:srgbClr val="1F2937"/>
                </a:solidFill>
                <a:latin typeface="Noto Sans CJK KR"/>
              </a:defRPr>
            </a:pPr>
            <a:r>
              <a:t>• linalg.fill: zero init. matmul init folding 또는 fill 제거 후보</a:t>
            </a:r>
          </a:p>
          <a:p>
            <a:pPr>
              <a:spcAft>
                <a:spcPts val="400"/>
              </a:spcAft>
              <a:defRPr sz="1700">
                <a:solidFill>
                  <a:srgbClr val="1F2937"/>
                </a:solidFill>
                <a:latin typeface="Noto Sans CJK KR"/>
              </a:defRPr>
            </a:pPr>
            <a:r>
              <a:t>• linalg.matmul: structured matmul semantic. tiling/vectorization/tensorization 대상</a:t>
            </a:r>
          </a:p>
          <a:p>
            <a:pPr>
              <a:spcAft>
                <a:spcPts val="400"/>
              </a:spcAft>
              <a:defRPr sz="1700">
                <a:solidFill>
                  <a:srgbClr val="1F2937"/>
                </a:solidFill>
                <a:latin typeface="Noto Sans CJK KR"/>
              </a:defRPr>
            </a:pPr>
            <a:r>
              <a:t>• func.return: result type 일치 검증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92240"/>
            <a:ext cx="10972800" cy="22860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750">
                <a:solidFill>
                  <a:srgbClr val="787878"/>
                </a:solidFill>
                <a:latin typeface="Noto Sans CJK KR"/>
              </a:rPr>
              <a:t>MLIR NPU Compiler Course - Lecture 02 |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38560" cy="566928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2500" b="1">
                <a:solidFill>
                  <a:srgbClr val="142B58"/>
                </a:solidFill>
                <a:latin typeface="Noto Sans CJK KR"/>
              </a:rPr>
              <a:t>NPU Compiler IR Audit Checklist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804672"/>
            <a:ext cx="10972800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150">
                <a:solidFill>
                  <a:srgbClr val="606060"/>
                </a:solidFill>
                <a:latin typeface="Noto Sans CJK KR"/>
              </a:rPr>
              <a:t>Operation/Value/Type/Attribute에서 pass 입력 정보 뽑기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60704"/>
            <a:ext cx="11338560" cy="18288"/>
          </a:xfrm>
          <a:prstGeom prst="rect">
            <a:avLst/>
          </a:prstGeom>
          <a:solidFill>
            <a:srgbClr val="CFD8EB"/>
          </a:solidFill>
          <a:ln>
            <a:solidFill>
              <a:srgbClr val="CFD8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234440"/>
            <a:ext cx="2194560" cy="530352"/>
          </a:xfrm>
          <a:prstGeom prst="roundRect">
            <a:avLst/>
          </a:prstGeom>
          <a:solidFill>
            <a:srgbClr val="E8F1FF"/>
          </a:solidFill>
          <a:ln>
            <a:solidFill>
              <a:srgbClr val="2D44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300" b="1">
                <a:solidFill>
                  <a:srgbClr val="1F2937"/>
                </a:solidFill>
                <a:latin typeface="Noto Sans CJK KR"/>
              </a:rPr>
              <a:t>Operation level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54680" y="1234440"/>
            <a:ext cx="786384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2D44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300" b="0">
                <a:solidFill>
                  <a:srgbClr val="1F2937"/>
                </a:solidFill>
                <a:latin typeface="Noto Sans CJK KR"/>
              </a:rPr>
              <a:t>graph/tensor/buffer/kernel/runtime 중 어느 level인가?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947672"/>
            <a:ext cx="2194560" cy="530352"/>
          </a:xfrm>
          <a:prstGeom prst="roundRect">
            <a:avLst/>
          </a:prstGeom>
          <a:solidFill>
            <a:srgbClr val="E8F1FF"/>
          </a:solidFill>
          <a:ln>
            <a:solidFill>
              <a:srgbClr val="2D44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300" b="1">
                <a:solidFill>
                  <a:srgbClr val="1F2937"/>
                </a:solidFill>
                <a:latin typeface="Noto Sans CJK KR"/>
              </a:rPr>
              <a:t>Def-use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54680" y="1947672"/>
            <a:ext cx="786384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2D44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300" b="0">
                <a:solidFill>
                  <a:srgbClr val="1F2937"/>
                </a:solidFill>
                <a:latin typeface="Noto Sans CJK KR"/>
              </a:rPr>
              <a:t>consumer 수와 alias 가능성은?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660904"/>
            <a:ext cx="2194560" cy="530352"/>
          </a:xfrm>
          <a:prstGeom prst="roundRect">
            <a:avLst/>
          </a:prstGeom>
          <a:solidFill>
            <a:srgbClr val="E8F1FF"/>
          </a:solidFill>
          <a:ln>
            <a:solidFill>
              <a:srgbClr val="2D44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300" b="1">
                <a:solidFill>
                  <a:srgbClr val="1F2937"/>
                </a:solidFill>
                <a:latin typeface="Noto Sans CJK KR"/>
              </a:rPr>
              <a:t>Type legality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54680" y="2660904"/>
            <a:ext cx="786384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2D44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300" b="0">
                <a:solidFill>
                  <a:srgbClr val="1F2937"/>
                </a:solidFill>
                <a:latin typeface="Noto Sans CJK KR"/>
              </a:rPr>
              <a:t>shape/element/memory space가 target과 맞는가?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374136"/>
            <a:ext cx="2194560" cy="530352"/>
          </a:xfrm>
          <a:prstGeom prst="roundRect">
            <a:avLst/>
          </a:prstGeom>
          <a:solidFill>
            <a:srgbClr val="E8F1FF"/>
          </a:solidFill>
          <a:ln>
            <a:solidFill>
              <a:srgbClr val="2D44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300" b="1">
                <a:solidFill>
                  <a:srgbClr val="1F2937"/>
                </a:solidFill>
                <a:latin typeface="Noto Sans CJK KR"/>
              </a:rPr>
              <a:t>Attribute legality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54680" y="3374136"/>
            <a:ext cx="786384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2D44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300" b="0">
                <a:solidFill>
                  <a:srgbClr val="1F2937"/>
                </a:solidFill>
                <a:latin typeface="Noto Sans CJK KR"/>
              </a:rPr>
              <a:t>tile/layout/quant가 capability와 맞는가?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087368"/>
            <a:ext cx="2194560" cy="530352"/>
          </a:xfrm>
          <a:prstGeom prst="roundRect">
            <a:avLst/>
          </a:prstGeom>
          <a:solidFill>
            <a:srgbClr val="E8F1FF"/>
          </a:solidFill>
          <a:ln>
            <a:solidFill>
              <a:srgbClr val="2D44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300" b="1">
                <a:solidFill>
                  <a:srgbClr val="1F2937"/>
                </a:solidFill>
                <a:latin typeface="Noto Sans CJK KR"/>
              </a:rPr>
              <a:t>Dynamic shape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154680" y="4087368"/>
            <a:ext cx="786384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2D44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300" b="0">
                <a:solidFill>
                  <a:srgbClr val="1F2937"/>
                </a:solidFill>
                <a:latin typeface="Noto Sans CJK KR"/>
              </a:rPr>
              <a:t>runtime descriptor 또는 guard가 필요한가?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6492240"/>
            <a:ext cx="10972800" cy="22860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750">
                <a:solidFill>
                  <a:srgbClr val="787878"/>
                </a:solidFill>
                <a:latin typeface="Noto Sans CJK KR"/>
              </a:rPr>
              <a:t>MLIR NPU Compiler Course - Lecture 02 |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38560" cy="566928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2500" b="1">
                <a:solidFill>
                  <a:srgbClr val="142B58"/>
                </a:solidFill>
                <a:latin typeface="Noto Sans CJK KR"/>
              </a:rPr>
              <a:t>Attribute vs Operand Decision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804672"/>
            <a:ext cx="10972800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150">
                <a:solidFill>
                  <a:srgbClr val="606060"/>
                </a:solidFill>
                <a:latin typeface="Noto Sans CJK KR"/>
              </a:rPr>
              <a:t>static이면 attribute, runtime이면 operand/descriptor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60704"/>
            <a:ext cx="11338560" cy="18288"/>
          </a:xfrm>
          <a:prstGeom prst="rect">
            <a:avLst/>
          </a:prstGeom>
          <a:solidFill>
            <a:srgbClr val="CFD8EB"/>
          </a:solidFill>
          <a:ln>
            <a:solidFill>
              <a:srgbClr val="CFD8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1325880"/>
            <a:ext cx="493776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2D44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200" b="0">
                <a:solidFill>
                  <a:srgbClr val="1F2937"/>
                </a:solidFill>
                <a:latin typeface="Noto Sans CJK KR"/>
              </a:rPr>
              <a:t>tile size [16,16,64]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325880"/>
            <a:ext cx="4206240" cy="502920"/>
          </a:xfrm>
          <a:prstGeom prst="roundRect">
            <a:avLst/>
          </a:prstGeom>
          <a:solidFill>
            <a:srgbClr val="EAF7EA"/>
          </a:solidFill>
          <a:ln>
            <a:solidFill>
              <a:srgbClr val="2D44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200" b="1">
                <a:solidFill>
                  <a:srgbClr val="1F2937"/>
                </a:solidFill>
                <a:latin typeface="Noto Sans CJK KR"/>
              </a:rPr>
              <a:t>Attribute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938528"/>
            <a:ext cx="493776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2D44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200" b="0">
                <a:solidFill>
                  <a:srgbClr val="1F2937"/>
                </a:solidFill>
                <a:latin typeface="Noto Sans CJK KR"/>
              </a:rPr>
              <a:t>static weight quant scale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938528"/>
            <a:ext cx="4206240" cy="502920"/>
          </a:xfrm>
          <a:prstGeom prst="roundRect">
            <a:avLst/>
          </a:prstGeom>
          <a:solidFill>
            <a:srgbClr val="EAF7EA"/>
          </a:solidFill>
          <a:ln>
            <a:solidFill>
              <a:srgbClr val="2D44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200" b="1">
                <a:solidFill>
                  <a:srgbClr val="1F2937"/>
                </a:solidFill>
                <a:latin typeface="Noto Sans CJK KR"/>
              </a:rPr>
              <a:t>Attribute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551176"/>
            <a:ext cx="493776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2D44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200" b="0">
                <a:solidFill>
                  <a:srgbClr val="1F2937"/>
                </a:solidFill>
                <a:latin typeface="Noto Sans CJK KR"/>
              </a:rPr>
              <a:t>runtime batch size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551176"/>
            <a:ext cx="4206240" cy="502920"/>
          </a:xfrm>
          <a:prstGeom prst="roundRect">
            <a:avLst/>
          </a:prstGeom>
          <a:solidFill>
            <a:srgbClr val="FFF4CE"/>
          </a:solidFill>
          <a:ln>
            <a:solidFill>
              <a:srgbClr val="2D44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200" b="1">
                <a:solidFill>
                  <a:srgbClr val="1F2937"/>
                </a:solidFill>
                <a:latin typeface="Noto Sans CJK KR"/>
              </a:rPr>
              <a:t>Operand/shape value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163824"/>
            <a:ext cx="493776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2D44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200" b="0">
                <a:solidFill>
                  <a:srgbClr val="1F2937"/>
                </a:solidFill>
                <a:latin typeface="Noto Sans CJK KR"/>
              </a:rPr>
              <a:t>activation pointer address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3163824"/>
            <a:ext cx="4206240" cy="502920"/>
          </a:xfrm>
          <a:prstGeom prst="roundRect">
            <a:avLst/>
          </a:prstGeom>
          <a:solidFill>
            <a:srgbClr val="FFF4CE"/>
          </a:solidFill>
          <a:ln>
            <a:solidFill>
              <a:srgbClr val="2D44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200" b="1">
                <a:solidFill>
                  <a:srgbClr val="1F2937"/>
                </a:solidFill>
                <a:latin typeface="Noto Sans CJK KR"/>
              </a:rPr>
              <a:t>Runtime descriptor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776472"/>
            <a:ext cx="493776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2D44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200" b="0">
                <a:solidFill>
                  <a:srgbClr val="1F2937"/>
                </a:solidFill>
                <a:latin typeface="Noto Sans CJK KR"/>
              </a:rPr>
              <a:t>DMA dependency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3776472"/>
            <a:ext cx="4206240" cy="502920"/>
          </a:xfrm>
          <a:prstGeom prst="roundRect">
            <a:avLst/>
          </a:prstGeom>
          <a:solidFill>
            <a:srgbClr val="FFF4CE"/>
          </a:solidFill>
          <a:ln>
            <a:solidFill>
              <a:srgbClr val="2D44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200" b="1">
                <a:solidFill>
                  <a:srgbClr val="1F2937"/>
                </a:solidFill>
                <a:latin typeface="Noto Sans CJK KR"/>
              </a:rPr>
              <a:t>Value/token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389120"/>
            <a:ext cx="493776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2D44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200" b="0">
                <a:solidFill>
                  <a:srgbClr val="1F2937"/>
                </a:solidFill>
                <a:latin typeface="Noto Sans CJK KR"/>
              </a:rPr>
              <a:t>SRAM memory space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4389120"/>
            <a:ext cx="4206240" cy="502920"/>
          </a:xfrm>
          <a:prstGeom prst="roundRect">
            <a:avLst/>
          </a:prstGeom>
          <a:solidFill>
            <a:srgbClr val="FFF4CE"/>
          </a:solidFill>
          <a:ln>
            <a:solidFill>
              <a:srgbClr val="2D44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200" b="1">
                <a:solidFill>
                  <a:srgbClr val="1F2937"/>
                </a:solidFill>
                <a:latin typeface="Noto Sans CJK KR"/>
              </a:rPr>
              <a:t>Type/attribute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6492240"/>
            <a:ext cx="10972800" cy="22860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750">
                <a:solidFill>
                  <a:srgbClr val="787878"/>
                </a:solidFill>
                <a:latin typeface="Noto Sans CJK KR"/>
              </a:rPr>
              <a:t>MLIR NPU Compiler Course - Lecture 02 |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38560" cy="566928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2500" b="1">
                <a:solidFill>
                  <a:srgbClr val="142B58"/>
                </a:solidFill>
                <a:latin typeface="Noto Sans CJK KR"/>
              </a:rPr>
              <a:t>Custom NPU Dialect 설계 관점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804672"/>
            <a:ext cx="10972800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150">
                <a:solidFill>
                  <a:srgbClr val="606060"/>
                </a:solidFill>
                <a:latin typeface="Noto Sans CJK KR"/>
              </a:rPr>
              <a:t>2강의 개념은 18강 custom dialect의 기초입니다.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60704"/>
            <a:ext cx="11338560" cy="18288"/>
          </a:xfrm>
          <a:prstGeom prst="rect">
            <a:avLst/>
          </a:prstGeom>
          <a:solidFill>
            <a:srgbClr val="CFD8EB"/>
          </a:solidFill>
          <a:ln>
            <a:solidFill>
              <a:srgbClr val="CFD8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280160"/>
            <a:ext cx="10972800" cy="2011680"/>
          </a:xfrm>
          <a:prstGeom prst="roundRect">
            <a:avLst/>
          </a:prstGeom>
          <a:solidFill>
            <a:srgbClr val="F6F8FA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2104" y="1399031"/>
            <a:ext cx="10680192" cy="1783080"/>
          </a:xfrm>
          <a:prstGeom prst="rect">
            <a:avLst/>
          </a:prstGeom>
          <a:noFill/>
        </p:spPr>
        <p:txBody>
          <a:bodyPr wrap="none" anchor="t" lIns="0" tIns="0" rIns="0" bIns="0">
            <a:spAutoFit/>
          </a:bodyPr>
          <a:lstStyle/>
          <a:p>
            <a:pPr>
              <a:spcAft>
                <a:spcPts val="0"/>
              </a:spcAft>
              <a:defRPr sz="1000">
                <a:solidFill>
                  <a:srgbClr val="111827"/>
                </a:solidFill>
                <a:latin typeface="DejaVu Sans Mono"/>
              </a:defRPr>
            </a:pPr>
            <a:r>
              <a:t>%desc = "npu.make_desc"(%buffer, %shape) {layout = "NHWC", space = "sram"} : (...) -&gt; !npu.desc</a:t>
            </a:r>
          </a:p>
          <a:p>
            <a:pPr>
              <a:spcAft>
                <a:spcPts val="0"/>
              </a:spcAft>
              <a:defRPr sz="1000">
                <a:solidFill>
                  <a:srgbClr val="111827"/>
                </a:solidFill>
                <a:latin typeface="DejaVu Sans Mono"/>
              </a:defRPr>
            </a:pPr>
            <a:r>
              <a:t>%tok0 = "npu.dma"(%src, %dst, %desc) {kind = "h2s"} : (...) -&gt; !npu.token</a:t>
            </a:r>
          </a:p>
          <a:p>
            <a:pPr>
              <a:spcAft>
                <a:spcPts val="0"/>
              </a:spcAft>
              <a:defRPr sz="1000">
                <a:solidFill>
                  <a:srgbClr val="111827"/>
                </a:solidFill>
                <a:latin typeface="DejaVu Sans Mono"/>
              </a:defRPr>
            </a:pPr>
            <a:r>
              <a:t>%out, %tok1 = "npu.matmul"(%A, %B, %acc, %tok0) {tile = [16,16,64]} : (...) -&gt; (..., !npu.token)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3794760"/>
            <a:ext cx="1060704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9E1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09728" rIns="146304"/>
          <a:lstStyle/>
          <a:p>
            <a:pPr algn="ctr">
              <a:spcAft>
                <a:spcPts val="400"/>
              </a:spcAft>
              <a:defRPr sz="1600">
                <a:solidFill>
                  <a:srgbClr val="1F2937"/>
                </a:solidFill>
                <a:latin typeface="Noto Sans CJK KR"/>
              </a:defRPr>
            </a:pPr>
            <a:r>
              <a:t>• descriptor는 runtime shape/pointer 정보를 담을 수 있습니다.</a:t>
            </a:r>
          </a:p>
          <a:p>
            <a:pPr>
              <a:spcAft>
                <a:spcPts val="400"/>
              </a:spcAft>
              <a:defRPr sz="1600">
                <a:solidFill>
                  <a:srgbClr val="1F2937"/>
                </a:solidFill>
                <a:latin typeface="Noto Sans CJK KR"/>
              </a:defRPr>
            </a:pPr>
            <a:r>
              <a:t>• token value는 DMA와 compute의 ordering을 표현합니다.</a:t>
            </a:r>
          </a:p>
          <a:p>
            <a:pPr>
              <a:spcAft>
                <a:spcPts val="400"/>
              </a:spcAft>
              <a:defRPr sz="1600">
                <a:solidFill>
                  <a:srgbClr val="1F2937"/>
                </a:solidFill>
                <a:latin typeface="Noto Sans CJK KR"/>
              </a:defRPr>
            </a:pPr>
            <a:r>
              <a:t>• tile은 compile-time schedule이면 attribute가 자연스럽습니다.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92240"/>
            <a:ext cx="10972800" cy="22860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750">
                <a:solidFill>
                  <a:srgbClr val="787878"/>
                </a:solidFill>
                <a:latin typeface="Noto Sans CJK KR"/>
              </a:rPr>
              <a:t>MLIR NPU Compiler Course - Lecture 02 |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38560" cy="566928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2500" b="1">
                <a:solidFill>
                  <a:srgbClr val="142B58"/>
                </a:solidFill>
                <a:latin typeface="Noto Sans CJK KR"/>
              </a:rPr>
              <a:t>실습 A: Operation Anatomy Annotation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804672"/>
            <a:ext cx="10972800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150">
                <a:solidFill>
                  <a:srgbClr val="606060"/>
                </a:solidFill>
                <a:latin typeface="Noto Sans CJK KR"/>
              </a:rPr>
              <a:t>pseudo npu.matmul을 구성요소별로 표시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60704"/>
            <a:ext cx="11338560" cy="18288"/>
          </a:xfrm>
          <a:prstGeom prst="rect">
            <a:avLst/>
          </a:prstGeom>
          <a:solidFill>
            <a:srgbClr val="CFD8EB"/>
          </a:solidFill>
          <a:ln>
            <a:solidFill>
              <a:srgbClr val="CFD8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234440"/>
            <a:ext cx="10972800" cy="1737360"/>
          </a:xfrm>
          <a:prstGeom prst="roundRect">
            <a:avLst/>
          </a:prstGeom>
          <a:solidFill>
            <a:srgbClr val="F6F8FA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2104" y="1353312"/>
            <a:ext cx="10680192" cy="1508760"/>
          </a:xfrm>
          <a:prstGeom prst="rect">
            <a:avLst/>
          </a:prstGeom>
          <a:noFill/>
        </p:spPr>
        <p:txBody>
          <a:bodyPr wrap="none" anchor="t" lIns="0" tIns="0" rIns="0" bIns="0">
            <a:spAutoFit/>
          </a:bodyPr>
          <a:lstStyle/>
          <a:p>
            <a:pPr>
              <a:spcAft>
                <a:spcPts val="0"/>
              </a:spcAft>
              <a:defRPr sz="1019">
                <a:solidFill>
                  <a:srgbClr val="111827"/>
                </a:solidFill>
                <a:latin typeface="DejaVu Sans Mono"/>
              </a:defRPr>
            </a:pPr>
            <a:r>
              <a:t>%out, %token = "npu.matmul"(%A, %B, %acc) {</a:t>
            </a:r>
          </a:p>
          <a:p>
            <a:pPr>
              <a:spcAft>
                <a:spcPts val="0"/>
              </a:spcAft>
              <a:defRPr sz="1019">
                <a:solidFill>
                  <a:srgbClr val="111827"/>
                </a:solidFill>
                <a:latin typeface="DejaVu Sans Mono"/>
              </a:defRPr>
            </a:pPr>
            <a:r>
              <a:t>  tile = [16, 16, 64], memory_space = "sram", acc_type = i32</a:t>
            </a:r>
          </a:p>
          <a:p>
            <a:pPr>
              <a:spcAft>
                <a:spcPts val="0"/>
              </a:spcAft>
              <a:defRPr sz="1019">
                <a:solidFill>
                  <a:srgbClr val="111827"/>
                </a:solidFill>
                <a:latin typeface="DejaVu Sans Mono"/>
              </a:defRPr>
            </a:pPr>
            <a:r>
              <a:t>} : (memref&lt;128x64xf16&gt;, memref&lt;64x128xf16&gt;, memref&lt;128x128xi32&gt;)</a:t>
            </a:r>
          </a:p>
          <a:p>
            <a:pPr>
              <a:spcAft>
                <a:spcPts val="0"/>
              </a:spcAft>
              <a:defRPr sz="1019">
                <a:solidFill>
                  <a:srgbClr val="111827"/>
                </a:solidFill>
                <a:latin typeface="DejaVu Sans Mono"/>
              </a:defRPr>
            </a:pPr>
            <a:r>
              <a:t>    -&gt; (memref&lt;128x128xi32&gt;, !npu.token) loc("kernel.mlir":12:3)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3474720"/>
            <a:ext cx="1060704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D9E1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09728" rIns="146304"/>
          <a:lstStyle/>
          <a:p>
            <a:pPr algn="ctr">
              <a:spcAft>
                <a:spcPts val="400"/>
              </a:spcAft>
              <a:defRPr sz="1700">
                <a:solidFill>
                  <a:srgbClr val="1F2937"/>
                </a:solidFill>
                <a:latin typeface="Noto Sans CJK KR"/>
              </a:defRPr>
            </a:pPr>
            <a:r>
              <a:t>• Results, operation name, operands, attributes, operand types, result types, location을 표시</a:t>
            </a:r>
          </a:p>
          <a:p>
            <a:pPr>
              <a:spcAft>
                <a:spcPts val="400"/>
              </a:spcAft>
              <a:defRPr sz="1700">
                <a:solidFill>
                  <a:srgbClr val="1F2937"/>
                </a:solidFill>
                <a:latin typeface="Noto Sans CJK KR"/>
              </a:defRPr>
            </a:pPr>
            <a:r>
              <a:t>• tile과 memory_space가 attribute일 때의 장단점 작성</a:t>
            </a:r>
          </a:p>
          <a:p>
            <a:pPr>
              <a:spcAft>
                <a:spcPts val="400"/>
              </a:spcAft>
              <a:defRPr sz="1700">
                <a:solidFill>
                  <a:srgbClr val="1F2937"/>
                </a:solidFill>
                <a:latin typeface="Noto Sans CJK KR"/>
              </a:defRPr>
            </a:pPr>
            <a:r>
              <a:t>• !npu.token이 필요한 상황을 하나 이상 설명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92240"/>
            <a:ext cx="10972800" cy="22860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750">
                <a:solidFill>
                  <a:srgbClr val="787878"/>
                </a:solidFill>
                <a:latin typeface="Noto Sans CJK KR"/>
              </a:rPr>
              <a:t>MLIR NPU Compiler Course - Lecture 02 |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38560" cy="566928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2500" b="1">
                <a:solidFill>
                  <a:srgbClr val="142B58"/>
                </a:solidFill>
                <a:latin typeface="Noto Sans CJK KR"/>
              </a:rPr>
              <a:t>실습 B: Def-Use Chain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804672"/>
            <a:ext cx="10972800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150">
                <a:solidFill>
                  <a:srgbClr val="606060"/>
                </a:solidFill>
                <a:latin typeface="Noto Sans CJK KR"/>
              </a:rPr>
              <a:t>value table을 작성하고 bufferization 후보를 찾기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60704"/>
            <a:ext cx="11338560" cy="18288"/>
          </a:xfrm>
          <a:prstGeom prst="rect">
            <a:avLst/>
          </a:prstGeom>
          <a:solidFill>
            <a:srgbClr val="CFD8EB"/>
          </a:solidFill>
          <a:ln>
            <a:solidFill>
              <a:srgbClr val="CFD8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10972800" cy="3840480"/>
          </a:xfrm>
          <a:prstGeom prst="roundRect">
            <a:avLst/>
          </a:prstGeom>
          <a:solidFill>
            <a:srgbClr val="FFFFFF"/>
          </a:solidFill>
          <a:ln>
            <a:solidFill>
              <a:srgbClr val="D9E1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09728" rIns="146304"/>
          <a:lstStyle/>
          <a:p>
            <a:pPr algn="ctr">
              <a:spcAft>
                <a:spcPts val="400"/>
              </a:spcAft>
              <a:defRPr sz="1800">
                <a:solidFill>
                  <a:srgbClr val="1F2937"/>
                </a:solidFill>
                <a:latin typeface="Noto Sans CJK KR"/>
              </a:defRPr>
            </a:pPr>
            <a:r>
              <a:t>• 대상 value: %lhs, %rhs, %zero, %init, %filled, %out</a:t>
            </a:r>
          </a:p>
          <a:p>
            <a:pPr>
              <a:spcAft>
                <a:spcPts val="400"/>
              </a:spcAft>
              <a:defRPr sz="1800">
                <a:solidFill>
                  <a:srgbClr val="1F2937"/>
                </a:solidFill>
                <a:latin typeface="Noto Sans CJK KR"/>
              </a:defRPr>
            </a:pPr>
            <a:r>
              <a:t>• 각 value에 대해 definition op, type, use op를 표로 작성</a:t>
            </a:r>
          </a:p>
          <a:p>
            <a:pPr>
              <a:spcAft>
                <a:spcPts val="400"/>
              </a:spcAft>
              <a:defRPr sz="1800">
                <a:solidFill>
                  <a:srgbClr val="1F2937"/>
                </a:solidFill>
                <a:latin typeface="Noto Sans CJK KR"/>
              </a:defRPr>
            </a:pPr>
            <a:r>
              <a:t>• %init/%filled/%out이 같은 buffer로 alias될 수 있는 조건 토론</a:t>
            </a:r>
          </a:p>
          <a:p>
            <a:pPr>
              <a:spcAft>
                <a:spcPts val="400"/>
              </a:spcAft>
              <a:defRPr sz="1800">
                <a:solidFill>
                  <a:srgbClr val="1F2937"/>
                </a:solidFill>
                <a:latin typeface="Noto Sans CJK KR"/>
              </a:defRPr>
            </a:pPr>
            <a:r>
              <a:t>• linalg.fill 제거 또는 matmul init folding 가능 조건 작성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92240"/>
            <a:ext cx="10972800" cy="22860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750">
                <a:solidFill>
                  <a:srgbClr val="787878"/>
                </a:solidFill>
                <a:latin typeface="Noto Sans CJK KR"/>
              </a:rPr>
              <a:t>MLIR NPU Compiler Course - Lecture 02 | 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38560" cy="566928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2500" b="1">
                <a:solidFill>
                  <a:srgbClr val="142B58"/>
                </a:solidFill>
                <a:latin typeface="Noto Sans CJK KR"/>
              </a:rPr>
              <a:t>실습 C: Type / Attribute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804672"/>
            <a:ext cx="10972800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150">
                <a:solidFill>
                  <a:srgbClr val="606060"/>
                </a:solidFill>
                <a:latin typeface="Noto Sans CJK KR"/>
              </a:rPr>
              <a:t>NPU target constraint를 IR에서 찾기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60704"/>
            <a:ext cx="11338560" cy="18288"/>
          </a:xfrm>
          <a:prstGeom prst="rect">
            <a:avLst/>
          </a:prstGeom>
          <a:solidFill>
            <a:srgbClr val="CFD8EB"/>
          </a:solidFill>
          <a:ln>
            <a:solidFill>
              <a:srgbClr val="CFD8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10972800" cy="3886200"/>
          </a:xfrm>
          <a:prstGeom prst="roundRect">
            <a:avLst/>
          </a:prstGeom>
          <a:solidFill>
            <a:srgbClr val="FFFFFF"/>
          </a:solidFill>
          <a:ln>
            <a:solidFill>
              <a:srgbClr val="D9E1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09728" rIns="146304"/>
          <a:lstStyle/>
          <a:p>
            <a:pPr algn="ctr">
              <a:spcAft>
                <a:spcPts val="400"/>
              </a:spcAft>
              <a:defRPr sz="1700">
                <a:solidFill>
                  <a:srgbClr val="1F2937"/>
                </a:solidFill>
                <a:latin typeface="Noto Sans CJK KR"/>
              </a:defRPr>
            </a:pPr>
            <a:r>
              <a:t>• INT8 input, i32 accumulator, INT8 output requant pipeline의 type 변화를 적기</a:t>
            </a:r>
          </a:p>
          <a:p>
            <a:pPr>
              <a:spcAft>
                <a:spcPts val="400"/>
              </a:spcAft>
              <a:defRPr sz="1700">
                <a:solidFill>
                  <a:srgbClr val="1F2937"/>
                </a:solidFill>
                <a:latin typeface="Noto Sans CJK KR"/>
              </a:defRPr>
            </a:pPr>
            <a:r>
              <a:t>• DRAM/SRAM/Accumulator memory space를 type/attribute/descriptor 중 어디에 둘지 결정</a:t>
            </a:r>
          </a:p>
          <a:p>
            <a:pPr>
              <a:spcAft>
                <a:spcPts val="400"/>
              </a:spcAft>
              <a:defRPr sz="1700">
                <a:solidFill>
                  <a:srgbClr val="1F2937"/>
                </a:solidFill>
                <a:latin typeface="Noto Sans CJK KR"/>
              </a:defRPr>
            </a:pPr>
            <a:r>
              <a:t>• Dynamic batch 또는 dynamic sequence length가 있는 경우 operand/descriptor가 필요한 지점 찾기</a:t>
            </a:r>
          </a:p>
          <a:p>
            <a:pPr>
              <a:spcAft>
                <a:spcPts val="400"/>
              </a:spcAft>
              <a:defRPr sz="1700">
                <a:solidFill>
                  <a:srgbClr val="1F2937"/>
                </a:solidFill>
                <a:latin typeface="Noto Sans CJK KR"/>
              </a:defRPr>
            </a:pPr>
            <a:r>
              <a:t>• Verifier rule 3개 작성: shape, element type, tile divisibility 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92240"/>
            <a:ext cx="10972800" cy="22860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750">
                <a:solidFill>
                  <a:srgbClr val="787878"/>
                </a:solidFill>
                <a:latin typeface="Noto Sans CJK KR"/>
              </a:rPr>
              <a:t>MLIR NPU Compiler Course - Lecture 02 | 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38560" cy="566928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2500" b="1">
                <a:solidFill>
                  <a:srgbClr val="142B58"/>
                </a:solidFill>
                <a:latin typeface="Noto Sans CJK KR"/>
              </a:rPr>
              <a:t>Common Mistakes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804672"/>
            <a:ext cx="10972800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150">
                <a:solidFill>
                  <a:srgbClr val="606060"/>
                </a:solidFill>
                <a:latin typeface="Noto Sans CJK KR"/>
              </a:rPr>
              <a:t>초기 MLIR/NPU compiler 개발에서 자주 보이는 문제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60704"/>
            <a:ext cx="11338560" cy="18288"/>
          </a:xfrm>
          <a:prstGeom prst="rect">
            <a:avLst/>
          </a:prstGeom>
          <a:solidFill>
            <a:srgbClr val="CFD8EB"/>
          </a:solidFill>
          <a:ln>
            <a:solidFill>
              <a:srgbClr val="CFD8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10972800" cy="3886200"/>
          </a:xfrm>
          <a:prstGeom prst="roundRect">
            <a:avLst/>
          </a:prstGeom>
          <a:solidFill>
            <a:srgbClr val="FFFFFF"/>
          </a:solidFill>
          <a:ln>
            <a:solidFill>
              <a:srgbClr val="D9E1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09728" rIns="146304"/>
          <a:lstStyle/>
          <a:p>
            <a:pPr algn="ctr">
              <a:spcAft>
                <a:spcPts val="400"/>
              </a:spcAft>
              <a:defRPr sz="1700">
                <a:solidFill>
                  <a:srgbClr val="1F2937"/>
                </a:solidFill>
                <a:latin typeface="Noto Sans CJK KR"/>
              </a:defRPr>
            </a:pPr>
            <a:r>
              <a:t>• runtime 값을 attribute로 고정해 dynamic shape 대응이 불가능해짐</a:t>
            </a:r>
          </a:p>
          <a:p>
            <a:pPr>
              <a:spcAft>
                <a:spcPts val="400"/>
              </a:spcAft>
              <a:defRPr sz="1700">
                <a:solidFill>
                  <a:srgbClr val="1F2937"/>
                </a:solidFill>
                <a:latin typeface="Noto Sans CJK KR"/>
              </a:defRPr>
            </a:pPr>
            <a:r>
              <a:t>• layout/memory space를 type에도 attribute에도 남기지 않아 DMA legality 판단 실패</a:t>
            </a:r>
          </a:p>
          <a:p>
            <a:pPr>
              <a:spcAft>
                <a:spcPts val="400"/>
              </a:spcAft>
              <a:defRPr sz="1700">
                <a:solidFill>
                  <a:srgbClr val="1F2937"/>
                </a:solidFill>
                <a:latin typeface="Noto Sans CJK KR"/>
              </a:defRPr>
            </a:pPr>
            <a:r>
              <a:t>• rewrite 후 old value의 use를 남겨 verifier 실패</a:t>
            </a:r>
          </a:p>
          <a:p>
            <a:pPr>
              <a:spcAft>
                <a:spcPts val="400"/>
              </a:spcAft>
              <a:defRPr sz="1700">
                <a:solidFill>
                  <a:srgbClr val="1F2937"/>
                </a:solidFill>
                <a:latin typeface="Noto Sans CJK KR"/>
              </a:defRPr>
            </a:pPr>
            <a:r>
              <a:t>• location을 잃어 profiling hotspot을 모델 node로 되돌릴 수 없음</a:t>
            </a:r>
          </a:p>
          <a:p>
            <a:pPr>
              <a:spcAft>
                <a:spcPts val="400"/>
              </a:spcAft>
              <a:defRPr sz="1700">
                <a:solidFill>
                  <a:srgbClr val="1F2937"/>
                </a:solidFill>
                <a:latin typeface="Noto Sans CJK KR"/>
              </a:defRPr>
            </a:pPr>
            <a:r>
              <a:t>• custom syntax만 읽고 generic type signature를 놓침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92240"/>
            <a:ext cx="10972800" cy="22860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750">
                <a:solidFill>
                  <a:srgbClr val="787878"/>
                </a:solidFill>
                <a:latin typeface="Noto Sans CJK KR"/>
              </a:rPr>
              <a:t>MLIR NPU Compiler Course - Lecture 02 | 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38560" cy="566928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2500" b="1">
                <a:solidFill>
                  <a:srgbClr val="142B58"/>
                </a:solidFill>
                <a:latin typeface="Noto Sans CJK KR"/>
              </a:rPr>
              <a:t>Mini Quiz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804672"/>
            <a:ext cx="10972800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150">
                <a:solidFill>
                  <a:srgbClr val="606060"/>
                </a:solidFill>
                <a:latin typeface="Noto Sans CJK KR"/>
              </a:rPr>
              <a:t>팀별로 5분 토론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60704"/>
            <a:ext cx="11338560" cy="18288"/>
          </a:xfrm>
          <a:prstGeom prst="rect">
            <a:avLst/>
          </a:prstGeom>
          <a:solidFill>
            <a:srgbClr val="CFD8EB"/>
          </a:solidFill>
          <a:ln>
            <a:solidFill>
              <a:srgbClr val="CFD8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10972800" cy="3886200"/>
          </a:xfrm>
          <a:prstGeom prst="roundRect">
            <a:avLst/>
          </a:prstGeom>
          <a:solidFill>
            <a:srgbClr val="FFFFFF"/>
          </a:solidFill>
          <a:ln>
            <a:solidFill>
              <a:srgbClr val="D9E1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09728" rIns="146304"/>
          <a:lstStyle/>
          <a:p>
            <a:pPr algn="ctr">
              <a:spcAft>
                <a:spcPts val="400"/>
              </a:spcAft>
              <a:defRPr sz="1800">
                <a:solidFill>
                  <a:srgbClr val="1F2937"/>
                </a:solidFill>
                <a:latin typeface="Noto Sans CJK KR"/>
              </a:defRPr>
            </a:pPr>
            <a:r>
              <a:t>• operation result와 block argument의 차이는?</a:t>
            </a:r>
          </a:p>
          <a:p>
            <a:pPr>
              <a:spcAft>
                <a:spcPts val="400"/>
              </a:spcAft>
              <a:defRPr sz="1800">
                <a:solidFill>
                  <a:srgbClr val="1F2937"/>
                </a:solidFill>
                <a:latin typeface="Noto Sans CJK KR"/>
              </a:defRPr>
            </a:pPr>
            <a:r>
              <a:t>• runtime pointer address를 attribute로 두면 왜 위험한가?</a:t>
            </a:r>
          </a:p>
          <a:p>
            <a:pPr>
              <a:spcAft>
                <a:spcPts val="400"/>
              </a:spcAft>
              <a:defRPr sz="1800">
                <a:solidFill>
                  <a:srgbClr val="1F2937"/>
                </a:solidFill>
                <a:latin typeface="Noto Sans CJK KR"/>
              </a:defRPr>
            </a:pPr>
            <a:r>
              <a:t>• tensor&lt;1x128x768xf16&gt;에서 shape와 element type은?</a:t>
            </a:r>
          </a:p>
          <a:p>
            <a:pPr>
              <a:spcAft>
                <a:spcPts val="400"/>
              </a:spcAft>
              <a:defRPr sz="1800">
                <a:solidFill>
                  <a:srgbClr val="1F2937"/>
                </a:solidFill>
                <a:latin typeface="Noto Sans CJK KR"/>
              </a:defRPr>
            </a:pPr>
            <a:r>
              <a:t>• generic assembly가 custom NPU dialect debug에 유리한 이유는?</a:t>
            </a:r>
          </a:p>
          <a:p>
            <a:pPr>
              <a:spcAft>
                <a:spcPts val="400"/>
              </a:spcAft>
              <a:defRPr sz="1800">
                <a:solidFill>
                  <a:srgbClr val="1F2937"/>
                </a:solidFill>
                <a:latin typeface="Noto Sans CJK KR"/>
              </a:defRPr>
            </a:pPr>
            <a:r>
              <a:t>• npu.matmul verifier rule을 하나 제안하라.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92240"/>
            <a:ext cx="10972800" cy="22860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750">
                <a:solidFill>
                  <a:srgbClr val="787878"/>
                </a:solidFill>
                <a:latin typeface="Noto Sans CJK KR"/>
              </a:rPr>
              <a:t>MLIR NPU Compiler Course - Lecture 02 | 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38560" cy="566928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2500" b="1">
                <a:solidFill>
                  <a:srgbClr val="142B58"/>
                </a:solidFill>
                <a:latin typeface="Noto Sans CJK KR"/>
              </a:rPr>
              <a:t>과제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804672"/>
            <a:ext cx="10972800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150">
                <a:solidFill>
                  <a:srgbClr val="606060"/>
                </a:solidFill>
                <a:latin typeface="Noto Sans CJK KR"/>
              </a:rPr>
              <a:t>다음 강의 Region/Block으로 연결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60704"/>
            <a:ext cx="11338560" cy="18288"/>
          </a:xfrm>
          <a:prstGeom prst="rect">
            <a:avLst/>
          </a:prstGeom>
          <a:solidFill>
            <a:srgbClr val="CFD8EB"/>
          </a:solidFill>
          <a:ln>
            <a:solidFill>
              <a:srgbClr val="CFD8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10972800" cy="3886200"/>
          </a:xfrm>
          <a:prstGeom prst="roundRect">
            <a:avLst/>
          </a:prstGeom>
          <a:solidFill>
            <a:srgbClr val="FFFFFF"/>
          </a:solidFill>
          <a:ln>
            <a:solidFill>
              <a:srgbClr val="D9E1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09728" rIns="146304"/>
          <a:lstStyle/>
          <a:p>
            <a:pPr algn="ctr">
              <a:spcAft>
                <a:spcPts val="400"/>
              </a:spcAft>
              <a:defRPr sz="1700">
                <a:solidFill>
                  <a:srgbClr val="1F2937"/>
                </a:solidFill>
                <a:latin typeface="Noto Sans CJK KR"/>
              </a:defRPr>
            </a:pPr>
            <a:r>
              <a:t>• 작은 MatMul/Add/ReLU 그래프를 StableHLO 또는 TOSA 스타일로 작성하고 op/value/type/attribute 표를 만든다.</a:t>
            </a:r>
          </a:p>
          <a:p>
            <a:pPr>
              <a:spcAft>
                <a:spcPts val="400"/>
              </a:spcAft>
              <a:defRPr sz="1700">
                <a:solidFill>
                  <a:srgbClr val="1F2937"/>
                </a:solidFill>
                <a:latin typeface="Noto Sans CJK KR"/>
              </a:defRPr>
            </a:pPr>
            <a:r>
              <a:t>• 같은 연산을 Linalg-on-Tensors로 표현할 때 type/attribute 변화 설명</a:t>
            </a:r>
          </a:p>
          <a:p>
            <a:pPr>
              <a:spcAft>
                <a:spcPts val="400"/>
              </a:spcAft>
              <a:defRPr sz="1700">
                <a:solidFill>
                  <a:srgbClr val="1F2937"/>
                </a:solidFill>
                <a:latin typeface="Noto Sans CJK KR"/>
              </a:defRPr>
            </a:pPr>
            <a:r>
              <a:t>• npu.matmul, npu.dma, npu.barrier pseudo op를 generic assembly 스타일로 설계</a:t>
            </a:r>
          </a:p>
          <a:p>
            <a:pPr>
              <a:spcAft>
                <a:spcPts val="400"/>
              </a:spcAft>
              <a:defRPr sz="1700">
                <a:solidFill>
                  <a:srgbClr val="1F2937"/>
                </a:solidFill>
                <a:latin typeface="Noto Sans CJK KR"/>
              </a:defRPr>
            </a:pPr>
            <a:r>
              <a:t>• Region/Block이 필요한 op를 3개 찾고 이유 설명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92240"/>
            <a:ext cx="10972800" cy="22860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750">
                <a:solidFill>
                  <a:srgbClr val="787878"/>
                </a:solidFill>
                <a:latin typeface="Noto Sans CJK KR"/>
              </a:rPr>
              <a:t>MLIR NPU Compiler Course - Lecture 02 | 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38560" cy="566928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2500" b="1">
                <a:solidFill>
                  <a:srgbClr val="142B58"/>
                </a:solidFill>
                <a:latin typeface="Noto Sans CJK KR"/>
              </a:rPr>
              <a:t>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804672"/>
            <a:ext cx="10972800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150">
                <a:solidFill>
                  <a:srgbClr val="606060"/>
                </a:solidFill>
                <a:latin typeface="Noto Sans CJK KR"/>
              </a:rPr>
              <a:t>2강에서 반드시 가져갈 것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60704"/>
            <a:ext cx="11338560" cy="18288"/>
          </a:xfrm>
          <a:prstGeom prst="rect">
            <a:avLst/>
          </a:prstGeom>
          <a:solidFill>
            <a:srgbClr val="CFD8EB"/>
          </a:solidFill>
          <a:ln>
            <a:solidFill>
              <a:srgbClr val="CFD8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10972800" cy="3886200"/>
          </a:xfrm>
          <a:prstGeom prst="roundRect">
            <a:avLst/>
          </a:prstGeom>
          <a:solidFill>
            <a:srgbClr val="FFFFFF"/>
          </a:solidFill>
          <a:ln>
            <a:solidFill>
              <a:srgbClr val="D9E1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09728" rIns="146304"/>
          <a:lstStyle/>
          <a:p>
            <a:pPr algn="ctr">
              <a:spcAft>
                <a:spcPts val="400"/>
              </a:spcAft>
              <a:defRPr sz="1800">
                <a:solidFill>
                  <a:srgbClr val="1F2937"/>
                </a:solidFill>
                <a:latin typeface="Noto Sans CJK KR"/>
              </a:defRPr>
            </a:pPr>
            <a:r>
              <a:t>• Operation은 MLIR transformation의 기본 단위입니다.</a:t>
            </a:r>
          </a:p>
          <a:p>
            <a:pPr>
              <a:spcAft>
                <a:spcPts val="400"/>
              </a:spcAft>
              <a:defRPr sz="1800">
                <a:solidFill>
                  <a:srgbClr val="1F2937"/>
                </a:solidFill>
                <a:latin typeface="Noto Sans CJK KR"/>
              </a:defRPr>
            </a:pPr>
            <a:r>
              <a:t>• Value는 SSA handle이고, Type은 그 value의 의미 계약입니다.</a:t>
            </a:r>
          </a:p>
          <a:p>
            <a:pPr>
              <a:spcAft>
                <a:spcPts val="400"/>
              </a:spcAft>
              <a:defRPr sz="1800">
                <a:solidFill>
                  <a:srgbClr val="1F2937"/>
                </a:solidFill>
                <a:latin typeface="Noto Sans CJK KR"/>
              </a:defRPr>
            </a:pPr>
            <a:r>
              <a:t>• Attribute는 compile-time metadata이며 runtime 값과 분리해야 합니다.</a:t>
            </a:r>
          </a:p>
          <a:p>
            <a:pPr>
              <a:spcAft>
                <a:spcPts val="400"/>
              </a:spcAft>
              <a:defRPr sz="1800">
                <a:solidFill>
                  <a:srgbClr val="1F2937"/>
                </a:solidFill>
                <a:latin typeface="Noto Sans CJK KR"/>
              </a:defRPr>
            </a:pPr>
            <a:r>
              <a:t>• Generic assembly를 읽으면 op 구조가 명확해집니다.</a:t>
            </a:r>
          </a:p>
          <a:p>
            <a:pPr>
              <a:spcAft>
                <a:spcPts val="400"/>
              </a:spcAft>
              <a:defRPr sz="1800">
                <a:solidFill>
                  <a:srgbClr val="1F2937"/>
                </a:solidFill>
                <a:latin typeface="Noto Sans CJK KR"/>
              </a:defRPr>
            </a:pPr>
            <a:r>
              <a:t>• NPU compiler의 fusion/tiling/bufferization/memory planning은 모두 이 구조에서 출발합니다.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92240"/>
            <a:ext cx="10972800" cy="22860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750">
                <a:solidFill>
                  <a:srgbClr val="787878"/>
                </a:solidFill>
                <a:latin typeface="Noto Sans CJK KR"/>
              </a:rPr>
              <a:t>MLIR NPU Compiler Course - Lecture 02 | 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38560" cy="566928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2500" b="1">
                <a:solidFill>
                  <a:srgbClr val="142B58"/>
                </a:solidFill>
                <a:latin typeface="Noto Sans CJK KR"/>
              </a:rPr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804672"/>
            <a:ext cx="10972800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150">
                <a:solidFill>
                  <a:srgbClr val="606060"/>
                </a:solidFill>
                <a:latin typeface="Noto Sans CJK KR"/>
              </a:rPr>
              <a:t>공식 문서 중심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60704"/>
            <a:ext cx="11338560" cy="18288"/>
          </a:xfrm>
          <a:prstGeom prst="rect">
            <a:avLst/>
          </a:prstGeom>
          <a:solidFill>
            <a:srgbClr val="CFD8EB"/>
          </a:solidFill>
          <a:ln>
            <a:solidFill>
              <a:srgbClr val="CFD8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10972800" cy="2971800"/>
          </a:xfrm>
          <a:prstGeom prst="roundRect">
            <a:avLst/>
          </a:prstGeom>
          <a:solidFill>
            <a:srgbClr val="FFFFFF"/>
          </a:solidFill>
          <a:ln>
            <a:solidFill>
              <a:srgbClr val="D9E1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09728" rIns="146304"/>
          <a:lstStyle/>
          <a:p>
            <a:pPr algn="ctr">
              <a:spcAft>
                <a:spcPts val="400"/>
              </a:spcAft>
              <a:defRPr sz="1800">
                <a:solidFill>
                  <a:srgbClr val="1F2937"/>
                </a:solidFill>
                <a:latin typeface="Noto Sans CJK KR"/>
              </a:defRPr>
            </a:pPr>
            <a:r>
              <a:t>• MLIR Language Reference</a:t>
            </a:r>
          </a:p>
          <a:p>
            <a:pPr>
              <a:spcAft>
                <a:spcPts val="400"/>
              </a:spcAft>
              <a:defRPr sz="1800">
                <a:solidFill>
                  <a:srgbClr val="1F2937"/>
                </a:solidFill>
                <a:latin typeface="Noto Sans CJK KR"/>
              </a:defRPr>
            </a:pPr>
            <a:r>
              <a:t>• Understanding the IR Structure</a:t>
            </a:r>
          </a:p>
          <a:p>
            <a:pPr>
              <a:spcAft>
                <a:spcPts val="400"/>
              </a:spcAft>
              <a:defRPr sz="1800">
                <a:solidFill>
                  <a:srgbClr val="1F2937"/>
                </a:solidFill>
                <a:latin typeface="Noto Sans CJK KR"/>
              </a:defRPr>
            </a:pPr>
            <a:r>
              <a:t>• Toy Tutorial Chapter 2: Emitting Basic MLIR</a:t>
            </a:r>
          </a:p>
          <a:p>
            <a:pPr>
              <a:spcAft>
                <a:spcPts val="400"/>
              </a:spcAft>
              <a:defRPr sz="1800">
                <a:solidFill>
                  <a:srgbClr val="1F2937"/>
                </a:solidFill>
                <a:latin typeface="Noto Sans CJK KR"/>
              </a:defRPr>
            </a:pPr>
            <a:r>
              <a:t>• Builtin Dialect</a:t>
            </a:r>
          </a:p>
          <a:p>
            <a:pPr>
              <a:spcAft>
                <a:spcPts val="400"/>
              </a:spcAft>
              <a:defRPr sz="1800">
                <a:solidFill>
                  <a:srgbClr val="1F2937"/>
                </a:solidFill>
                <a:latin typeface="Noto Sans CJK KR"/>
              </a:defRPr>
            </a:pPr>
            <a:r>
              <a:t>• Func Dialect</a:t>
            </a:r>
          </a:p>
          <a:p>
            <a:pPr>
              <a:spcAft>
                <a:spcPts val="400"/>
              </a:spcAft>
              <a:defRPr sz="1800">
                <a:solidFill>
                  <a:srgbClr val="1F2937"/>
                </a:solidFill>
                <a:latin typeface="Noto Sans CJK KR"/>
              </a:defRPr>
            </a:pPr>
            <a:r>
              <a:t>• Linalg Dialect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92240"/>
            <a:ext cx="10972800" cy="22860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750">
                <a:solidFill>
                  <a:srgbClr val="787878"/>
                </a:solidFill>
                <a:latin typeface="Noto Sans CJK KR"/>
              </a:rPr>
              <a:t>MLIR NPU Compiler Course - Lecture 02 | 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