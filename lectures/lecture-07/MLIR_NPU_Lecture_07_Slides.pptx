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C71B4"/>
                </a:solidFill>
                <a:latin typeface="Noto Sans CJK KR"/>
              </a:rPr>
              <a:t>Lecture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1A2E54"/>
                </a:solidFill>
                <a:latin typeface="Noto Sans CJK KR"/>
              </a:rPr>
              <a:t>Linalg-on-Tensors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05864"/>
                </a:solidFill>
                <a:latin typeface="Noto Sans CJK KR"/>
              </a:rPr>
              <a:t>linalg.generic MatMul/Conv 표현과 NPU compiler lowering 관점</a:t>
            </a:r>
          </a:p>
        </p:txBody>
      </p:sp>
      <p:pic>
        <p:nvPicPr>
          <p:cNvPr id="7" name="Picture 6" descr="MLIR_NPU_Lecture_07_Linal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657600"/>
            <a:ext cx="10332720" cy="58121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오늘의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4"/>
                </a:solidFill>
                <a:latin typeface="Noto Sans CJK KR"/>
              </a:rPr>
              <a:t>StableHLO/TOSA 이후, Bufferization 이전의 핵심 중간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1-6강: MLIR IR 기본 구조, dialect, tooling, StableHLO/TOSA 입력 IR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7강: high-level tensor op를 structured compute IR인 Linalg로 표현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8강 이후: SCF/Affine loop, pass, rewrite, bufferization, vector, custom NPU dialect로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Linalg-on-Tensors가 NPU compiler에서 왜 중요한지 설명한다.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`linalg.generic`의 네 가지 핵심 필드를 읽는다.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MatMul을 indexing_maps와 iterator_types로 직접 표현한다.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Conv2D NHWC/HWCF를 loop domain과 access map으로 표현한다.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tile footprint, accumulator pressure, epilogue fusion 후보를 도출한다.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Linalg-on-Tensors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4"/>
                </a:solidFill>
                <a:latin typeface="Noto Sans CJK KR"/>
              </a:rPr>
              <a:t>Structured compute IR before bufferization and hardware lowering</a:t>
            </a:r>
          </a:p>
        </p:txBody>
      </p:sp>
      <p:pic>
        <p:nvPicPr>
          <p:cNvPr id="6" name="Picture 5" descr="MLIR_NPU_Lecture_07_Linal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10881360" cy="6120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왜 Linalg가 NPU에 중요한가?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Op 이름만으로는 SRAM footprint, halo, accumulator lifetime을 알기 어렵다.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Linalg는 loop/data mapping을 affine map과 iterator로 명시한다.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Tensor result는 physical storage 결정을 늦추고, fusion/tiling 여지를 유지한다.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NPU compiler는 Linalg 단계에서 PE mapping과 memory traffic을 추정할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Tensor value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Tensor result는 값처럼 취급된다: mutation을 직접 노출하지 않는다.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`outs` operand는 결과 shape와 destination contract를 제공한다.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Bufferization 단계에서 실제 memref allocation, alias, in-place update를 결정한다.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NPU backend는 layout/memory space 결정을 너무 일찍 고정하지 않는 것이 중요하다.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Destination style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5166360"/>
          </a:xfrm>
          <a:prstGeom prst="roundRect">
            <a:avLst/>
          </a:prstGeom>
          <a:solidFill>
            <a:srgbClr val="F8F9FB"/>
          </a:solidFill>
          <a:ln>
            <a:solidFill>
              <a:srgbClr val="1A2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1E2127"/>
                </a:solidFill>
                <a:latin typeface="DejaVu Sans Mono"/>
              </a:defRPr>
            </a:pPr>
            <a:r>
              <a:t>%init = tensor.empty() : tensor&lt;8x32xf32&gt;</a:t>
            </a:r>
          </a:p>
          <a:p>
            <a:pPr>
              <a:spcAft>
                <a:spcPts val="0"/>
              </a:spcAft>
              <a:defRPr sz="1400">
                <a:solidFill>
                  <a:srgbClr val="1E2127"/>
                </a:solidFill>
                <a:latin typeface="DejaVu Sans Mono"/>
              </a:defRPr>
            </a:pPr>
            <a:r>
              <a:t>%zero = linalg.fill ins(%c0 : f32)</a:t>
            </a:r>
          </a:p>
          <a:p>
            <a:pPr>
              <a:spcAft>
                <a:spcPts val="0"/>
              </a:spcAft>
              <a:defRPr sz="1400">
                <a:solidFill>
                  <a:srgbClr val="1E2127"/>
                </a:solidFill>
                <a:latin typeface="DejaVu Sans Mono"/>
              </a:defRPr>
            </a:pPr>
            <a:r>
              <a:t>                   outs(%init : tensor&lt;8x32xf32&gt;) -&gt; tensor&lt;8x32xf32&gt;</a:t>
            </a:r>
          </a:p>
          <a:p>
            <a:pPr>
              <a:spcAft>
                <a:spcPts val="0"/>
              </a:spcAft>
              <a:defRPr sz="1400">
                <a:solidFill>
                  <a:srgbClr val="1E2127"/>
                </a:solidFill>
                <a:latin typeface="DejaVu Sans Mono"/>
              </a:defRPr>
            </a:pPr>
            <a:r>
              <a:t>%C = linalg.matmul ins(%A, %B : tensor&lt;8x16xf32&gt;, tensor&lt;16x32xf32&gt;)</a:t>
            </a:r>
          </a:p>
          <a:p>
            <a:pPr>
              <a:spcAft>
                <a:spcPts val="0"/>
              </a:spcAft>
              <a:defRPr sz="1400">
                <a:solidFill>
                  <a:srgbClr val="1E2127"/>
                </a:solidFill>
                <a:latin typeface="DejaVu Sans Mono"/>
              </a:defRPr>
            </a:pPr>
            <a:r>
              <a:t>                   outs(%zero : tensor&lt;8x32xf32&gt;) -&gt; tensor&lt;8x32xf32&gt;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Named op vs linalg.generic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Named op: `linalg.matmul`, `linalg.conv_2d_nhwc_hwcf`처럼 common pattern을 짧게 표현한다.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Generic op: indexing map, iterator type, scalar payload가 모두 드러난다.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NPU compiler는 named op로 빠르게 pattern match하고, generic으로 일반화해 schedule analysis를 수행할 수 있다.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너무 빨리 loop로 낮추면 fusion/vectorization 기회가 사라진다.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linalg.generic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4"/>
                </a:solidFill>
                <a:latin typeface="Noto Sans CJK KR"/>
              </a:rPr>
              <a:t>indexing_maps + iterator_types + ins/outs + region body</a:t>
            </a:r>
          </a:p>
        </p:txBody>
      </p:sp>
      <p:pic>
        <p:nvPicPr>
          <p:cNvPr id="6" name="Picture 5" descr="MLIR_NPU_Lecture_07_Linalg_Generic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10881360" cy="6460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linalg.generic Field Checklist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09728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필드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의미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NPU 질문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indexing_maps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Loop IV -&gt; operand index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tile footprint는?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iterator_types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parallel/reduction semantics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PE mapping과 accumulator는?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ins/outs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input/result shape contract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output tile과 destination은?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region body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scalar compute payload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epilogue fusion 가능한가?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indexing_maps 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MatMul: A(m,k), B(k,n), C(m,n)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Conv: input(n,oh+kh,ow+kw,c), filter(kh,kw,c,f), output(n,oh,ow,f)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Affine map은 tile이 읽고 쓰는 tensor subset을 계산하는 근거다.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Stride/dilation/padding이 들어오면 input map과 boundary 처리 policy가 중요해진다.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iterator_types 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parallel: 서로 다른 output element 또는 independent update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reduction: 같은 output element에 누적되는 dimension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NPU에서 reduction loop는 accumulator lifetime과 partial sum storage를 결정한다.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잘못된 iterator classification은 race, atomic 필요, 잘못된 fusion legality로 이어진다.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Named MatMul / Conv 예제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5166360"/>
          </a:xfrm>
          <a:prstGeom prst="roundRect">
            <a:avLst/>
          </a:prstGeom>
          <a:solidFill>
            <a:srgbClr val="F8F9FB"/>
          </a:solidFill>
          <a:ln>
            <a:solidFill>
              <a:srgbClr val="1A2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func.func @named_ops(%A: tensor&lt;8x16xf32&gt;,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                 %B: tensor&lt;16x32xf32&gt;,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                 %input: tensor&lt;1x30x30x16xf32&gt;,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                 %filter: tensor&lt;3x3x16x32xf32&gt;)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-&gt; (tensor&lt;8x32xf32&gt;, tensor&lt;1x28x28x32xf32&gt;) {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%c0 = arith.constant 0.0 : f32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%mm_init = tensor.empty() : tensor&lt;8x32xf32&gt;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%mm_zero = linalg.fill ins(%c0 : f32)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                        outs(%mm_init : tensor&lt;8x32xf32&gt;) -&gt; tensor&lt;8x32xf32&gt;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%mm = linalg.matmul ins(%A, %B : tensor&lt;8x16xf32&gt;, tensor&lt;16x32xf32&gt;)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                  outs(%mm_zero : tensor&lt;8x32xf32&gt;) -&gt; tensor&lt;8x32xf32&gt;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%cv_init = tensor.empty() : tensor&lt;1x28x28x32xf32&gt;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%cv_zero = linalg.fill ins(%c0 : f32)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                        outs(%cv_init : tensor&lt;1x28x28x32xf32&gt;)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                        -&gt; tensor&lt;1x28x28x32xf32&gt;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%cv = linalg.conv_2d_nhwc_hwcf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      ins(%input, %filter : tensor&lt;1x30x30x16xf32&gt;, tensor&lt;3x3x16x32xf32&gt;)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        outs(%cv_zero : tensor&lt;1x28x28x32xf32&gt;) -&gt; tensor&lt;1x28x28x32xf32&gt;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  return %mm, %cv : tensor&lt;8x32xf32&gt;, tensor&lt;1x28x28x32xf32&gt;</a:t>
            </a:r>
          </a:p>
          <a:p>
            <a:pPr>
              <a:spcAft>
                <a:spcPts val="0"/>
              </a:spcAft>
              <a:defRPr sz="750">
                <a:solidFill>
                  <a:srgbClr val="1E2127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MatMul Indexing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4"/>
                </a:solidFill>
                <a:latin typeface="Noto Sans CJK KR"/>
              </a:rPr>
              <a:t>C(m,n) += A(m,k) * B(k,n)</a:t>
            </a:r>
          </a:p>
        </p:txBody>
      </p:sp>
      <p:pic>
        <p:nvPicPr>
          <p:cNvPr id="6" name="Picture 5" descr="MLIR_NPU_Lecture_07_MatMul_Indexing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10881360" cy="6120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MatMul as linalg.generic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5166360"/>
          </a:xfrm>
          <a:prstGeom prst="roundRect">
            <a:avLst/>
          </a:prstGeom>
          <a:solidFill>
            <a:srgbClr val="F8F9FB"/>
          </a:solidFill>
          <a:ln>
            <a:solidFill>
              <a:srgbClr val="1A2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#matmul_trait = {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indexing_maps = [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affine_map&lt;(m, n, k) -&gt; (m, k)&gt;,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affine_map&lt;(m, n, k) -&gt; (k, n)&gt;,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affine_map&lt;(m, n, k) -&gt; (m, n)&gt;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],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iterator_types = ["parallel", "parallel", "reduction"]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func.func @matmul_generic(%A: tensor&lt;8x16xf32&gt;,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                      %B: tensor&lt;16x32xf32&gt;) -&gt; tensor&lt;8x32xf32&gt; {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%c0 = arith.constant 0.0 : f32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%init = tensor.empty() : tensor&lt;8x32xf32&gt;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%zero = linalg.fill ins(%c0 : f32)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                     outs(%init : tensor&lt;8x32xf32&gt;) -&gt; tensor&lt;8x32xf32&gt;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%C = linalg.generic #matmul_trait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ins(%A, %B : tensor&lt;8x16xf32&gt;, tensor&lt;16x32xf32&gt;)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outs(%zero : tensor&lt;8x32xf32&gt;) {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^bb0(%a: f32, %b: f32, %c: f32):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%p = arith.mulf %a, %b : f32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%s = arith.addf %c, %p : f32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  linalg.yield %s : f32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} -&gt; tensor&lt;8x32xf32&gt;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  return %C : tensor&lt;8x32xf32&gt;</a:t>
            </a:r>
          </a:p>
          <a:p>
            <a:pPr>
              <a:spcAft>
                <a:spcPts val="0"/>
              </a:spcAft>
              <a:defRPr sz="740">
                <a:solidFill>
                  <a:srgbClr val="1E2127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MatMul Loop Classification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0972800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Loop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역할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Iterator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NPU mapping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output row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parallel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PE rows / M tile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output column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parallel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PE cols / N tile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dot product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reduction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K streaming / accumulator reuse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MatMul NPU schedule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M/N tile은 PE array를 충분히 채우는가?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K tile은 accumulator capacity와 SRAM bandwidth에 맞는가?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A/B tile을 double-buffering할 때 DMA burst가 정렬되는가?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Bias/ReLU/Requant가 matmul epilogue로 fusion 가능한가?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Output layout이 다음 op의 preferred layout과 호환되는가?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Conv2D NHWC/HWCF Indexing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4"/>
                </a:solidFill>
                <a:latin typeface="Noto Sans CJK KR"/>
              </a:rPr>
              <a:t>Output axes are parallel; filter/input-channel axes are reductions</a:t>
            </a:r>
          </a:p>
        </p:txBody>
      </p:sp>
      <p:pic>
        <p:nvPicPr>
          <p:cNvPr id="6" name="Picture 5" descr="MLIR_NPU_Lecture_07_Conv_NHWC_HWCF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10881360" cy="6460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Conv2D NHWC/HWCF as linalg.generic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5166360"/>
          </a:xfrm>
          <a:prstGeom prst="roundRect">
            <a:avLst/>
          </a:prstGeom>
          <a:solidFill>
            <a:srgbClr val="F8F9FB"/>
          </a:solidFill>
          <a:ln>
            <a:solidFill>
              <a:srgbClr val="1A2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#conv_trait = {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indexing_maps = [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affine_map&lt;(n, oh, ow, f, kh, kw, c) -&gt; (n, oh + kh, ow + kw, c)&gt;,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affine_map&lt;(n, oh, ow, f, kh, kw, c) -&gt; (kh, kw, c, f)&gt;,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affine_map&lt;(n, oh, ow, f, kh, kw, c) -&gt; (n, oh, ow, f)&gt;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],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iterator_types = ["parallel", "parallel", "parallel", "parallel",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                "reduction", "reduction", "reduction"]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func.func @conv2d_nhwc_hwcf_generic(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%input: tensor&lt;1x30x30x16xf32&gt;,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%filter: tensor&lt;3x3x16x32xf32&gt;) -&gt; tensor&lt;1x28x28x32xf32&gt; {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%c0 = arith.constant 0.0 : f32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%init = tensor.empty() : tensor&lt;1x28x28x32xf32&gt;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%zero = linalg.fill ins(%c0 : f32)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                     outs(%init : tensor&lt;1x28x28x32xf32&gt;)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                     -&gt; tensor&lt;1x28x28x32xf32&gt;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%out = linalg.generic #conv_trait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ins(%input, %filter : tensor&lt;1x30x30x16xf32&gt;, tensor&lt;3x3x16x32xf32&gt;)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outs(%zero : tensor&lt;1x28x28x32xf32&gt;) {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^bb0(%x: f32, %w: f32, %acc: f32):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%p = arith.mulf %x, %w : f32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%s = arith.addf %acc, %p : f32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  linalg.yield %s : f32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} -&gt; tensor&lt;1x28x28x32xf32&gt;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  return %out : tensor&lt;1x28x28x32xf32&gt;</a:t>
            </a:r>
          </a:p>
          <a:p>
            <a:pPr>
              <a:spcAft>
                <a:spcPts val="0"/>
              </a:spcAft>
              <a:defRPr sz="690">
                <a:solidFill>
                  <a:srgbClr val="1E2127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Conv Loop Classification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0972800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Loop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의미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Iterator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NPU 관점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batch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parallel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outer parallelism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oh/ow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output spatial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parallel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spatial tile + halo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f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output channel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parallel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channel tile / PE mapping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kh/kw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kernel taps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reduction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filter loop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input channel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reduction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MAC depth / SRAM traffic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Conv tile footprint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Output tile OH=8, OW=8, F=16, KH=3, KW=3, C=16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Input halo tile: (8+3-1) x (8+3-1) x 16 = 1600 elements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Filter tile: 3 x 3 x 16 x 16 = 2304 elements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Output tile: 8 x 8 x 16 = 1024 elements; accumulator byte width may be larger than input dtype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Linalg to NPU Kernel Candidate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774"/>
                </a:solidFill>
                <a:latin typeface="Noto Sans CJK KR"/>
              </a:rPr>
              <a:t>Canonicalize -&gt; generalize -&gt; tile/fuse/promote -&gt; bufferize -&gt; lower</a:t>
            </a:r>
          </a:p>
        </p:txBody>
      </p:sp>
      <p:pic>
        <p:nvPicPr>
          <p:cNvPr id="6" name="Picture 5" descr="MLIR_NPU_Lecture_07_NPU_Linalg_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10881360" cy="6120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Fusion candidates at Linalg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MatMul + Bias + Activation: best treated as epilogue fusion when legal.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Conv + Bias + ReLU/Requant: avoids output DRAM round-trip.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Elementwise producer feeding contraction may be fused if tile footprint does not explode.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Reduction producers/consumers need careful legality checks and sometimes remain separate.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Linalg Audit Checklist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0972800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질문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IR 위치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KR"/>
                        </a:defRPr>
                      </a:pPr>
                      <a:r>
                        <a:t>NPU risk</a:t>
                      </a:r>
                    </a:p>
                  </a:txBody>
                  <a:tcPr marL="73152" marR="73152" marT="36576" marB="36576">
                    <a:solidFill>
                      <a:srgbClr val="1A2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dynamic shape?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tensor type / tensor.dim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runtime descriptor 복잡도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iterator correct?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iterator_types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race / wrong reduction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layout conflict?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indexing_maps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late transpose/copy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fusion legal?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producer/consumer chain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DRAM traffic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SRAM fit?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maps + tile sizes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7"/>
                          </a:solidFill>
                          <a:latin typeface="Noto Sans CJK KR"/>
                        </a:defRPr>
                      </a:pPr>
                      <a:r>
                        <a:t>spill / poor DMA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좋은 lowering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StableHLO/TOSA: semantic correctness와 decomposition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Linalg-on-Tensors: structured schedule search, fusion, tile footprint analysis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Bufferization/MemRef: memory space, alias, lifetime, layout materialization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SCF/Vector/NPU dialect: loops, vector.contract, DMA, barrier, command buffer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Named op만 보고 access map을 검증하지 않는다.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Reduction loop를 parallel로 취급해 accumulator semantics를 깨뜨린다.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Conv halo를 무시하고 SRAM footprint를 과소평가한다.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Tensor 단계에서 hardware-specific layout을 너무 일찍 고정한다.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Bufferization 이후에야 fusion 기회를 찾으려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Exercise A - 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MatMul generic IR에서 `indexing_maps`의 세 map을 각각 A/B/C에 연결한다.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Loop domain과 iterator_types를 표로 작성한다.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region argument `%a`, `%b`, `%c`가 어떤 scalar element인지 표시한다.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`linalg.yield`가 어떤 output element update를 의미하는지 설명한다.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Exercise B - Write MatMul generic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M=64, N=128, K=256인 tensor-based MatMul generic을 작성한다.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필수 포함: tensor.empty, linalg.fill, indexing_maps, iterator_types, region body.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NPU 질문: M/N/K tile 후보를 두 개 이상 제안하고, SRAM/accumulator tradeoff를 적는다.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Exercise C - Write Conv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Input 1x30x30x16, Filter 3x3x16x32, Output 1x28x28x32를 사용한다.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Loop domain: n, oh, ow, f, kh, kw, c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Input/Filter/Output indexing map을 작성한다.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Output tile 8x8x16의 input halo, filter tile, accumulator size를 계산한다.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MatMul + Bias + ReLU를 Linalg-on-Tensors로 표현하고 fusion 후보를 표시한다.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Conv2D stride=2 case의 input indexing map을 작성한다.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자신의 NPU에서 지원할 named op와 generic fallback policy를 정리한다.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다음 강의 전까지 `linalg.generic`을 `scf.for` loop로 수동 lower한 pseudo IR을 작성한다.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Linalg-on-Tensors는 NPU compiler의 scheduling IR로 매우 중요하다.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`linalg.generic`은 maps, iterators, operands, region으로 읽으면 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MatMul과 Conv는 parallel/reduction loop 구분이 성능과 정확성을 모두 좌우한다.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Tile footprint, halo, accumulator pressure, epilogue fusion은 Linalg 단계에서 봐야 한다.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8강에서는 이 구조를 SCF/Affine loop로 낮추는 방법을 다룬다.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E54"/>
                </a:solidFill>
                <a:latin typeface="Noto Sans CJK KR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MLIR Linalg Dialect: https://mlir.llvm.org/docs/Dialects/Linalg/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Structured Linalg Tutorial: https://mlir.llvm.org/docs/Tutorials/transform/Ch0/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MLIR Tensor Dialect: https://mlir.llvm.org/docs/Dialects/TensorOps/</a:t>
            </a:r>
          </a:p>
          <a:p>
            <a:pPr>
              <a:spcAft>
                <a:spcPts val="800"/>
              </a:spcAft>
              <a:defRPr sz="1800">
                <a:solidFill>
                  <a:srgbClr val="1E2127"/>
                </a:solidFill>
                <a:latin typeface="Noto Sans CJK KR"/>
              </a:defRPr>
            </a:pPr>
            <a:r>
              <a:t>MLIR Passes: https://mlir.llvm.org/docs/Passes/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A87"/>
                </a:solidFill>
                <a:latin typeface="Noto Sans CJK KR"/>
              </a:rPr>
              <a:t>MLIR NPU Compiler Course | Lecture 07 |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