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C3960"/>
                </a:solidFill>
                <a:latin typeface="Noto Sans CJK KR"/>
              </a:rPr>
              <a:t>MLIR NPU Compiler - Lecture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066BE"/>
                </a:solidFill>
                <a:latin typeface="Noto Sans CJK KR"/>
              </a:rPr>
              <a:t>StableHLO, TOSA, and AI Model Input IR</a:t>
            </a:r>
          </a:p>
        </p:txBody>
      </p:sp>
      <p:pic>
        <p:nvPicPr>
          <p:cNvPr id="4" name="Picture 3" descr="MLIR_NPU_Lecture_06_StableHLO_TOSA_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423160"/>
            <a:ext cx="996696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355080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C6370"/>
                </a:solidFill>
                <a:latin typeface="Noto Sans CJK KR"/>
              </a:rPr>
              <a:t>핵심 실습: LayerNorm/GELU primitive decomposition 및 NPU legal op audit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960"/>
                </a:solidFill>
                <a:latin typeface="Noto Sans CJK KR"/>
              </a:rPr>
              <a:t>오늘의 위치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C6370"/>
                </a:solidFill>
                <a:latin typeface="Noto Sans CJK KR"/>
              </a:rPr>
              <a:t>5강 Dialect 시스템 이후, 실제 AI model input IR로 들어간다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LIR_NPU_Lecture_06_StableHLO_TOSA_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1083564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960"/>
                </a:solidFill>
                <a:latin typeface="Noto Sans CJK KR"/>
              </a:rPr>
              <a:t>Learning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0652760" cy="4892040"/>
          </a:xfrm>
          <a:prstGeom prst="roundRect">
            <a:avLst/>
          </a:prstGeom>
          <a:solidFill>
            <a:srgbClr val="F7FAFD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18872" tIns="109728" bIns="73152"/>
          <a:lstStyle/>
          <a:p>
            <a:pPr algn="ctr"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StableHLO와 TOSA가 NPU compiler input IR로 쓰이는 이유를 설명한다.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StableHLO/TOSA의 abstraction level, op semantics, legalization boundary를 비교한다.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LayerNorm과 GELU를 primitive operation graph로 분해한다.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NPU legal op set 기준으로 unsupported op, fallback, fusion candidate를 audit한다.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MatMul + Bias + GELU, LayerNorm subgraph의 decomposition/fusion policy를 설계한다.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960"/>
                </a:solidFill>
                <a:latin typeface="Noto Sans CJK KR"/>
              </a:rPr>
              <a:t>왜 Input IR이 중요한가?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BE4646"/>
                </a:solidFill>
                <a:latin typeface="Noto Sans CJK KR"/>
              </a:rPr>
              <a:t>Bad /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5257800" cy="4343400"/>
          </a:xfrm>
          <a:prstGeom prst="roundRect">
            <a:avLst/>
          </a:prstGeom>
          <a:solidFill>
            <a:srgbClr val="FFEEEE"/>
          </a:solidFill>
          <a:ln>
            <a:solidFill>
              <a:srgbClr val="BE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18872" tIns="109728" bIns="73152"/>
          <a:lstStyle/>
          <a:p>
            <a:pPr algn="ctr">
              <a:spcAft>
                <a:spcPts val="500"/>
              </a:spcAft>
              <a:defRPr sz="1600">
                <a:solidFill>
                  <a:srgbClr val="232323"/>
                </a:solidFill>
                <a:latin typeface="Noto Sans CJK KR"/>
              </a:defRPr>
            </a:pPr>
            <a:r>
              <a:t>Framework graph를 바로 target kernel로 매핑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  <a:latin typeface="Noto Sans CJK KR"/>
              </a:defRPr>
            </a:pPr>
            <a:r>
              <a:t>Composite op를 무조건 제거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  <a:latin typeface="Noto Sans CJK KR"/>
              </a:defRPr>
            </a:pPr>
            <a:r>
              <a:t>Shape/layout/quantization audit 없이 lowering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  <a:latin typeface="Noto Sans CJK KR"/>
              </a:defRPr>
            </a:pPr>
            <a:r>
              <a:t>Numerical approximation을 test 없이 변경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4E8E5C"/>
                </a:solidFill>
                <a:latin typeface="Noto Sans CJK KR"/>
              </a:rPr>
              <a:t>Good / Recommended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691640"/>
            <a:ext cx="5257800" cy="4343400"/>
          </a:xfrm>
          <a:prstGeom prst="roundRect">
            <a:avLst/>
          </a:prstGeom>
          <a:solidFill>
            <a:srgbClr val="EFFCF2"/>
          </a:solidFill>
          <a:ln>
            <a:solidFill>
              <a:srgbClr val="4E8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18872" tIns="109728" bIns="73152"/>
          <a:lstStyle/>
          <a:p>
            <a:pPr algn="ctr">
              <a:spcAft>
                <a:spcPts val="500"/>
              </a:spcAft>
              <a:defRPr sz="1600">
                <a:solidFill>
                  <a:srgbClr val="232323"/>
                </a:solidFill>
                <a:latin typeface="Noto Sans CJK KR"/>
              </a:defRPr>
            </a:pPr>
            <a:r>
              <a:t>Input IR을 semantic contract로 사용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  <a:latin typeface="Noto Sans CJK KR"/>
              </a:defRPr>
            </a:pPr>
            <a:r>
              <a:t>보존할 pattern과 분해할 pattern을 구분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  <a:latin typeface="Noto Sans CJK KR"/>
              </a:defRPr>
            </a:pPr>
            <a:r>
              <a:t>Legal op matrix를 먼저 작성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  <a:latin typeface="Noto Sans CJK KR"/>
              </a:defRPr>
            </a:pPr>
            <a:r>
              <a:t>Approximation과 quantization policy를 verifier/test에 연결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960"/>
                </a:solidFill>
                <a:latin typeface="Noto Sans CJK KR"/>
              </a:rPr>
              <a:t>Model Export Path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0652760" cy="4892040"/>
          </a:xfrm>
          <a:prstGeom prst="roundRect">
            <a:avLst/>
          </a:prstGeom>
          <a:solidFill>
            <a:srgbClr val="F7FAFD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18872" tIns="109728" bIns="73152"/>
          <a:lstStyle/>
          <a:p>
            <a:pPr algn="ctr"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PyTorch / JAX / TensorFlow -&gt; StableHLO or TOSA -&gt; canonicalize -&gt; decompose -&gt; NPU graph/kernel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Importer는 original op name/location을 보존한다.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Static/dynamic dimension 정보를 audit한다.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Layout intent와 quantization metadata를 잃지 않는다.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Backend는 legal op list와 비교하고 unsupported op는 decompose 또는 fallback 처리한다.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960"/>
                </a:solidFill>
                <a:latin typeface="Noto Sans CJK KR"/>
              </a:rPr>
              <a:t>StableHLO: high-level semantics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5166360" cy="4892040"/>
          </a:xfrm>
          <a:prstGeom prst="roundRect">
            <a:avLst/>
          </a:prstGeom>
          <a:solidFill>
            <a:srgbClr val="EEF6FF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18872" tIns="109728" bIns="73152"/>
          <a:lstStyle/>
          <a:p>
            <a:pPr algn="ctr">
              <a:spcAft>
                <a:spcPts val="500"/>
              </a:spcAft>
              <a:defRPr sz="1600">
                <a:solidFill>
                  <a:srgbClr val="232323"/>
                </a:solidFill>
                <a:latin typeface="Noto Sans CJK KR"/>
              </a:defRPr>
            </a:pPr>
            <a:r>
              <a:t>ML model high-level operations를 표현하는 operation set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  <a:latin typeface="Noto Sans CJK KR"/>
              </a:defRPr>
            </a:pPr>
            <a:r>
              <a:t>ML framework와 ML compiler 사이 portability layer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  <a:latin typeface="Noto Sans CJK KR"/>
              </a:defRPr>
            </a:pPr>
            <a:r>
              <a:t>NPU compiler의 importer boundary로 적합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  <a:latin typeface="Noto Sans CJK KR"/>
              </a:defRPr>
            </a:pPr>
            <a:r>
              <a:t>dot_general, convolution, reduce, broadcast, reshape, elementwise op가 핵심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3640" y="1234440"/>
            <a:ext cx="5166360" cy="4892040"/>
          </a:xfrm>
          <a:prstGeom prst="rect">
            <a:avLst/>
          </a:prstGeom>
          <a:solidFill>
            <a:srgbClr val="F6F8FA"/>
          </a:solidFill>
          <a:ln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800">
                <a:solidFill>
                  <a:srgbClr val="141414"/>
                </a:solidFill>
                <a:latin typeface="NanumGothicCoding"/>
              </a:rPr>
              <a:t>stablehlo.dot_general
stablehlo.convolution
stablehlo.reduce
stablehlo.broadcast_in_dim
stablehlo.reshape
stablehlo.transpose
stablehlo.erf / tanh
stablehlo.add / multiply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960"/>
                </a:solidFill>
                <a:latin typeface="Noto Sans CJK KR"/>
              </a:rPr>
              <a:t>StableHLO를 NPU 관점으로 읽기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0652760" cy="4892040"/>
          </a:xfrm>
          <a:prstGeom prst="roundRect">
            <a:avLst/>
          </a:prstGeom>
          <a:solidFill>
            <a:srgbClr val="F7FAFD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18872" tIns="109728" bIns="73152"/>
          <a:lstStyle/>
          <a:p>
            <a:pPr algn="ctr"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dot_general: MatMul, batched MatMul, attention projection mapping 후보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convolution: layout rewrite, Winograd/direct convolution, SRAM tile policy 후보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reduce + broadcast_in_dim: LayerNorm/Softmax/RMSNorm pattern의 핵심 signal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erf/tanh/sigmoid: activation approximation과 LUT/table 선택의 신호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dynamic shape op: edge NPU에서는 specialization, guard, fallback decision 필요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960"/>
                </a:solidFill>
                <a:latin typeface="Noto Sans CJK KR"/>
              </a:rPr>
              <a:t>TOSA: tensor-level operator 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5166360" cy="4892040"/>
          </a:xfrm>
          <a:prstGeom prst="roundRect">
            <a:avLst/>
          </a:prstGeom>
          <a:solidFill>
            <a:srgbClr val="EEF6FF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18872" tIns="109728" bIns="73152"/>
          <a:lstStyle/>
          <a:p>
            <a:pPr algn="ctr">
              <a:spcAft>
                <a:spcPts val="500"/>
              </a:spcAft>
              <a:defRPr sz="1600">
                <a:solidFill>
                  <a:srgbClr val="232323"/>
                </a:solidFill>
                <a:latin typeface="Noto Sans CJK KR"/>
              </a:defRPr>
            </a:pPr>
            <a:r>
              <a:t>MLIR TOSA dialect는 TOSA specification을 구현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  <a:latin typeface="Noto Sans CJK KR"/>
              </a:defRPr>
            </a:pPr>
            <a:r>
              <a:t>tensor-level abstraction에서 operator set을 정의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  <a:latin typeface="Noto Sans CJK KR"/>
              </a:defRPr>
            </a:pPr>
            <a:r>
              <a:t>CPU/GPU/NPU target concern을 고려한 minimality 철학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  <a:latin typeface="Noto Sans CJK KR"/>
              </a:defRPr>
            </a:pPr>
            <a:r>
              <a:t>target legal op audit과 quantized path 분석에 유리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3640" y="1234440"/>
            <a:ext cx="5166360" cy="4892040"/>
          </a:xfrm>
          <a:prstGeom prst="rect">
            <a:avLst/>
          </a:prstGeom>
          <a:solidFill>
            <a:srgbClr val="F6F8FA"/>
          </a:solidFill>
          <a:ln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800">
                <a:solidFill>
                  <a:srgbClr val="141414"/>
                </a:solidFill>
                <a:latin typeface="NanumGothicCoding"/>
              </a:rPr>
              <a:t>tosa.matmul
tosa.conv2d
tosa.reduce_sum
tosa.rsqrt
tosa.add / sub / mul
tosa.reshape / tile
tosa.rescale
tosa.table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960"/>
                </a:solidFill>
                <a:latin typeface="Noto Sans CJK KR"/>
              </a:rPr>
              <a:t>TOSA를 NPU 관점으로 읽기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0652760" cy="4892040"/>
          </a:xfrm>
          <a:prstGeom prst="roundRect">
            <a:avLst/>
          </a:prstGeom>
          <a:solidFill>
            <a:srgbClr val="F7FAFD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18872" tIns="109728" bIns="73152"/>
          <a:lstStyle/>
          <a:p>
            <a:pPr algn="ctr"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matmul/conv2d: target kernel mapping이 명확한 core compute op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reduce_sum/rsqrt: LayerNorm, RMSNorm, Softmax lowering의 primitive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rescale: quantized accumulator -&gt; output dtype requantization path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table: INT8/INT4 activation LUT 또는 nonlinear approximation 후보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minimal op set: backend fusion은 compiler가 담당해야 한다는 신호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960"/>
                </a:solidFill>
                <a:latin typeface="Noto Sans CJK KR"/>
              </a:rPr>
              <a:t>StableHLO vs TOSA: Compiler 관점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234440"/>
            <a:ext cx="2103120" cy="658368"/>
          </a:xfrm>
          <a:prstGeom prst="rect">
            <a:avLst/>
          </a:prstGeom>
          <a:solidFill>
            <a:srgbClr val="1C396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관점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360" y="1234440"/>
            <a:ext cx="4343400" cy="658368"/>
          </a:xfrm>
          <a:prstGeom prst="rect">
            <a:avLst/>
          </a:prstGeom>
          <a:solidFill>
            <a:srgbClr val="1C396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StableHLO</a:t>
            </a:r>
          </a:p>
        </p:txBody>
      </p:sp>
      <p:sp>
        <p:nvSpPr>
          <p:cNvPr id="6" name="Rectangle 5"/>
          <p:cNvSpPr/>
          <p:nvPr/>
        </p:nvSpPr>
        <p:spPr>
          <a:xfrm>
            <a:off x="7223759" y="1234440"/>
            <a:ext cx="4343400" cy="658368"/>
          </a:xfrm>
          <a:prstGeom prst="rect">
            <a:avLst/>
          </a:prstGeom>
          <a:solidFill>
            <a:srgbClr val="1C396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TOSA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92808"/>
            <a:ext cx="2103120" cy="658368"/>
          </a:xfrm>
          <a:prstGeom prst="rect">
            <a:avLst/>
          </a:prstGeom>
          <a:solidFill>
            <a:srgbClr val="F8FAFD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232323"/>
                </a:solidFill>
                <a:latin typeface="Noto Sans CJK KR"/>
              </a:rPr>
              <a:t>Role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1892808"/>
            <a:ext cx="4343400" cy="658368"/>
          </a:xfrm>
          <a:prstGeom prst="rect">
            <a:avLst/>
          </a:prstGeom>
          <a:solidFill>
            <a:srgbClr val="F8FAFD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232323"/>
                </a:solidFill>
                <a:latin typeface="Noto Sans CJK KR"/>
              </a:rPr>
              <a:t>Portability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59" y="1892808"/>
            <a:ext cx="4343400" cy="658368"/>
          </a:xfrm>
          <a:prstGeom prst="rect">
            <a:avLst/>
          </a:prstGeom>
          <a:solidFill>
            <a:srgbClr val="F8FAFD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232323"/>
                </a:solidFill>
                <a:latin typeface="Noto Sans CJK KR"/>
              </a:rPr>
              <a:t>Tensor-level op set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551176"/>
            <a:ext cx="2103120" cy="658368"/>
          </a:xfrm>
          <a:prstGeom prst="rect">
            <a:avLst/>
          </a:prstGeom>
          <a:solidFill>
            <a:srgbClr val="EEF3FA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232323"/>
                </a:solidFill>
                <a:latin typeface="Noto Sans CJK KR"/>
              </a:rPr>
              <a:t>Level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2551176"/>
            <a:ext cx="4343400" cy="658368"/>
          </a:xfrm>
          <a:prstGeom prst="rect">
            <a:avLst/>
          </a:prstGeom>
          <a:solidFill>
            <a:srgbClr val="EEF3FA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232323"/>
                </a:solidFill>
                <a:latin typeface="Noto Sans CJK KR"/>
              </a:rPr>
              <a:t>High-level HLO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59" y="2551176"/>
            <a:ext cx="4343400" cy="658368"/>
          </a:xfrm>
          <a:prstGeom prst="rect">
            <a:avLst/>
          </a:prstGeom>
          <a:solidFill>
            <a:srgbClr val="EEF3FA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232323"/>
                </a:solidFill>
                <a:latin typeface="Noto Sans CJK KR"/>
              </a:rPr>
              <a:t>Backend-friendly tensor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9544"/>
            <a:ext cx="2103120" cy="658368"/>
          </a:xfrm>
          <a:prstGeom prst="rect">
            <a:avLst/>
          </a:prstGeom>
          <a:solidFill>
            <a:srgbClr val="F8FAFD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232323"/>
                </a:solidFill>
                <a:latin typeface="Noto Sans CJK KR"/>
              </a:rPr>
              <a:t>Good for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360" y="3209544"/>
            <a:ext cx="4343400" cy="658368"/>
          </a:xfrm>
          <a:prstGeom prst="rect">
            <a:avLst/>
          </a:prstGeom>
          <a:solidFill>
            <a:srgbClr val="F8FAFD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232323"/>
                </a:solidFill>
                <a:latin typeface="Noto Sans CJK KR"/>
              </a:rPr>
              <a:t>Semantic preservation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59" y="3209544"/>
            <a:ext cx="4343400" cy="658368"/>
          </a:xfrm>
          <a:prstGeom prst="rect">
            <a:avLst/>
          </a:prstGeom>
          <a:solidFill>
            <a:srgbClr val="F8FAFD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232323"/>
                </a:solidFill>
                <a:latin typeface="Noto Sans CJK KR"/>
              </a:rPr>
              <a:t>Legal op audit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867912"/>
            <a:ext cx="2103120" cy="658368"/>
          </a:xfrm>
          <a:prstGeom prst="rect">
            <a:avLst/>
          </a:prstGeom>
          <a:solidFill>
            <a:srgbClr val="EEF3FA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232323"/>
                </a:solidFill>
                <a:latin typeface="Noto Sans CJK KR"/>
              </a:rPr>
              <a:t>Risk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360" y="3867912"/>
            <a:ext cx="4343400" cy="658368"/>
          </a:xfrm>
          <a:prstGeom prst="rect">
            <a:avLst/>
          </a:prstGeom>
          <a:solidFill>
            <a:srgbClr val="EEF3FA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232323"/>
                </a:solidFill>
                <a:latin typeface="Noto Sans CJK KR"/>
              </a:rPr>
              <a:t>Late decomposition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59" y="3867912"/>
            <a:ext cx="4343400" cy="658368"/>
          </a:xfrm>
          <a:prstGeom prst="rect">
            <a:avLst/>
          </a:prstGeom>
          <a:solidFill>
            <a:srgbClr val="EEF3FA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232323"/>
                </a:solidFill>
                <a:latin typeface="Noto Sans CJK KR"/>
              </a:rPr>
              <a:t>Lost fusion intent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526279"/>
            <a:ext cx="2103120" cy="658368"/>
          </a:xfrm>
          <a:prstGeom prst="rect">
            <a:avLst/>
          </a:prstGeom>
          <a:solidFill>
            <a:srgbClr val="F8FAFD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232323"/>
                </a:solidFill>
                <a:latin typeface="Noto Sans CJK KR"/>
              </a:rPr>
              <a:t>NPU focus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360" y="4526279"/>
            <a:ext cx="4343400" cy="658368"/>
          </a:xfrm>
          <a:prstGeom prst="rect">
            <a:avLst/>
          </a:prstGeom>
          <a:solidFill>
            <a:srgbClr val="F8FAFD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232323"/>
                </a:solidFill>
                <a:latin typeface="Noto Sans CJK KR"/>
              </a:rPr>
              <a:t>dot_general/reduce/broadcast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59" y="4526279"/>
            <a:ext cx="4343400" cy="658368"/>
          </a:xfrm>
          <a:prstGeom prst="rect">
            <a:avLst/>
          </a:prstGeom>
          <a:solidFill>
            <a:srgbClr val="F8FAFD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232323"/>
                </a:solidFill>
                <a:latin typeface="Noto Sans CJK KR"/>
              </a:rPr>
              <a:t>matmul/reduce_sum/rescale/table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960"/>
                </a:solidFill>
                <a:latin typeface="Noto Sans CJK KR"/>
              </a:rPr>
              <a:t>Composite op vs Primitive op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0652760" cy="4892040"/>
          </a:xfrm>
          <a:prstGeom prst="roundRect">
            <a:avLst/>
          </a:prstGeom>
          <a:solidFill>
            <a:srgbClr val="F7FAFD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18872" tIns="109728" bIns="73152"/>
          <a:lstStyle/>
          <a:p>
            <a:pPr algn="ctr"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LayerNorm/GELU/Softmax는 model layer로는 하나의 의미지만 IR에서는 여러 primitive op pattern으로 나타난다.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Composite intent를 보존하면 fusion과 numerical policy를 관리하기 쉽다.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Primitive로 분해하면 target legal op set, scheduling, bufferization을 진행하기 쉽다.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NPU compiler는 보존/분해/fuse/fallback의 경계를 pass pipeline으로 명시해야 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960"/>
                </a:solidFill>
                <a:latin typeface="Noto Sans CJK KR"/>
              </a:rPr>
              <a:t>LayerNorm math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234440"/>
            <a:ext cx="10652760" cy="4892040"/>
          </a:xfrm>
          <a:prstGeom prst="rect">
            <a:avLst/>
          </a:prstGeom>
          <a:solidFill>
            <a:srgbClr val="F6F8FA"/>
          </a:solidFill>
          <a:ln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700">
                <a:solidFill>
                  <a:srgbClr val="141414"/>
                </a:solidFill>
                <a:latin typeface="NanumGothicCoding"/>
              </a:rPr>
              <a:t>x: [B, S, K], gamma: [K], beta: [K]
mean = reduce_sum(x, axis=K) / K
center = x - broadcast(mean)
var = reduce_sum(center * center, axis=K) / K
inv_std = rsqrt(var + epsilon)
norm = center * broadcast(inv_std)
out = norm * gamma + beta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960"/>
                </a:solidFill>
                <a:latin typeface="Noto Sans CJK KR"/>
              </a:rPr>
              <a:t>LayerNorm primitive 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LIR_NPU_Lecture_06_Decomposition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1083564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960"/>
                </a:solidFill>
                <a:latin typeface="Noto Sans CJK KR"/>
              </a:rPr>
              <a:t>StableHLO LayerNorm pattern signal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234440"/>
            <a:ext cx="10652760" cy="4892040"/>
          </a:xfrm>
          <a:prstGeom prst="rect">
            <a:avLst/>
          </a:prstGeom>
          <a:solidFill>
            <a:srgbClr val="F6F8FA"/>
          </a:solidFill>
          <a:ln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700">
                <a:solidFill>
                  <a:srgbClr val="141414"/>
                </a:solidFill>
                <a:latin typeface="NanumGothicCoding"/>
              </a:rPr>
              <a:t>stablehlo.reduce(axis=K) -&gt; mean
stablehlo.broadcast_in_dim(mean)
stablehlo.subtract(x, mean_b)
stablehlo.multiply(center, center)
stablehlo.reduce(axis=K) -&gt; variance
stablehlo.add(variance, epsilon)
stablehlo.rsqrt
stablehlo.multiply + stablehlo.add for gamma/beta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960"/>
                </a:solidFill>
                <a:latin typeface="Noto Sans CJK KR"/>
              </a:rPr>
              <a:t>TOSA LayerNorm pattern signal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234440"/>
            <a:ext cx="10652760" cy="4892040"/>
          </a:xfrm>
          <a:prstGeom prst="rect">
            <a:avLst/>
          </a:prstGeom>
          <a:solidFill>
            <a:srgbClr val="F6F8FA"/>
          </a:solidFill>
          <a:ln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700">
                <a:solidFill>
                  <a:srgbClr val="141414"/>
                </a:solidFill>
                <a:latin typeface="NanumGothicCoding"/>
              </a:rPr>
              <a:t>tosa.reduce_sum(axis=K)
tosa.tile or broadcast materialization
tosa.sub / tosa.mul
tosa.reduce_sum(axis=K)
tosa.add(epsilon)
tosa.rsqrt
tosa.mul + tosa.add
NPU audit: is reduce_sum axis legal? is rsqrt supported? is tile materialized?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960"/>
                </a:solidFill>
                <a:latin typeface="Noto Sans CJK KR"/>
              </a:rPr>
              <a:t>GELU math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234440"/>
            <a:ext cx="10652760" cy="4892040"/>
          </a:xfrm>
          <a:prstGeom prst="rect">
            <a:avLst/>
          </a:prstGeom>
          <a:solidFill>
            <a:srgbClr val="F6F8FA"/>
          </a:solidFill>
          <a:ln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700">
                <a:solidFill>
                  <a:srgbClr val="141414"/>
                </a:solidFill>
                <a:latin typeface="NanumGothicCoding"/>
              </a:rPr>
              <a:t>Exact:
  GELU(x) = 0.5 * x * (1 + erf(x / sqrt(2)))
Tanh approximation:
  GELU(x) ~= 0.5 * x * (1 + tanh(sqrt(2/pi) * (x + 0.044715*x^3)))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960"/>
                </a:solidFill>
                <a:latin typeface="Noto Sans CJK KR"/>
              </a:rPr>
              <a:t>GELU lowering options for NPU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BE4646"/>
                </a:solidFill>
                <a:latin typeface="Noto Sans CJK KR"/>
              </a:rPr>
              <a:t>Bad /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5257800" cy="4343400"/>
          </a:xfrm>
          <a:prstGeom prst="roundRect">
            <a:avLst/>
          </a:prstGeom>
          <a:solidFill>
            <a:srgbClr val="FFEEEE"/>
          </a:solidFill>
          <a:ln>
            <a:solidFill>
              <a:srgbClr val="BE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18872" tIns="109728" bIns="73152"/>
          <a:lstStyle/>
          <a:p>
            <a:pPr algn="ctr">
              <a:spcAft>
                <a:spcPts val="500"/>
              </a:spcAft>
              <a:defRPr sz="1600">
                <a:solidFill>
                  <a:srgbClr val="232323"/>
                </a:solidFill>
                <a:latin typeface="Noto Sans CJK KR"/>
              </a:defRPr>
            </a:pPr>
            <a:r>
              <a:t>erf exact graph를 보존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  <a:latin typeface="Noto Sans CJK KR"/>
              </a:defRPr>
            </a:pPr>
            <a:r>
              <a:t>special function kernel 또는 CPU fallback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  <a:latin typeface="Noto Sans CJK KR"/>
              </a:defRPr>
            </a:pPr>
            <a:r>
              <a:t>golden output과 비교 쉬움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4E8E5C"/>
                </a:solidFill>
                <a:latin typeface="Noto Sans CJK KR"/>
              </a:rPr>
              <a:t>Good / Recommended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691640"/>
            <a:ext cx="5257800" cy="4343400"/>
          </a:xfrm>
          <a:prstGeom prst="roundRect">
            <a:avLst/>
          </a:prstGeom>
          <a:solidFill>
            <a:srgbClr val="EFFCF2"/>
          </a:solidFill>
          <a:ln>
            <a:solidFill>
              <a:srgbClr val="4E8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18872" tIns="109728" bIns="73152"/>
          <a:lstStyle/>
          <a:p>
            <a:pPr algn="ctr">
              <a:spcAft>
                <a:spcPts val="500"/>
              </a:spcAft>
              <a:defRPr sz="1600">
                <a:solidFill>
                  <a:srgbClr val="232323"/>
                </a:solidFill>
                <a:latin typeface="Noto Sans CJK KR"/>
              </a:defRPr>
            </a:pPr>
            <a:r>
              <a:t>tanh approximation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  <a:latin typeface="Noto Sans CJK KR"/>
              </a:defRPr>
            </a:pPr>
            <a:r>
              <a:t>sigmoid/polynomial approximation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  <a:latin typeface="Noto Sans CJK KR"/>
              </a:defRPr>
            </a:pPr>
            <a:r>
              <a:t>INT8/INT4 table/LUT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  <a:latin typeface="Noto Sans CJK KR"/>
              </a:defRPr>
            </a:pPr>
            <a:r>
              <a:t>MatMul epilogue fused activation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960"/>
                </a:solidFill>
                <a:latin typeface="Noto Sans CJK KR"/>
              </a:rPr>
              <a:t>LayerNorm/GELU fusion opportunities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0652760" cy="4892040"/>
          </a:xfrm>
          <a:prstGeom prst="roundRect">
            <a:avLst/>
          </a:prstGeom>
          <a:solidFill>
            <a:srgbClr val="F7FAFD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18872" tIns="109728" bIns="73152"/>
          <a:lstStyle/>
          <a:p>
            <a:pPr algn="ctr"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MatMul + Bias + GELU: accumulator -&gt; bias add -&gt; activation -&gt; optional requant를 epilogue로 fuse 가능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LayerNorm: reduction + elementwise chain을 row/tile 단위로 fuse하여 DRAM traffic 감소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Broadcast gamma/beta는 materialization하지 않고 vector load 또는 SRAM resident constant로 처리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Fusion이 항상 좋은 것은 아님: producer/consumer reuse, SRAM pressure, quantization boundary를 함께 봐야 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960"/>
                </a:solidFill>
                <a:latin typeface="Noto Sans CJK KR"/>
              </a:rPr>
              <a:t>NPU Legal Op Audit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LIR_NPU_Lecture_06_Op_Audi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1083564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960"/>
                </a:solidFill>
                <a:latin typeface="Noto Sans CJK KR"/>
              </a:rPr>
              <a:t>Shape and Dynamism Policy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0652760" cy="4892040"/>
          </a:xfrm>
          <a:prstGeom prst="roundRect">
            <a:avLst/>
          </a:prstGeom>
          <a:solidFill>
            <a:srgbClr val="F7FAFD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18872" tIns="109728" bIns="73152"/>
          <a:lstStyle/>
          <a:p>
            <a:pPr algn="ctr"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Edge NPU는 대부분 compile-time static tile과 memory plan을 선호한다.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Dynamic batch/sequence는 specialization, guard, or fallback으로 policy를 정해야 한다.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LayerNorm K axis가 dynamic이면 reduction tile과 vector tail 처리 문제가 커진다.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StableHLO dynamic op를 input에서 받더라도 NPU dialect로 내려가기 전에는 legality를 확정해야 한다.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960"/>
                </a:solidFill>
                <a:latin typeface="Noto Sans CJK KR"/>
              </a:rPr>
              <a:t>DType and Quantization Policy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0652760" cy="4892040"/>
          </a:xfrm>
          <a:prstGeom prst="roundRect">
            <a:avLst/>
          </a:prstGeom>
          <a:solidFill>
            <a:srgbClr val="F7FAFD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18872" tIns="109728" bIns="73152"/>
          <a:lstStyle/>
          <a:p>
            <a:pPr algn="ctr"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FP16/BF16 path: MatMul accumulator, LayerNorm reduction accumulator precision을 정의한다.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INT8/INT4 path: scale/zero-point, per-tensor/per-channel, rescale/requant 위치를 보존한다.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GELU/Softmax 같은 nonlinear op는 table/LUT 또는 higher-precision fallback이 필요할 수 있다.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TOSA rescale/table style op는 quantized NPU path에서 중요한 semantic signal이다.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960"/>
                </a:solidFill>
                <a:latin typeface="Noto Sans CJK KR"/>
              </a:rPr>
              <a:t>Layout Policy: logical vs physical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0652760" cy="4892040"/>
          </a:xfrm>
          <a:prstGeom prst="roundRect">
            <a:avLst/>
          </a:prstGeom>
          <a:solidFill>
            <a:srgbClr val="F7FAFD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18872" tIns="109728" bIns="73152"/>
          <a:lstStyle/>
          <a:p>
            <a:pPr algn="ctr"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StableHLO/TOSA의 shape는 logical tensor semantics다.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NPU kernel은 blocked/K-major/NHWC/HWIO 등 physical layout을 요구할 수 있다.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broadcast/reshape/transpose는 실제 data movement인지 view인지 반드시 구분한다.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Layout propagation은 bufferization 전에 fusion, vectorization, DMA planning과 함께 결정해야 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960"/>
                </a:solidFill>
                <a:latin typeface="Noto Sans CJK KR"/>
              </a:rPr>
              <a:t>Recommended Legalization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LIR_NPU_Lecture_06_Input_IR_Decision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1083564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960"/>
                </a:solidFill>
                <a:latin typeface="Noto Sans CJK KR"/>
              </a:rPr>
              <a:t>Example: MatMul + Bias + GELU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234440"/>
            <a:ext cx="10652760" cy="4892040"/>
          </a:xfrm>
          <a:prstGeom prst="rect">
            <a:avLst/>
          </a:prstGeom>
          <a:solidFill>
            <a:srgbClr val="F6F8FA"/>
          </a:solidFill>
          <a:ln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700">
                <a:solidFill>
                  <a:srgbClr val="141414"/>
                </a:solidFill>
                <a:latin typeface="NanumGothicCoding"/>
              </a:rPr>
              <a:t>stablehlo.dot_general
  -&gt; stablehlo.broadcast_in_dim(bias)
  -&gt; stablehlo.add
  -&gt; GELU exact or tanh/table approximation
NPU decisions:
  1. map dot_general to npu.matmul
  2. keep bias in epilogue if possible
  3. choose GELU approximation
  4. insert requant/rescale if INT8/INT4 path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960"/>
                </a:solidFill>
                <a:latin typeface="Noto Sans CJK KR"/>
              </a:rPr>
              <a:t>Example: LayerNorm audit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0652760" cy="4892040"/>
          </a:xfrm>
          <a:prstGeom prst="roundRect">
            <a:avLst/>
          </a:prstGeom>
          <a:solidFill>
            <a:srgbClr val="F7FAFD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18872" tIns="109728" bIns="73152"/>
          <a:lstStyle/>
          <a:p>
            <a:pPr algn="ctr"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Input: x[1, 128, 768], gamma[768], beta[768]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Reduction axis: K=768, static and vectorizable?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Accumulator: f32 or widened fixed-point?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Epsilon: compile-time attribute or constant SSA value?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Broadcast gamma/beta: materialize or vector-load?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Output: preserve fp16/bf16 or requantize to int8?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960"/>
                </a:solidFill>
                <a:latin typeface="Noto Sans CJK KR"/>
              </a:rPr>
              <a:t>너무 빨리 lower하지 말아야 할 것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0652760" cy="4892040"/>
          </a:xfrm>
          <a:prstGeom prst="roundRect">
            <a:avLst/>
          </a:prstGeom>
          <a:solidFill>
            <a:srgbClr val="F7FAFD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18872" tIns="109728" bIns="73152"/>
          <a:lstStyle/>
          <a:p>
            <a:pPr algn="ctr"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Composite intent: LayerNorm/GELU/Softmax pattern identity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Original framework location: debugging과 accuracy triage에 필요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Quantization metadata: scale/zero-point/calibration origin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Approximation policy: exact/approx/LUT와 error budget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Logical shape/layout: physical materialization 결정 전까지 보존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960"/>
                </a:solidFill>
                <a:latin typeface="Noto Sans CJK KR"/>
              </a:rPr>
              <a:t>Testing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0652760" cy="4892040"/>
          </a:xfrm>
          <a:prstGeom prst="roundRect">
            <a:avLst/>
          </a:prstGeom>
          <a:solidFill>
            <a:srgbClr val="F7FAFD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18872" tIns="109728" bIns="73152"/>
          <a:lstStyle/>
          <a:p>
            <a:pPr algn="ctr"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IR regression: pattern이 의도한 primitive graph로 canonicalize/decompose되는지 FileCheck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Numerical golden: LayerNorm/GELU exact vs approximation output error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Shape edge case: aligned K, unaligned K, dynamic B/S, singleton dimensions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Quantized path: rescale/table/LUT saturation과 rounding policy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Fallback path: unsupported op가 graph split 또는 CPU fallback으로 안전하게 처리되는지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960"/>
                </a:solidFill>
                <a:latin typeface="Noto Sans CJK KR"/>
              </a:rPr>
              <a:t>Exercise A: Op classification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0652760" cy="4892040"/>
          </a:xfrm>
          <a:prstGeom prst="roundRect">
            <a:avLst/>
          </a:prstGeom>
          <a:solidFill>
            <a:srgbClr val="F7FAFD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18872" tIns="109728" bIns="73152"/>
          <a:lstStyle/>
          <a:p>
            <a:pPr algn="ctr"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StableHLO/TOSA 예제 파일에서 op를 모두 나열한다.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각 op를 core compute / reduction / elementwise / reshape-broadcast / quantization / unsupported로 분류한다.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NPU target support 여부를 표시한다.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Preserve / decompose / fuse / fallback 중 하나의 action을 선택한다.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960"/>
                </a:solidFill>
                <a:latin typeface="Noto Sans CJK KR"/>
              </a:rPr>
              <a:t>Exercise B: LayerNorm primitive 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234440"/>
            <a:ext cx="10652760" cy="4892040"/>
          </a:xfrm>
          <a:prstGeom prst="rect">
            <a:avLst/>
          </a:prstGeom>
          <a:solidFill>
            <a:srgbClr val="F6F8FA"/>
          </a:solidFill>
          <a:ln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700">
                <a:solidFill>
                  <a:srgbClr val="141414"/>
                </a:solidFill>
                <a:latin typeface="NanumGothicCoding"/>
              </a:rPr>
              <a:t>Input: x[B,S,K], gamma[K], beta[K]
Fill the table:
  Step | SSA value | Shape | Kernel mapping | Verifier rule
Must include:
  mean, center, variance, inv_std, gamma/beta broadcast, output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960"/>
                </a:solidFill>
                <a:latin typeface="Noto Sans CJK KR"/>
              </a:rPr>
              <a:t>Exercise C: GELU approximation policy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0652760" cy="4892040"/>
          </a:xfrm>
          <a:prstGeom prst="roundRect">
            <a:avLst/>
          </a:prstGeom>
          <a:solidFill>
            <a:srgbClr val="F7FAFD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18872" tIns="109728" bIns="73152"/>
          <a:lstStyle/>
          <a:p>
            <a:pPr algn="ctr"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정확도 우선 모델: erf exact 또는 tanh approximation?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INT8/INT4 모델: table/LUT를 쓸 수 있는 calibration 조건은?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MatMul epilogue fusion: bias, activation, requant order를 어떻게 보존할 것인가?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Regression test: max error, mean error, top-k accuracy, saturation case를 정의한다.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960"/>
                </a:solidFill>
                <a:latin typeface="Noto Sans CJK KR"/>
              </a:rPr>
              <a:t>Homework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0652760" cy="4892040"/>
          </a:xfrm>
          <a:prstGeom prst="roundRect">
            <a:avLst/>
          </a:prstGeom>
          <a:solidFill>
            <a:srgbClr val="F7FAFD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18872" tIns="109728" bIns="73152"/>
          <a:lstStyle/>
          <a:p>
            <a:pPr algn="ctr"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MatMul + Bias + GELU subgraph를 StableHLO 또는 TOSA pseudo-MLIR로 작성한다.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LayerNorm decomposed graph의 shape table을 완성한다.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NPU legal op audit matrix를 작성한다.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Unsupported op 3개에 대한 fallback/decomposition plan을 제안한다.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960"/>
                </a:solidFill>
                <a:latin typeface="Noto Sans CJK KR"/>
              </a:rPr>
              <a:t>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0652760" cy="4892040"/>
          </a:xfrm>
          <a:prstGeom prst="roundRect">
            <a:avLst/>
          </a:prstGeom>
          <a:solidFill>
            <a:srgbClr val="F7FAFD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18872" tIns="109728" bIns="73152"/>
          <a:lstStyle/>
          <a:p>
            <a:pPr algn="ctr"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StableHLO/TOSA는 NPU command buffer가 아니라 input semantic contract다.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LayerNorm/GELU는 input IR legalization, decomposition, fusion policy를 연습하기 좋은 핵심 예제다.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NPU compiler는 op support, shape, dtype, layout, quantization, numerical approximation을 함께 audit해야 한다.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좋은 pass pipeline은 composite intent를 보존하면서 target legal primitive로 내려간다.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960"/>
                </a:solidFill>
                <a:latin typeface="Noto Sans CJK KR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0652760" cy="4892040"/>
          </a:xfrm>
          <a:prstGeom prst="roundRect">
            <a:avLst/>
          </a:prstGeom>
          <a:solidFill>
            <a:srgbClr val="F7FAFD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18872" tIns="109728" bIns="73152"/>
          <a:lstStyle/>
          <a:p>
            <a:pPr algn="ctr"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StableHLO Specification - https://openxla.org/stablehlo/spec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StableHLO Overview - https://openxla.org/stablehlo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MLIR TOSA Dialect - https://mlir.llvm.org/docs/Dialects/TOSA/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TOSA Specification - https://www.mlplatform.org/tosa/tosa_spec.html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  <a:latin typeface="Noto Sans CJK KR"/>
              </a:defRPr>
            </a:pPr>
            <a:r>
              <a:t>MLIR Passes - https://mlir.llvm.org/docs/Passes/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