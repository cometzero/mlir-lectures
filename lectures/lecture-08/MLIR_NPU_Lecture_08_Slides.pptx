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065A8"/>
          </a:solidFill>
          <a:ln>
            <a:solidFill>
              <a:srgbClr val="006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65A8"/>
                </a:solidFill>
                <a:latin typeface="Noto Sans CJK KR"/>
              </a:defRPr>
            </a:pPr>
            <a:r>
              <a:t>Lecture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62A40"/>
                </a:solidFill>
                <a:latin typeface="Noto Sans CJK KR"/>
              </a:defRPr>
            </a:pPr>
            <a:r>
              <a:t>SCF / Affine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88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0">
                <a:solidFill>
                  <a:srgbClr val="586069"/>
                </a:solidFill>
                <a:latin typeface="Noto Sans CJK KR"/>
              </a:defRPr>
            </a:pPr>
            <a:r>
              <a:t>M/N/K tile loop and DMA ordering for AI/NPU compiler</a:t>
            </a:r>
          </a:p>
        </p:txBody>
      </p:sp>
      <p:pic>
        <p:nvPicPr>
          <p:cNvPr id="6" name="Picture 5" descr="MLIR_NPU_Lecture_08_Tiled_Loop_N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3749039"/>
            <a:ext cx="10241280" cy="6080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473952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8C"/>
                </a:solidFill>
                <a:latin typeface="Noto Sans CJK KR"/>
              </a:defRPr>
            </a:pPr>
            <a:r>
              <a:t>MLIR NPU Compiler - Lecture 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65A8"/>
          </a:solidFill>
          <a:ln>
            <a:solidFill>
              <a:srgbClr val="006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A40"/>
                </a:solidFill>
                <a:latin typeface="Noto Sans CJK KR"/>
              </a:defRPr>
            </a:pPr>
            <a:r>
              <a:t>오늘의 위치</a:t>
            </a:r>
          </a:p>
        </p:txBody>
      </p:sp>
      <p:pic>
        <p:nvPicPr>
          <p:cNvPr id="4" name="Picture 3" descr="MLIR_NPU_Lecture_08_SCF_Affine_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051560"/>
            <a:ext cx="11018520" cy="492592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473952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8C"/>
                </a:solidFill>
                <a:latin typeface="Noto Sans CJK KR"/>
              </a:defRPr>
            </a:pPr>
            <a:r>
              <a:t>MLIR NPU Compiler - Lecture 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65A8"/>
          </a:solidFill>
          <a:ln>
            <a:solidFill>
              <a:srgbClr val="006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A40"/>
                </a:solidFill>
                <a:latin typeface="Noto Sans CJK KR"/>
              </a:defRPr>
            </a:pPr>
            <a: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282D35"/>
                </a:solidFill>
                <a:latin typeface="Noto Sans CJK KR"/>
              </a:defRPr>
            </a:pPr>
            <a:r>
              <a:t>SCF와 Affine dialect의 역할과 차이를 설명한다.</a:t>
            </a:r>
          </a:p>
          <a:p>
            <a:pPr>
              <a:spcAft>
                <a:spcPts val="700"/>
              </a:spcAft>
              <a:defRPr sz="2000">
                <a:solidFill>
                  <a:srgbClr val="282D35"/>
                </a:solidFill>
                <a:latin typeface="Noto Sans CJK KR"/>
              </a:defRPr>
            </a:pPr>
            <a:r>
              <a:t>linalg.matmul을 M/N/K tiled loop nest로 전개한다.</a:t>
            </a:r>
          </a:p>
          <a:p>
            <a:pPr>
              <a:spcAft>
                <a:spcPts val="700"/>
              </a:spcAft>
              <a:defRPr sz="2000">
                <a:solidFill>
                  <a:srgbClr val="282D35"/>
                </a:solidFill>
                <a:latin typeface="Noto Sans CJK KR"/>
              </a:defRPr>
            </a:pPr>
            <a:r>
              <a:t>tile size가 SRAM footprint, accumulator, DMA burst에 미치는 영향을 계산한다.</a:t>
            </a:r>
          </a:p>
          <a:p>
            <a:pPr>
              <a:spcAft>
                <a:spcPts val="700"/>
              </a:spcAft>
              <a:defRPr sz="2000">
                <a:solidFill>
                  <a:srgbClr val="282D35"/>
                </a:solidFill>
                <a:latin typeface="Noto Sans CJK KR"/>
              </a:defRPr>
            </a:pPr>
            <a:r>
              <a:t>DMA load - wait/barrier - compute - store 순서를 NPU schedule로 작성한다.</a:t>
            </a:r>
          </a:p>
          <a:p>
            <a:pPr>
              <a:spcAft>
                <a:spcPts val="700"/>
              </a:spcAft>
              <a:defRPr sz="2000">
                <a:solidFill>
                  <a:srgbClr val="282D35"/>
                </a:solidFill>
                <a:latin typeface="Noto Sans CJK KR"/>
              </a:defRPr>
            </a:pPr>
            <a:r>
              <a:t>SCF/Affine loop 기반 regression test 항목을 설계한다.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8C"/>
                </a:solidFill>
                <a:latin typeface="Noto Sans CJK KR"/>
              </a:defRPr>
            </a:pPr>
            <a:r>
              <a:t>MLIR NPU Compiler - Lecture 08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65A8"/>
          </a:solidFill>
          <a:ln>
            <a:solidFill>
              <a:srgbClr val="006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A40"/>
                </a:solidFill>
                <a:latin typeface="Noto Sans CJK KR"/>
              </a:defRPr>
            </a:pPr>
            <a:r>
              <a:t>왜 Loop가 NPU 성능을 좌우하는가?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282D35"/>
                </a:solidFill>
                <a:latin typeface="Noto Sans CJK KR"/>
              </a:defRPr>
            </a:pPr>
            <a:r>
              <a:t>NPU peak TOPS는 MAC array utilization이 높을 때만 의미가 있다.</a:t>
            </a:r>
          </a:p>
          <a:p>
            <a:pPr>
              <a:spcAft>
                <a:spcPts val="700"/>
              </a:spcAft>
              <a:defRPr sz="2000">
                <a:solidFill>
                  <a:srgbClr val="282D35"/>
                </a:solidFill>
                <a:latin typeface="Noto Sans CJK KR"/>
              </a:defRPr>
            </a:pPr>
            <a:r>
              <a:t>Loop order는 A/B/C reuse, SRAM residency, DRAM burst, edge tile overhead를 결정한다.</a:t>
            </a:r>
          </a:p>
          <a:p>
            <a:pPr>
              <a:spcAft>
                <a:spcPts val="700"/>
              </a:spcAft>
              <a:defRPr sz="2000">
                <a:solidFill>
                  <a:srgbClr val="282D35"/>
                </a:solidFill>
                <a:latin typeface="Noto Sans CJK KR"/>
              </a:defRPr>
            </a:pPr>
            <a:r>
              <a:t>Tile size는 SRAM capacity, bank conflict, accumulator width, vector lane과 연결된다.</a:t>
            </a:r>
          </a:p>
          <a:p>
            <a:pPr>
              <a:spcAft>
                <a:spcPts val="700"/>
              </a:spcAft>
              <a:defRPr sz="2000">
                <a:solidFill>
                  <a:srgbClr val="282D35"/>
                </a:solidFill>
                <a:latin typeface="Noto Sans CJK KR"/>
              </a:defRPr>
            </a:pPr>
            <a:r>
              <a:t>DMA와 compute를 overlap하지 못하면 memory-bound로 떨어진다.</a:t>
            </a:r>
          </a:p>
          <a:p>
            <a:pPr>
              <a:spcAft>
                <a:spcPts val="700"/>
              </a:spcAft>
              <a:defRPr sz="2000">
                <a:solidFill>
                  <a:srgbClr val="282D35"/>
                </a:solidFill>
                <a:latin typeface="Noto Sans CJK KR"/>
              </a:defRPr>
            </a:pPr>
            <a:r>
              <a:t>따라서 loop IR은 compiler decision을 노출하고 검증하는 핵심 단계다.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8C"/>
                </a:solidFill>
                <a:latin typeface="Noto Sans CJK KR"/>
              </a:defRPr>
            </a:pPr>
            <a:r>
              <a:t>MLIR NPU Compiler - Lecture 08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65A8"/>
          </a:solidFill>
          <a:ln>
            <a:solidFill>
              <a:srgbClr val="006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A40"/>
                </a:solidFill>
                <a:latin typeface="Noto Sans CJK KR"/>
              </a:defRPr>
            </a:pPr>
            <a:r>
              <a:t>Abstraction Boundary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282D35"/>
                </a:solidFill>
                <a:latin typeface="Noto Sans CJK KR"/>
              </a:defRPr>
            </a:pPr>
            <a:r>
              <a:t>Linalg: structured compute와 indexing semantics 보존</a:t>
            </a:r>
          </a:p>
          <a:p>
            <a:pPr>
              <a:spcAft>
                <a:spcPts val="700"/>
              </a:spcAft>
              <a:defRPr sz="2000">
                <a:solidFill>
                  <a:srgbClr val="282D35"/>
                </a:solidFill>
                <a:latin typeface="Noto Sans CJK KR"/>
              </a:defRPr>
            </a:pPr>
            <a:r>
              <a:t>SCF/Affine: explicit iteration space와 loop-carried state 노출</a:t>
            </a:r>
          </a:p>
          <a:p>
            <a:pPr>
              <a:spcAft>
                <a:spcPts val="700"/>
              </a:spcAft>
              <a:defRPr sz="2000">
                <a:solidFill>
                  <a:srgbClr val="282D35"/>
                </a:solidFill>
                <a:latin typeface="Noto Sans CJK KR"/>
              </a:defRPr>
            </a:pPr>
            <a:r>
              <a:t>MemRef: physical buffer, memory space, layout로 이동</a:t>
            </a:r>
          </a:p>
          <a:p>
            <a:pPr>
              <a:spcAft>
                <a:spcPts val="700"/>
              </a:spcAft>
              <a:defRPr sz="2000">
                <a:solidFill>
                  <a:srgbClr val="282D35"/>
                </a:solidFill>
                <a:latin typeface="Noto Sans CJK KR"/>
              </a:defRPr>
            </a:pPr>
            <a:r>
              <a:t>Vector/NPU Dialect: micro-kernel, DMA, barrier, command packet으로 이동</a:t>
            </a:r>
          </a:p>
          <a:p>
            <a:pPr>
              <a:spcAft>
                <a:spcPts val="700"/>
              </a:spcAft>
              <a:defRPr sz="2000">
                <a:solidFill>
                  <a:srgbClr val="282D35"/>
                </a:solidFill>
                <a:latin typeface="Noto Sans CJK KR"/>
              </a:defRPr>
            </a:pPr>
            <a:r>
              <a:t>Runtime ABI: command buffer와 tensor descriptor로 실행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8C"/>
                </a:solidFill>
                <a:latin typeface="Noto Sans CJK KR"/>
              </a:defRPr>
            </a:pPr>
            <a:r>
              <a:t>MLIR NPU Compiler - Lecture 08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65A8"/>
          </a:solidFill>
          <a:ln>
            <a:solidFill>
              <a:srgbClr val="006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A40"/>
                </a:solidFill>
                <a:latin typeface="Noto Sans CJK KR"/>
              </a:defRPr>
            </a:pPr>
            <a:r>
              <a:t>SCF Dialect 핵심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282D35"/>
                </a:solidFill>
                <a:latin typeface="Noto Sans CJK KR"/>
              </a:defRPr>
            </a:pPr>
            <a:r>
              <a:t>SCF = Structured Control Flow</a:t>
            </a:r>
          </a:p>
          <a:p>
            <a:pPr>
              <a:spcAft>
                <a:spcPts val="700"/>
              </a:spcAft>
              <a:defRPr sz="2000">
                <a:solidFill>
                  <a:srgbClr val="282D35"/>
                </a:solidFill>
                <a:latin typeface="Noto Sans CJK KR"/>
              </a:defRPr>
            </a:pPr>
            <a:r>
              <a:t>주요 op: scf.for, scf.if, scf.parallel, scf.forall, scf.yield</a:t>
            </a:r>
          </a:p>
          <a:p>
            <a:pPr>
              <a:spcAft>
                <a:spcPts val="700"/>
              </a:spcAft>
              <a:defRPr sz="2000">
                <a:solidFill>
                  <a:srgbClr val="282D35"/>
                </a:solidFill>
                <a:latin typeface="Noto Sans CJK KR"/>
              </a:defRPr>
            </a:pPr>
            <a:r>
              <a:t>Region/Block 기반으로 loop body와 branch body를 구조적으로 표현한다.</a:t>
            </a:r>
          </a:p>
          <a:p>
            <a:pPr>
              <a:spcAft>
                <a:spcPts val="700"/>
              </a:spcAft>
              <a:defRPr sz="2000">
                <a:solidFill>
                  <a:srgbClr val="282D35"/>
                </a:solidFill>
                <a:latin typeface="Noto Sans CJK KR"/>
              </a:defRPr>
            </a:pPr>
            <a:r>
              <a:t>dynamic shape, runtime condition, scheduling skeleton 표현에 적합하다.</a:t>
            </a:r>
          </a:p>
          <a:p>
            <a:pPr>
              <a:spcAft>
                <a:spcPts val="700"/>
              </a:spcAft>
              <a:defRPr sz="2000">
                <a:solidFill>
                  <a:srgbClr val="282D35"/>
                </a:solidFill>
                <a:latin typeface="Noto Sans CJK KR"/>
              </a:defRPr>
            </a:pPr>
            <a:r>
              <a:t>NPU command sequence를 만들기 전의 readable loop IR로 유용하다.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8C"/>
                </a:solidFill>
                <a:latin typeface="Noto Sans CJK KR"/>
              </a:defRPr>
            </a:pPr>
            <a:r>
              <a:t>MLIR NPU Compiler - Lecture 08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65A8"/>
          </a:solidFill>
          <a:ln>
            <a:solidFill>
              <a:srgbClr val="006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A40"/>
                </a:solidFill>
                <a:latin typeface="Noto Sans CJK KR"/>
              </a:defRPr>
            </a:pPr>
            <a:r>
              <a:t>scf.for Anatomy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51560"/>
            <a:ext cx="10972800" cy="5166360"/>
          </a:xfrm>
          <a:prstGeom prst="roundRect">
            <a:avLst/>
          </a:prstGeom>
          <a:solidFill>
            <a:srgbClr val="F7F9FC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280160"/>
            <a:ext cx="1051560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230">
                <a:solidFill>
                  <a:srgbClr val="1E2832"/>
                </a:solidFill>
                <a:latin typeface="DejaVu Sans Mono"/>
              </a:defRPr>
            </a:pPr>
            <a:r>
              <a:t>%c0 = arith.constant 0 : index</a:t>
            </a:r>
          </a:p>
          <a:p>
            <a:pPr>
              <a:spcAft>
                <a:spcPts val="0"/>
              </a:spcAft>
              <a:defRPr sz="1230">
                <a:solidFill>
                  <a:srgbClr val="1E2832"/>
                </a:solidFill>
                <a:latin typeface="DejaVu Sans Mono"/>
              </a:defRPr>
            </a:pPr>
            <a:r>
              <a:t>%c128 = arith.constant 128 : index</a:t>
            </a:r>
          </a:p>
          <a:p>
            <a:pPr>
              <a:spcAft>
                <a:spcPts val="0"/>
              </a:spcAft>
              <a:defRPr sz="1230">
                <a:solidFill>
                  <a:srgbClr val="1E2832"/>
                </a:solidFill>
                <a:latin typeface="DejaVu Sans Mono"/>
              </a:defRPr>
            </a:pPr>
            <a:r>
              <a:t>%c1 = arith.constant 1 : index</a:t>
            </a:r>
          </a:p>
          <a:p>
            <a:pPr>
              <a:spcAft>
                <a:spcPts val="0"/>
              </a:spcAft>
              <a:defRPr sz="1230">
                <a:solidFill>
                  <a:srgbClr val="1E2832"/>
                </a:solidFill>
                <a:latin typeface="DejaVu Sans Mono"/>
              </a:defRPr>
            </a:pPr>
          </a:p>
          <a:p>
            <a:pPr>
              <a:spcAft>
                <a:spcPts val="0"/>
              </a:spcAft>
              <a:defRPr sz="1230">
                <a:solidFill>
                  <a:srgbClr val="1E2832"/>
                </a:solidFill>
                <a:latin typeface="DejaVu Sans Mono"/>
              </a:defRPr>
            </a:pPr>
            <a:r>
              <a:t>scf.for %i = %c0 to %c128 step %c1 {</a:t>
            </a:r>
          </a:p>
          <a:p>
            <a:pPr>
              <a:spcAft>
                <a:spcPts val="0"/>
              </a:spcAft>
              <a:defRPr sz="1230">
                <a:solidFill>
                  <a:srgbClr val="1E2832"/>
                </a:solidFill>
                <a:latin typeface="DejaVu Sans Mono"/>
              </a:defRPr>
            </a:pPr>
            <a:r>
              <a:t>  %a = memref.load %A[%i] : memref&lt;128xf32&gt;</a:t>
            </a:r>
          </a:p>
          <a:p>
            <a:pPr>
              <a:spcAft>
                <a:spcPts val="0"/>
              </a:spcAft>
              <a:defRPr sz="1230">
                <a:solidFill>
                  <a:srgbClr val="1E2832"/>
                </a:solidFill>
                <a:latin typeface="DejaVu Sans Mono"/>
              </a:defRPr>
            </a:pPr>
            <a:r>
              <a:t>  memref.store %a, %B[%i] : memref&lt;128xf32&gt;</a:t>
            </a:r>
          </a:p>
          <a:p>
            <a:pPr>
              <a:spcAft>
                <a:spcPts val="0"/>
              </a:spcAft>
              <a:defRPr sz="1230">
                <a:solidFill>
                  <a:srgbClr val="1E2832"/>
                </a:solidFill>
                <a:latin typeface="DejaVu Sans Mono"/>
              </a:defRPr>
            </a:pPr>
            <a: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8C"/>
                </a:solidFill>
                <a:latin typeface="Noto Sans CJK KR"/>
              </a:defRPr>
            </a:pPr>
            <a:r>
              <a:t>MLIR NPU Compiler - Lecture 08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65A8"/>
          </a:solidFill>
          <a:ln>
            <a:solidFill>
              <a:srgbClr val="006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A40"/>
                </a:solidFill>
                <a:latin typeface="Noto Sans CJK KR"/>
              </a:defRPr>
            </a:pPr>
            <a:r>
              <a:t>scf.for Field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282D35"/>
                </a:solidFill>
                <a:latin typeface="Noto Sans CJK KR"/>
              </a:defRPr>
            </a:pPr>
            <a:r>
              <a:t>lower bound: loop 시작 index</a:t>
            </a:r>
          </a:p>
          <a:p>
            <a:pPr>
              <a:spcAft>
                <a:spcPts val="700"/>
              </a:spcAft>
              <a:defRPr sz="2000">
                <a:solidFill>
                  <a:srgbClr val="282D35"/>
                </a:solidFill>
                <a:latin typeface="Noto Sans CJK KR"/>
              </a:defRPr>
            </a:pPr>
            <a:r>
              <a:t>upper bound: exclusive end index</a:t>
            </a:r>
          </a:p>
          <a:p>
            <a:pPr>
              <a:spcAft>
                <a:spcPts val="700"/>
              </a:spcAft>
              <a:defRPr sz="2000">
                <a:solidFill>
                  <a:srgbClr val="282D35"/>
                </a:solidFill>
                <a:latin typeface="Noto Sans CJK KR"/>
              </a:defRPr>
            </a:pPr>
            <a:r>
              <a:t>step: iteration stride</a:t>
            </a:r>
          </a:p>
          <a:p>
            <a:pPr>
              <a:spcAft>
                <a:spcPts val="700"/>
              </a:spcAft>
              <a:defRPr sz="2000">
                <a:solidFill>
                  <a:srgbClr val="282D35"/>
                </a:solidFill>
                <a:latin typeface="Noto Sans CJK KR"/>
              </a:defRPr>
            </a:pPr>
            <a:r>
              <a:t>induction variable: body에서 사용하는 SSA value</a:t>
            </a:r>
          </a:p>
          <a:p>
            <a:pPr>
              <a:spcAft>
                <a:spcPts val="700"/>
              </a:spcAft>
              <a:defRPr sz="2000">
                <a:solidFill>
                  <a:srgbClr val="282D35"/>
                </a:solidFill>
                <a:latin typeface="Noto Sans CJK KR"/>
              </a:defRPr>
            </a:pPr>
            <a:r>
              <a:t>body region: 반복 실행되는 operation list</a:t>
            </a:r>
          </a:p>
          <a:p>
            <a:pPr>
              <a:spcAft>
                <a:spcPts val="700"/>
              </a:spcAft>
              <a:defRPr sz="2000">
                <a:solidFill>
                  <a:srgbClr val="282D35"/>
                </a:solidFill>
                <a:latin typeface="Noto Sans CJK KR"/>
              </a:defRPr>
            </a:pPr>
            <a:r>
              <a:t>terminator: loop-carried value가 있으면 scf.yield가 필수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8C"/>
                </a:solidFill>
                <a:latin typeface="Noto Sans CJK KR"/>
              </a:defRPr>
            </a:pPr>
            <a:r>
              <a:t>MLIR NPU Compiler - Lecture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65A8"/>
          </a:solidFill>
          <a:ln>
            <a:solidFill>
              <a:srgbClr val="006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A40"/>
                </a:solidFill>
                <a:latin typeface="Noto Sans CJK KR"/>
              </a:defRPr>
            </a:pPr>
            <a:r>
              <a:t>Loop-carried Value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51560"/>
            <a:ext cx="10972800" cy="5166360"/>
          </a:xfrm>
          <a:prstGeom prst="roundRect">
            <a:avLst/>
          </a:prstGeom>
          <a:solidFill>
            <a:srgbClr val="F7F9FC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280160"/>
            <a:ext cx="1051560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230">
                <a:solidFill>
                  <a:srgbClr val="1E2832"/>
                </a:solidFill>
                <a:latin typeface="DejaVu Sans Mono"/>
              </a:defRPr>
            </a:pPr>
            <a:r>
              <a:t>%sum = scf.for %i = %c0 to %c128 step %c1</a:t>
            </a:r>
          </a:p>
          <a:p>
            <a:pPr>
              <a:spcAft>
                <a:spcPts val="0"/>
              </a:spcAft>
              <a:defRPr sz="1230">
                <a:solidFill>
                  <a:srgbClr val="1E2832"/>
                </a:solidFill>
                <a:latin typeface="DejaVu Sans Mono"/>
              </a:defRPr>
            </a:pPr>
            <a:r>
              <a:t>    iter_args(%acc = %zero) -&gt; (f32) {</a:t>
            </a:r>
          </a:p>
          <a:p>
            <a:pPr>
              <a:spcAft>
                <a:spcPts val="0"/>
              </a:spcAft>
              <a:defRPr sz="1230">
                <a:solidFill>
                  <a:srgbClr val="1E2832"/>
                </a:solidFill>
                <a:latin typeface="DejaVu Sans Mono"/>
              </a:defRPr>
            </a:pPr>
            <a:r>
              <a:t>  %a = memref.load %A[%i] : memref&lt;128xf32&gt;</a:t>
            </a:r>
          </a:p>
          <a:p>
            <a:pPr>
              <a:spcAft>
                <a:spcPts val="0"/>
              </a:spcAft>
              <a:defRPr sz="1230">
                <a:solidFill>
                  <a:srgbClr val="1E2832"/>
                </a:solidFill>
                <a:latin typeface="DejaVu Sans Mono"/>
              </a:defRPr>
            </a:pPr>
            <a:r>
              <a:t>  %next = arith.addf %acc, %a : f32</a:t>
            </a:r>
          </a:p>
          <a:p>
            <a:pPr>
              <a:spcAft>
                <a:spcPts val="0"/>
              </a:spcAft>
              <a:defRPr sz="1230">
                <a:solidFill>
                  <a:srgbClr val="1E2832"/>
                </a:solidFill>
                <a:latin typeface="DejaVu Sans Mono"/>
              </a:defRPr>
            </a:pPr>
            <a:r>
              <a:t>  scf.yield %next : f32</a:t>
            </a:r>
          </a:p>
          <a:p>
            <a:pPr>
              <a:spcAft>
                <a:spcPts val="0"/>
              </a:spcAft>
              <a:defRPr sz="1230">
                <a:solidFill>
                  <a:srgbClr val="1E2832"/>
                </a:solidFill>
                <a:latin typeface="DejaVu Sans Mono"/>
              </a:defRPr>
            </a:pPr>
            <a:r>
              <a:t>}</a:t>
            </a:r>
          </a:p>
          <a:p>
            <a:pPr>
              <a:spcAft>
                <a:spcPts val="0"/>
              </a:spcAft>
              <a:defRPr sz="1230">
                <a:solidFill>
                  <a:srgbClr val="1E2832"/>
                </a:solidFill>
                <a:latin typeface="DejaVu Sans Mono"/>
              </a:defRPr>
            </a:pPr>
          </a:p>
          <a:p>
            <a:pPr>
              <a:spcAft>
                <a:spcPts val="0"/>
              </a:spcAft>
              <a:defRPr sz="1230">
                <a:solidFill>
                  <a:srgbClr val="1E2832"/>
                </a:solidFill>
                <a:latin typeface="DejaVu Sans Mono"/>
              </a:defRPr>
            </a:pPr>
            <a:r>
              <a:t>// NPU 관점: accumulator state, token,</a:t>
            </a:r>
          </a:p>
          <a:p>
            <a:pPr>
              <a:spcAft>
                <a:spcPts val="0"/>
              </a:spcAft>
              <a:defRPr sz="1230">
                <a:solidFill>
                  <a:srgbClr val="1E2832"/>
                </a:solidFill>
                <a:latin typeface="DejaVu Sans Mono"/>
              </a:defRPr>
            </a:pPr>
            <a:r>
              <a:t>// software pipeline state를 loop-carried SSA로 표현 가능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8C"/>
                </a:solidFill>
                <a:latin typeface="Noto Sans CJK KR"/>
              </a:defRPr>
            </a:pPr>
            <a:r>
              <a:t>MLIR NPU Compiler - Lecture 08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65A8"/>
          </a:solidFill>
          <a:ln>
            <a:solidFill>
              <a:srgbClr val="006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A40"/>
                </a:solidFill>
                <a:latin typeface="Noto Sans CJK KR"/>
              </a:defRPr>
            </a:pPr>
            <a:r>
              <a:t>scf.if / scf.parallel / scf.forall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282D35"/>
                </a:solidFill>
                <a:latin typeface="Noto Sans CJK KR"/>
              </a:defRPr>
            </a:pPr>
            <a:r>
              <a:t>scf.if: runtime shape, edge tile, fallback path decision에 사용 가능</a:t>
            </a:r>
          </a:p>
          <a:p>
            <a:pPr>
              <a:spcAft>
                <a:spcPts val="700"/>
              </a:spcAft>
              <a:defRPr sz="2000">
                <a:solidFill>
                  <a:srgbClr val="282D35"/>
                </a:solidFill>
                <a:latin typeface="Noto Sans CJK KR"/>
              </a:defRPr>
            </a:pPr>
            <a:r>
              <a:t>scf.parallel: 독립 loop dimension의 병렬성 표현</a:t>
            </a:r>
          </a:p>
          <a:p>
            <a:pPr>
              <a:spcAft>
                <a:spcPts val="700"/>
              </a:spcAft>
              <a:defRPr sz="2000">
                <a:solidFill>
                  <a:srgbClr val="282D35"/>
                </a:solidFill>
                <a:latin typeface="Noto Sans CJK KR"/>
              </a:defRPr>
            </a:pPr>
            <a:r>
              <a:t>scf.forall: thread/block mapping 성격의 structured parallel loop 표현</a:t>
            </a:r>
          </a:p>
          <a:p>
            <a:pPr>
              <a:spcAft>
                <a:spcPts val="700"/>
              </a:spcAft>
              <a:defRPr sz="2000">
                <a:solidFill>
                  <a:srgbClr val="282D35"/>
                </a:solidFill>
                <a:latin typeface="Noto Sans CJK KR"/>
              </a:defRPr>
            </a:pPr>
            <a:r>
              <a:t>NPU에서는 hardware queue, core cluster, tile-level parallelism과 연결 가능</a:t>
            </a:r>
          </a:p>
          <a:p>
            <a:pPr>
              <a:spcAft>
                <a:spcPts val="700"/>
              </a:spcAft>
              <a:defRPr sz="2000">
                <a:solidFill>
                  <a:srgbClr val="282D35"/>
                </a:solidFill>
                <a:latin typeface="Noto Sans CJK KR"/>
              </a:defRPr>
            </a:pPr>
            <a:r>
              <a:t>단, 정확한 mapping은 target dialect/Transform dialect와 함께 결정한다.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8C"/>
                </a:solidFill>
                <a:latin typeface="Noto Sans CJK KR"/>
              </a:defRPr>
            </a:pPr>
            <a:r>
              <a:t>MLIR NPU Compiler - Lecture 08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65A8"/>
          </a:solidFill>
          <a:ln>
            <a:solidFill>
              <a:srgbClr val="006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A40"/>
                </a:solidFill>
                <a:latin typeface="Noto Sans CJK KR"/>
              </a:defRPr>
            </a:pPr>
            <a:r>
              <a:t>Affine Dialect 핵심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282D35"/>
                </a:solidFill>
                <a:latin typeface="Noto Sans CJK KR"/>
              </a:defRPr>
            </a:pPr>
            <a:r>
              <a:t>Affine loop와 affine map으로 analyzable index computation을 표현한다.</a:t>
            </a:r>
          </a:p>
          <a:p>
            <a:pPr>
              <a:spcAft>
                <a:spcPts val="700"/>
              </a:spcAft>
              <a:defRPr sz="2000">
                <a:solidFill>
                  <a:srgbClr val="282D35"/>
                </a:solidFill>
                <a:latin typeface="Noto Sans CJK KR"/>
              </a:defRPr>
            </a:pPr>
            <a:r>
              <a:t>affine.for, affine.apply, affine.load/store, affine.min/max가 핵심이다.</a:t>
            </a:r>
          </a:p>
          <a:p>
            <a:pPr>
              <a:spcAft>
                <a:spcPts val="700"/>
              </a:spcAft>
              <a:defRPr sz="2000">
                <a:solidFill>
                  <a:srgbClr val="282D35"/>
                </a:solidFill>
                <a:latin typeface="Noto Sans CJK KR"/>
              </a:defRPr>
            </a:pPr>
            <a:r>
              <a:t>static bounds와 affine memory access가 있으면 dependence analysis와 loop transform에 유리하다.</a:t>
            </a:r>
          </a:p>
          <a:p>
            <a:pPr>
              <a:spcAft>
                <a:spcPts val="700"/>
              </a:spcAft>
              <a:defRPr sz="2000">
                <a:solidFill>
                  <a:srgbClr val="282D35"/>
                </a:solidFill>
                <a:latin typeface="Noto Sans CJK KR"/>
              </a:defRPr>
            </a:pPr>
            <a:r>
              <a:t>polyhedral-style optimization을 적용하기 좋은 representation이다.</a:t>
            </a:r>
          </a:p>
          <a:p>
            <a:pPr>
              <a:spcAft>
                <a:spcPts val="700"/>
              </a:spcAft>
              <a:defRPr sz="2000">
                <a:solidFill>
                  <a:srgbClr val="282D35"/>
                </a:solidFill>
                <a:latin typeface="Noto Sans CJK KR"/>
              </a:defRPr>
            </a:pPr>
            <a:r>
              <a:t>복잡한 data-dependent branch는 affine 표현에 맞지 않을 수 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8C"/>
                </a:solidFill>
                <a:latin typeface="Noto Sans CJK KR"/>
              </a:defRPr>
            </a:pPr>
            <a:r>
              <a:t>MLIR NPU Compiler - Lecture 08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65A8"/>
          </a:solidFill>
          <a:ln>
            <a:solidFill>
              <a:srgbClr val="006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A40"/>
                </a:solidFill>
                <a:latin typeface="Noto Sans CJK KR"/>
              </a:defRPr>
            </a:pPr>
            <a:r>
              <a:t>Affine Map: Dimension vs Symbol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51560"/>
            <a:ext cx="10972800" cy="5166360"/>
          </a:xfrm>
          <a:prstGeom prst="roundRect">
            <a:avLst/>
          </a:prstGeom>
          <a:solidFill>
            <a:srgbClr val="F7F9FC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280160"/>
            <a:ext cx="1051560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230">
                <a:solidFill>
                  <a:srgbClr val="1E2832"/>
                </a:solidFill>
                <a:latin typeface="DejaVu Sans Mono"/>
              </a:defRPr>
            </a:pPr>
            <a:r>
              <a:t>#map = affine_map&lt;(d0, d1)[s0] -&gt; (d0 * 64 + d1 + s0)&gt;</a:t>
            </a:r>
          </a:p>
          <a:p>
            <a:pPr>
              <a:spcAft>
                <a:spcPts val="0"/>
              </a:spcAft>
              <a:defRPr sz="1230">
                <a:solidFill>
                  <a:srgbClr val="1E2832"/>
                </a:solidFill>
                <a:latin typeface="DejaVu Sans Mono"/>
              </a:defRPr>
            </a:pPr>
          </a:p>
          <a:p>
            <a:pPr>
              <a:spcAft>
                <a:spcPts val="0"/>
              </a:spcAft>
              <a:defRPr sz="1230">
                <a:solidFill>
                  <a:srgbClr val="1E2832"/>
                </a:solidFill>
                <a:latin typeface="DejaVu Sans Mono"/>
              </a:defRPr>
            </a:pPr>
            <a:r>
              <a:t>// d0, d1: loop induction variable처럼 변하는 dimension</a:t>
            </a:r>
          </a:p>
          <a:p>
            <a:pPr>
              <a:spcAft>
                <a:spcPts val="0"/>
              </a:spcAft>
              <a:defRPr sz="1230">
                <a:solidFill>
                  <a:srgbClr val="1E2832"/>
                </a:solidFill>
                <a:latin typeface="DejaVu Sans Mono"/>
              </a:defRPr>
            </a:pPr>
            <a:r>
              <a:t>// s0: function argument, shape, stride처럼 map이 설정될 때 bound되는 symbol</a:t>
            </a:r>
          </a:p>
          <a:p>
            <a:pPr>
              <a:spcAft>
                <a:spcPts val="0"/>
              </a:spcAft>
              <a:defRPr sz="1230">
                <a:solidFill>
                  <a:srgbClr val="1E2832"/>
                </a:solidFill>
                <a:latin typeface="DejaVu Sans Mono"/>
              </a:defRPr>
            </a:pPr>
          </a:p>
          <a:p>
            <a:pPr>
              <a:spcAft>
                <a:spcPts val="0"/>
              </a:spcAft>
              <a:defRPr sz="1230">
                <a:solidFill>
                  <a:srgbClr val="1E2832"/>
                </a:solidFill>
                <a:latin typeface="DejaVu Sans Mono"/>
              </a:defRPr>
            </a:pPr>
            <a:r>
              <a:t>%idx = affine.apply #map(%m0, %mi)[%base]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8C"/>
                </a:solidFill>
                <a:latin typeface="Noto Sans CJK KR"/>
              </a:defRPr>
            </a:pPr>
            <a:r>
              <a:t>MLIR NPU Compiler - Lecture 08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65A8"/>
          </a:solidFill>
          <a:ln>
            <a:solidFill>
              <a:srgbClr val="006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A40"/>
                </a:solidFill>
                <a:latin typeface="Noto Sans CJK KR"/>
              </a:defRPr>
            </a:pPr>
            <a:r>
              <a:t>SCF vs Affine Decision</a:t>
            </a:r>
          </a:p>
        </p:txBody>
      </p:sp>
      <p:pic>
        <p:nvPicPr>
          <p:cNvPr id="4" name="Picture 3" descr="MLIR_NPU_Lecture_08_SCF_vs_Aff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051560"/>
            <a:ext cx="11018520" cy="62438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473952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8C"/>
                </a:solidFill>
                <a:latin typeface="Noto Sans CJK KR"/>
              </a:defRPr>
            </a:pPr>
            <a:r>
              <a:t>MLIR NPU Compiler - Lecture 08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65A8"/>
          </a:solidFill>
          <a:ln>
            <a:solidFill>
              <a:srgbClr val="006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A40"/>
                </a:solidFill>
                <a:latin typeface="Noto Sans CJK KR"/>
              </a:defRPr>
            </a:pPr>
            <a:r>
              <a:t>MatMul Equation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282D35"/>
                </a:solidFill>
                <a:latin typeface="Noto Sans CJK KR"/>
              </a:defRPr>
            </a:pPr>
            <a:r>
              <a:t>C[m,n] = sum_k A[m,k] * B[k,n]</a:t>
            </a:r>
          </a:p>
          <a:p>
            <a:pPr>
              <a:spcAft>
                <a:spcPts val="700"/>
              </a:spcAft>
              <a:defRPr sz="2000">
                <a:solidFill>
                  <a:srgbClr val="282D35"/>
                </a:solidFill>
                <a:latin typeface="Noto Sans CJK KR"/>
              </a:defRPr>
            </a:pPr>
            <a:r>
              <a:t>M loop: output row tile을 선택</a:t>
            </a:r>
          </a:p>
          <a:p>
            <a:pPr>
              <a:spcAft>
                <a:spcPts val="700"/>
              </a:spcAft>
              <a:defRPr sz="2000">
                <a:solidFill>
                  <a:srgbClr val="282D35"/>
                </a:solidFill>
                <a:latin typeface="Noto Sans CJK KR"/>
              </a:defRPr>
            </a:pPr>
            <a:r>
              <a:t>N loop: output column tile을 선택</a:t>
            </a:r>
          </a:p>
          <a:p>
            <a:pPr>
              <a:spcAft>
                <a:spcPts val="700"/>
              </a:spcAft>
              <a:defRPr sz="2000">
                <a:solidFill>
                  <a:srgbClr val="282D35"/>
                </a:solidFill>
                <a:latin typeface="Noto Sans CJK KR"/>
              </a:defRPr>
            </a:pPr>
            <a:r>
              <a:t>K loop: reduction tile을 stream</a:t>
            </a:r>
          </a:p>
          <a:p>
            <a:pPr>
              <a:spcAft>
                <a:spcPts val="700"/>
              </a:spcAft>
              <a:defRPr sz="2000">
                <a:solidFill>
                  <a:srgbClr val="282D35"/>
                </a:solidFill>
                <a:latin typeface="Noto Sans CJK KR"/>
              </a:defRPr>
            </a:pPr>
            <a:r>
              <a:t>Accumulator lifetime: 하나의 C tile에 대해 모든 K tile이 끝날 때까지 유지</a:t>
            </a:r>
          </a:p>
          <a:p>
            <a:pPr>
              <a:spcAft>
                <a:spcPts val="700"/>
              </a:spcAft>
              <a:defRPr sz="2000">
                <a:solidFill>
                  <a:srgbClr val="282D35"/>
                </a:solidFill>
                <a:latin typeface="Noto Sans CJK KR"/>
              </a:defRPr>
            </a:pPr>
            <a:r>
              <a:t>DMA lifetime: A/B input tile은 각 K tile마다 교체 가능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8C"/>
                </a:solidFill>
                <a:latin typeface="Noto Sans CJK KR"/>
              </a:defRPr>
            </a:pPr>
            <a:r>
              <a:t>MLIR NPU Compiler - Lecture 08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65A8"/>
          </a:solidFill>
          <a:ln>
            <a:solidFill>
              <a:srgbClr val="006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A40"/>
                </a:solidFill>
                <a:latin typeface="Noto Sans CJK KR"/>
              </a:defRPr>
            </a:pPr>
            <a:r>
              <a:t>M/N/K Tiled Loop Nest</a:t>
            </a:r>
          </a:p>
        </p:txBody>
      </p:sp>
      <p:pic>
        <p:nvPicPr>
          <p:cNvPr id="4" name="Picture 3" descr="MLIR_NPU_Lecture_08_Tiled_Loop_N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051560"/>
            <a:ext cx="11018520" cy="654224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473952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8C"/>
                </a:solidFill>
                <a:latin typeface="Noto Sans CJK KR"/>
              </a:defRPr>
            </a:pPr>
            <a:r>
              <a:t>MLIR NPU Compiler - Lecture 08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65A8"/>
          </a:solidFill>
          <a:ln>
            <a:solidFill>
              <a:srgbClr val="006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A40"/>
                </a:solidFill>
                <a:latin typeface="Noto Sans CJK KR"/>
              </a:defRPr>
            </a:pPr>
            <a:r>
              <a:t>SCF Tiled MatMul Pseudo IR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51560"/>
            <a:ext cx="10972800" cy="5166360"/>
          </a:xfrm>
          <a:prstGeom prst="roundRect">
            <a:avLst/>
          </a:prstGeom>
          <a:solidFill>
            <a:srgbClr val="F7F9FC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280160"/>
            <a:ext cx="1051560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230">
                <a:solidFill>
                  <a:srgbClr val="1E2832"/>
                </a:solidFill>
                <a:latin typeface="DejaVu Sans Mono"/>
              </a:defRPr>
            </a:pPr>
            <a:r>
              <a:t>scf.for %m0 = %c0 to %M step %TM {</a:t>
            </a:r>
          </a:p>
          <a:p>
            <a:pPr>
              <a:spcAft>
                <a:spcPts val="0"/>
              </a:spcAft>
              <a:defRPr sz="1230">
                <a:solidFill>
                  <a:srgbClr val="1E2832"/>
                </a:solidFill>
                <a:latin typeface="DejaVu Sans Mono"/>
              </a:defRPr>
            </a:pPr>
            <a:r>
              <a:t>  scf.for %n0 = %c0 to %N step %TN {</a:t>
            </a:r>
          </a:p>
          <a:p>
            <a:pPr>
              <a:spcAft>
                <a:spcPts val="0"/>
              </a:spcAft>
              <a:defRPr sz="1230">
                <a:solidFill>
                  <a:srgbClr val="1E2832"/>
                </a:solidFill>
                <a:latin typeface="DejaVu Sans Mono"/>
              </a:defRPr>
            </a:pPr>
            <a:r>
              <a:t>    "npu.acc.zero"(%m0, %n0, %TM, %TN) : (...) -&gt; ()</a:t>
            </a:r>
          </a:p>
          <a:p>
            <a:pPr>
              <a:spcAft>
                <a:spcPts val="0"/>
              </a:spcAft>
              <a:defRPr sz="1230">
                <a:solidFill>
                  <a:srgbClr val="1E2832"/>
                </a:solidFill>
                <a:latin typeface="DejaVu Sans Mono"/>
              </a:defRPr>
            </a:pPr>
            <a:r>
              <a:t>    scf.for %k0 = %c0 to %K step %TK {</a:t>
            </a:r>
          </a:p>
          <a:p>
            <a:pPr>
              <a:spcAft>
                <a:spcPts val="0"/>
              </a:spcAft>
              <a:defRPr sz="1230">
                <a:solidFill>
                  <a:srgbClr val="1E2832"/>
                </a:solidFill>
                <a:latin typeface="DejaVu Sans Mono"/>
              </a:defRPr>
            </a:pPr>
            <a:r>
              <a:t>      "npu.dma.load_a"(%A, %m0, %k0, %TM, %TK) : (...) -&gt; ()</a:t>
            </a:r>
          </a:p>
          <a:p>
            <a:pPr>
              <a:spcAft>
                <a:spcPts val="0"/>
              </a:spcAft>
              <a:defRPr sz="1230">
                <a:solidFill>
                  <a:srgbClr val="1E2832"/>
                </a:solidFill>
                <a:latin typeface="DejaVu Sans Mono"/>
              </a:defRPr>
            </a:pPr>
            <a:r>
              <a:t>      "npu.dma.load_b"(%B, %k0, %n0, %TK, %TN) : (...) -&gt; ()</a:t>
            </a:r>
          </a:p>
          <a:p>
            <a:pPr>
              <a:spcAft>
                <a:spcPts val="0"/>
              </a:spcAft>
              <a:defRPr sz="1230">
                <a:solidFill>
                  <a:srgbClr val="1E2832"/>
                </a:solidFill>
                <a:latin typeface="DejaVu Sans Mono"/>
              </a:defRPr>
            </a:pPr>
            <a:r>
              <a:t>      "npu.barrier.wait_dma"() : () -&gt; ()</a:t>
            </a:r>
          </a:p>
          <a:p>
            <a:pPr>
              <a:spcAft>
                <a:spcPts val="0"/>
              </a:spcAft>
              <a:defRPr sz="1230">
                <a:solidFill>
                  <a:srgbClr val="1E2832"/>
                </a:solidFill>
                <a:latin typeface="DejaVu Sans Mono"/>
              </a:defRPr>
            </a:pPr>
            <a:r>
              <a:t>      "npu.matmul.tile"(%m0, %n0, %k0, %TM, %TN, %TK) : (...) -&gt; ()</a:t>
            </a:r>
          </a:p>
          <a:p>
            <a:pPr>
              <a:spcAft>
                <a:spcPts val="0"/>
              </a:spcAft>
              <a:defRPr sz="1230">
                <a:solidFill>
                  <a:srgbClr val="1E2832"/>
                </a:solidFill>
                <a:latin typeface="DejaVu Sans Mono"/>
              </a:defRPr>
            </a:pPr>
            <a:r>
              <a:t>    }</a:t>
            </a:r>
          </a:p>
          <a:p>
            <a:pPr>
              <a:spcAft>
                <a:spcPts val="0"/>
              </a:spcAft>
              <a:defRPr sz="1230">
                <a:solidFill>
                  <a:srgbClr val="1E2832"/>
                </a:solidFill>
                <a:latin typeface="DejaVu Sans Mono"/>
              </a:defRPr>
            </a:pPr>
            <a:r>
              <a:t>    "npu.dma.store_c"(%C, %m0, %n0, %TM, %TN) : (...) -&gt; ()</a:t>
            </a:r>
          </a:p>
          <a:p>
            <a:pPr>
              <a:spcAft>
                <a:spcPts val="0"/>
              </a:spcAft>
              <a:defRPr sz="1230">
                <a:solidFill>
                  <a:srgbClr val="1E2832"/>
                </a:solidFill>
                <a:latin typeface="DejaVu Sans Mono"/>
              </a:defRPr>
            </a:pPr>
            <a:r>
              <a:t>  }</a:t>
            </a:r>
          </a:p>
          <a:p>
            <a:pPr>
              <a:spcAft>
                <a:spcPts val="0"/>
              </a:spcAft>
              <a:defRPr sz="1230">
                <a:solidFill>
                  <a:srgbClr val="1E2832"/>
                </a:solidFill>
                <a:latin typeface="DejaVu Sans Mono"/>
              </a:defRPr>
            </a:pPr>
            <a: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8C"/>
                </a:solidFill>
                <a:latin typeface="Noto Sans CJK KR"/>
              </a:defRPr>
            </a:pPr>
            <a:r>
              <a:t>MLIR NPU Compiler - Lecture 08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65A8"/>
          </a:solidFill>
          <a:ln>
            <a:solidFill>
              <a:srgbClr val="006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A40"/>
                </a:solidFill>
                <a:latin typeface="Noto Sans CJK KR"/>
              </a:defRPr>
            </a:pPr>
            <a:r>
              <a:t>Affine Tiled MatMul Skeleton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51560"/>
            <a:ext cx="10972800" cy="5166360"/>
          </a:xfrm>
          <a:prstGeom prst="roundRect">
            <a:avLst/>
          </a:prstGeom>
          <a:solidFill>
            <a:srgbClr val="F7F9FC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280160"/>
            <a:ext cx="1051560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230">
                <a:solidFill>
                  <a:srgbClr val="1E2832"/>
                </a:solidFill>
                <a:latin typeface="DejaVu Sans Mono"/>
              </a:defRPr>
            </a:pPr>
            <a:r>
              <a:t>affine.for %m0 = 0 to 128 step 32 {</a:t>
            </a:r>
          </a:p>
          <a:p>
            <a:pPr>
              <a:spcAft>
                <a:spcPts val="0"/>
              </a:spcAft>
              <a:defRPr sz="1230">
                <a:solidFill>
                  <a:srgbClr val="1E2832"/>
                </a:solidFill>
                <a:latin typeface="DejaVu Sans Mono"/>
              </a:defRPr>
            </a:pPr>
            <a:r>
              <a:t>  affine.for %n0 = 0 to 128 step 64 {</a:t>
            </a:r>
          </a:p>
          <a:p>
            <a:pPr>
              <a:spcAft>
                <a:spcPts val="0"/>
              </a:spcAft>
              <a:defRPr sz="1230">
                <a:solidFill>
                  <a:srgbClr val="1E2832"/>
                </a:solidFill>
                <a:latin typeface="DejaVu Sans Mono"/>
              </a:defRPr>
            </a:pPr>
            <a:r>
              <a:t>    affine.for %k0 = 0 to 256 step 64 {</a:t>
            </a:r>
          </a:p>
          <a:p>
            <a:pPr>
              <a:spcAft>
                <a:spcPts val="0"/>
              </a:spcAft>
              <a:defRPr sz="1230">
                <a:solidFill>
                  <a:srgbClr val="1E2832"/>
                </a:solidFill>
                <a:latin typeface="DejaVu Sans Mono"/>
              </a:defRPr>
            </a:pPr>
            <a:r>
              <a:t>      affine.for %mi = 0 to 32 {</a:t>
            </a:r>
          </a:p>
          <a:p>
            <a:pPr>
              <a:spcAft>
                <a:spcPts val="0"/>
              </a:spcAft>
              <a:defRPr sz="1230">
                <a:solidFill>
                  <a:srgbClr val="1E2832"/>
                </a:solidFill>
                <a:latin typeface="DejaVu Sans Mono"/>
              </a:defRPr>
            </a:pPr>
            <a:r>
              <a:t>        affine.for %ni = 0 to 64 {</a:t>
            </a:r>
          </a:p>
          <a:p>
            <a:pPr>
              <a:spcAft>
                <a:spcPts val="0"/>
              </a:spcAft>
              <a:defRPr sz="1230">
                <a:solidFill>
                  <a:srgbClr val="1E2832"/>
                </a:solidFill>
                <a:latin typeface="DejaVu Sans Mono"/>
              </a:defRPr>
            </a:pPr>
            <a:r>
              <a:t>          affine.for %ki = 0 to 64 {</a:t>
            </a:r>
          </a:p>
          <a:p>
            <a:pPr>
              <a:spcAft>
                <a:spcPts val="0"/>
              </a:spcAft>
              <a:defRPr sz="1230">
                <a:solidFill>
                  <a:srgbClr val="1E2832"/>
                </a:solidFill>
                <a:latin typeface="DejaVu Sans Mono"/>
              </a:defRPr>
            </a:pPr>
            <a:r>
              <a:t>            %a = affine.load %A[%m0 + %mi, %k0 + %ki] : memref&lt;128x256xf32&gt;</a:t>
            </a:r>
          </a:p>
          <a:p>
            <a:pPr>
              <a:spcAft>
                <a:spcPts val="0"/>
              </a:spcAft>
              <a:defRPr sz="1230">
                <a:solidFill>
                  <a:srgbClr val="1E2832"/>
                </a:solidFill>
                <a:latin typeface="DejaVu Sans Mono"/>
              </a:defRPr>
            </a:pPr>
            <a:r>
              <a:t>            %b = affine.load %B[%k0 + %ki, %n0 + %ni] : memref&lt;256x128xf32&gt;</a:t>
            </a:r>
          </a:p>
          <a:p>
            <a:pPr>
              <a:spcAft>
                <a:spcPts val="0"/>
              </a:spcAft>
              <a:defRPr sz="1230">
                <a:solidFill>
                  <a:srgbClr val="1E2832"/>
                </a:solidFill>
                <a:latin typeface="DejaVu Sans Mono"/>
              </a:defRPr>
            </a:pPr>
            <a:r>
              <a:t>            // C += A * B</a:t>
            </a:r>
          </a:p>
          <a:p>
            <a:pPr>
              <a:spcAft>
                <a:spcPts val="0"/>
              </a:spcAft>
              <a:defRPr sz="1230">
                <a:solidFill>
                  <a:srgbClr val="1E2832"/>
                </a:solidFill>
                <a:latin typeface="DejaVu Sans Mono"/>
              </a:defRPr>
            </a:pPr>
            <a:r>
              <a:t>          }</a:t>
            </a:r>
          </a:p>
          <a:p>
            <a:pPr>
              <a:spcAft>
                <a:spcPts val="0"/>
              </a:spcAft>
              <a:defRPr sz="1230">
                <a:solidFill>
                  <a:srgbClr val="1E2832"/>
                </a:solidFill>
                <a:latin typeface="DejaVu Sans Mono"/>
              </a:defRPr>
            </a:pPr>
            <a:r>
              <a:t>        }</a:t>
            </a:r>
          </a:p>
          <a:p>
            <a:pPr>
              <a:spcAft>
                <a:spcPts val="0"/>
              </a:spcAft>
              <a:defRPr sz="1230">
                <a:solidFill>
                  <a:srgbClr val="1E2832"/>
                </a:solidFill>
                <a:latin typeface="DejaVu Sans Mono"/>
              </a:defRPr>
            </a:pPr>
            <a:r>
              <a:t>      }</a:t>
            </a:r>
          </a:p>
          <a:p>
            <a:pPr>
              <a:spcAft>
                <a:spcPts val="0"/>
              </a:spcAft>
              <a:defRPr sz="1230">
                <a:solidFill>
                  <a:srgbClr val="1E2832"/>
                </a:solidFill>
                <a:latin typeface="DejaVu Sans Mono"/>
              </a:defRPr>
            </a:pPr>
            <a:r>
              <a:t>    }</a:t>
            </a:r>
          </a:p>
          <a:p>
            <a:pPr>
              <a:spcAft>
                <a:spcPts val="0"/>
              </a:spcAft>
              <a:defRPr sz="1230">
                <a:solidFill>
                  <a:srgbClr val="1E2832"/>
                </a:solidFill>
                <a:latin typeface="DejaVu Sans Mono"/>
              </a:defRPr>
            </a:pPr>
            <a:r>
              <a:t>  }</a:t>
            </a:r>
          </a:p>
          <a:p>
            <a:pPr>
              <a:spcAft>
                <a:spcPts val="0"/>
              </a:spcAft>
              <a:defRPr sz="1230">
                <a:solidFill>
                  <a:srgbClr val="1E2832"/>
                </a:solidFill>
                <a:latin typeface="DejaVu Sans Mono"/>
              </a:defRPr>
            </a:pPr>
            <a: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8C"/>
                </a:solidFill>
                <a:latin typeface="Noto Sans CJK KR"/>
              </a:defRPr>
            </a:pPr>
            <a:r>
              <a:t>MLIR NPU Compiler - Lecture 08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65A8"/>
          </a:solidFill>
          <a:ln>
            <a:solidFill>
              <a:srgbClr val="006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A40"/>
                </a:solidFill>
                <a:latin typeface="Noto Sans CJK KR"/>
              </a:defRPr>
            </a:pPr>
            <a:r>
              <a:t>Loop Order와 Data Reuse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282D35"/>
                </a:solidFill>
                <a:latin typeface="Noto Sans CJK KR"/>
              </a:defRPr>
            </a:pPr>
            <a:r>
              <a:t>m0/n0 outer loop: 하나의 C tile을 accumulator에 유지한다.</a:t>
            </a:r>
          </a:p>
          <a:p>
            <a:pPr>
              <a:spcAft>
                <a:spcPts val="700"/>
              </a:spcAft>
              <a:defRPr sz="2000">
                <a:solidFill>
                  <a:srgbClr val="282D35"/>
                </a:solidFill>
                <a:latin typeface="Noto Sans CJK KR"/>
              </a:defRPr>
            </a:pPr>
            <a:r>
              <a:t>k0 inner loop: A/B tile을 stream하면서 C tile에 누적한다.</a:t>
            </a:r>
          </a:p>
          <a:p>
            <a:pPr>
              <a:spcAft>
                <a:spcPts val="700"/>
              </a:spcAft>
              <a:defRPr sz="2000">
                <a:solidFill>
                  <a:srgbClr val="282D35"/>
                </a:solidFill>
                <a:latin typeface="Noto Sans CJK KR"/>
              </a:defRPr>
            </a:pPr>
            <a:r>
              <a:t>M-major ordering: A row tile reuse와 C row locality에 유리할 수 있다.</a:t>
            </a:r>
          </a:p>
          <a:p>
            <a:pPr>
              <a:spcAft>
                <a:spcPts val="700"/>
              </a:spcAft>
              <a:defRPr sz="2000">
                <a:solidFill>
                  <a:srgbClr val="282D35"/>
                </a:solidFill>
                <a:latin typeface="Noto Sans CJK KR"/>
              </a:defRPr>
            </a:pPr>
            <a:r>
              <a:t>N-major ordering: B column tile reuse 또는 output store pattern에 유리할 수 있다.</a:t>
            </a:r>
          </a:p>
          <a:p>
            <a:pPr>
              <a:spcAft>
                <a:spcPts val="700"/>
              </a:spcAft>
              <a:defRPr sz="2000">
                <a:solidFill>
                  <a:srgbClr val="282D35"/>
                </a:solidFill>
                <a:latin typeface="Noto Sans CJK KR"/>
              </a:defRPr>
            </a:pPr>
            <a:r>
              <a:t>Target NPU의 SRAM bank와 DMA burst pattern을 보고 결정해야 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8C"/>
                </a:solidFill>
                <a:latin typeface="Noto Sans CJK KR"/>
              </a:defRPr>
            </a:pPr>
            <a:r>
              <a:t>MLIR NPU Compiler - Lecture 08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65A8"/>
          </a:solidFill>
          <a:ln>
            <a:solidFill>
              <a:srgbClr val="006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A40"/>
                </a:solidFill>
                <a:latin typeface="Noto Sans CJK KR"/>
              </a:defRPr>
            </a:pPr>
            <a:r>
              <a:t>Tile Footprint 계산</a:t>
            </a:r>
          </a:p>
        </p:txBody>
      </p:sp>
      <p:pic>
        <p:nvPicPr>
          <p:cNvPr id="4" name="Picture 3" descr="MLIR_NPU_Lecture_08_Tile_Footpri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051560"/>
            <a:ext cx="11018520" cy="66111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473952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8C"/>
                </a:solidFill>
                <a:latin typeface="Noto Sans CJK KR"/>
              </a:defRPr>
            </a:pPr>
            <a:r>
              <a:t>MLIR NPU Compiler - Lecture 08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65A8"/>
          </a:solidFill>
          <a:ln>
            <a:solidFill>
              <a:srgbClr val="006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A40"/>
                </a:solidFill>
                <a:latin typeface="Noto Sans CJK KR"/>
              </a:defRPr>
            </a:pPr>
            <a:r>
              <a:t>Tile Size Selection Heuristics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282D35"/>
                </a:solidFill>
                <a:latin typeface="Noto Sans CJK KR"/>
              </a:defRPr>
            </a:pPr>
            <a:r>
              <a:t>TM/TN은 MAC array output tile shape와 accumulator bank에 맞춘다.</a:t>
            </a:r>
          </a:p>
          <a:p>
            <a:pPr>
              <a:spcAft>
                <a:spcPts val="700"/>
              </a:spcAft>
              <a:defRPr sz="2000">
                <a:solidFill>
                  <a:srgbClr val="282D35"/>
                </a:solidFill>
                <a:latin typeface="Noto Sans CJK KR"/>
              </a:defRPr>
            </a:pPr>
            <a:r>
              <a:t>TK는 A/B streaming 효율과 reduction loop overhead를 균형화한다.</a:t>
            </a:r>
          </a:p>
          <a:p>
            <a:pPr>
              <a:spcAft>
                <a:spcPts val="700"/>
              </a:spcAft>
              <a:defRPr sz="2000">
                <a:solidFill>
                  <a:srgbClr val="282D35"/>
                </a:solidFill>
                <a:latin typeface="Noto Sans CJK KR"/>
              </a:defRPr>
            </a:pPr>
            <a:r>
              <a:t>input tile double buffering을 고려해 SRAM budget을 계산한다.</a:t>
            </a:r>
          </a:p>
          <a:p>
            <a:pPr>
              <a:spcAft>
                <a:spcPts val="700"/>
              </a:spcAft>
              <a:defRPr sz="2000">
                <a:solidFill>
                  <a:srgbClr val="282D35"/>
                </a:solidFill>
                <a:latin typeface="Noto Sans CJK KR"/>
              </a:defRPr>
            </a:pPr>
            <a:r>
              <a:t>DMA burst alignment, page boundary, bank conflict를 별도 constraint로 둔다.</a:t>
            </a:r>
          </a:p>
          <a:p>
            <a:pPr>
              <a:spcAft>
                <a:spcPts val="700"/>
              </a:spcAft>
              <a:defRPr sz="2000">
                <a:solidFill>
                  <a:srgbClr val="282D35"/>
                </a:solidFill>
                <a:latin typeface="Noto Sans CJK KR"/>
              </a:defRPr>
            </a:pPr>
            <a:r>
              <a:t>edge tile이 너무 많으면 tile size 또는 padding policy를 재검토한다.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8C"/>
                </a:solidFill>
                <a:latin typeface="Noto Sans CJK KR"/>
              </a:defRPr>
            </a:pPr>
            <a:r>
              <a:t>MLIR NPU Compiler - Lecture 08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65A8"/>
          </a:solidFill>
          <a:ln>
            <a:solidFill>
              <a:srgbClr val="006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A40"/>
                </a:solidFill>
                <a:latin typeface="Noto Sans CJK KR"/>
              </a:defRPr>
            </a:pPr>
            <a:r>
              <a:t>Edge Tile Policy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282D35"/>
                </a:solidFill>
                <a:latin typeface="Noto Sans CJK KR"/>
              </a:defRPr>
            </a:pPr>
            <a:r>
              <a:t>Problem: M/N/K가 tile size의 배수가 아닐 수 있다.</a:t>
            </a:r>
          </a:p>
          <a:p>
            <a:pPr>
              <a:spcAft>
                <a:spcPts val="700"/>
              </a:spcAft>
              <a:defRPr sz="2000">
                <a:solidFill>
                  <a:srgbClr val="282D35"/>
                </a:solidFill>
                <a:latin typeface="Noto Sans CJK KR"/>
              </a:defRPr>
            </a:pPr>
            <a:r>
              <a:t>Option 1: effective tile size = min(tile, remaining)</a:t>
            </a:r>
          </a:p>
          <a:p>
            <a:pPr>
              <a:spcAft>
                <a:spcPts val="700"/>
              </a:spcAft>
              <a:defRPr sz="2000">
                <a:solidFill>
                  <a:srgbClr val="282D35"/>
                </a:solidFill>
                <a:latin typeface="Noto Sans CJK KR"/>
              </a:defRPr>
            </a:pPr>
            <a:r>
              <a:t>Option 2: mask-based compute and store</a:t>
            </a:r>
          </a:p>
          <a:p>
            <a:pPr>
              <a:spcAft>
                <a:spcPts val="700"/>
              </a:spcAft>
              <a:defRPr sz="2000">
                <a:solidFill>
                  <a:srgbClr val="282D35"/>
                </a:solidFill>
                <a:latin typeface="Noto Sans CJK KR"/>
              </a:defRPr>
            </a:pPr>
            <a:r>
              <a:t>Option 3: pad input/output to tile boundary</a:t>
            </a:r>
          </a:p>
          <a:p>
            <a:pPr>
              <a:spcAft>
                <a:spcPts val="700"/>
              </a:spcAft>
              <a:defRPr sz="2000">
                <a:solidFill>
                  <a:srgbClr val="282D35"/>
                </a:solidFill>
                <a:latin typeface="Noto Sans CJK KR"/>
              </a:defRPr>
            </a:pPr>
            <a:r>
              <a:t>Option 4: fallback micro-kernel or CPU path</a:t>
            </a:r>
          </a:p>
          <a:p>
            <a:pPr>
              <a:spcAft>
                <a:spcPts val="700"/>
              </a:spcAft>
              <a:defRPr sz="2000">
                <a:solidFill>
                  <a:srgbClr val="282D35"/>
                </a:solidFill>
                <a:latin typeface="Noto Sans CJK KR"/>
              </a:defRPr>
            </a:pPr>
            <a:r>
              <a:t>Compiler는 read/write out-of-bounds를 반드시 방지해야 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8C"/>
                </a:solidFill>
                <a:latin typeface="Noto Sans CJK KR"/>
              </a:defRPr>
            </a:pPr>
            <a:r>
              <a:t>MLIR NPU Compiler - Lecture 08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65A8"/>
          </a:solidFill>
          <a:ln>
            <a:solidFill>
              <a:srgbClr val="006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A40"/>
                </a:solidFill>
                <a:latin typeface="Noto Sans CJK KR"/>
              </a:defRPr>
            </a:pPr>
            <a:r>
              <a:t>DMA Baseline Schedule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282D35"/>
                </a:solidFill>
                <a:latin typeface="Noto Sans CJK KR"/>
              </a:defRPr>
            </a:pPr>
            <a:r>
              <a:t>1. DMA A tile from DRAM to SRAM</a:t>
            </a:r>
          </a:p>
          <a:p>
            <a:pPr>
              <a:spcAft>
                <a:spcPts val="700"/>
              </a:spcAft>
              <a:defRPr sz="2000">
                <a:solidFill>
                  <a:srgbClr val="282D35"/>
                </a:solidFill>
                <a:latin typeface="Noto Sans CJK KR"/>
              </a:defRPr>
            </a:pPr>
            <a:r>
              <a:t>2. DMA B tile from DRAM to SRAM</a:t>
            </a:r>
          </a:p>
          <a:p>
            <a:pPr>
              <a:spcAft>
                <a:spcPts val="700"/>
              </a:spcAft>
              <a:defRPr sz="2000">
                <a:solidFill>
                  <a:srgbClr val="282D35"/>
                </a:solidFill>
                <a:latin typeface="Noto Sans CJK KR"/>
              </a:defRPr>
            </a:pPr>
            <a:r>
              <a:t>3. wait/barrier until DMA completes</a:t>
            </a:r>
          </a:p>
          <a:p>
            <a:pPr>
              <a:spcAft>
                <a:spcPts val="700"/>
              </a:spcAft>
              <a:defRPr sz="2000">
                <a:solidFill>
                  <a:srgbClr val="282D35"/>
                </a:solidFill>
                <a:latin typeface="Noto Sans CJK KR"/>
              </a:defRPr>
            </a:pPr>
            <a:r>
              <a:t>4. compute C tile += A tile * B tile</a:t>
            </a:r>
          </a:p>
          <a:p>
            <a:pPr>
              <a:spcAft>
                <a:spcPts val="700"/>
              </a:spcAft>
              <a:defRPr sz="2000">
                <a:solidFill>
                  <a:srgbClr val="282D35"/>
                </a:solidFill>
                <a:latin typeface="Noto Sans CJK KR"/>
              </a:defRPr>
            </a:pPr>
            <a:r>
              <a:t>5. repeat for next K tile</a:t>
            </a:r>
          </a:p>
          <a:p>
            <a:pPr>
              <a:spcAft>
                <a:spcPts val="700"/>
              </a:spcAft>
              <a:defRPr sz="2000">
                <a:solidFill>
                  <a:srgbClr val="282D35"/>
                </a:solidFill>
                <a:latin typeface="Noto Sans CJK KR"/>
              </a:defRPr>
            </a:pPr>
            <a:r>
              <a:t>6. store completed C tile to DRAM</a:t>
            </a:r>
          </a:p>
          <a:p>
            <a:pPr>
              <a:spcAft>
                <a:spcPts val="700"/>
              </a:spcAft>
              <a:defRPr sz="2000">
                <a:solidFill>
                  <a:srgbClr val="282D35"/>
                </a:solidFill>
                <a:latin typeface="Noto Sans CJK KR"/>
              </a:defRPr>
            </a:pPr>
            <a:r>
              <a:t>Baseline은 쉽지만 compute와 DMA가 직렬화되어 latency hiding이 약하다.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8C"/>
                </a:solidFill>
                <a:latin typeface="Noto Sans CJK KR"/>
              </a:defRPr>
            </a:pPr>
            <a:r>
              <a:t>MLIR NPU Compiler - Lecture 08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65A8"/>
          </a:solidFill>
          <a:ln>
            <a:solidFill>
              <a:srgbClr val="006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A40"/>
                </a:solidFill>
                <a:latin typeface="Noto Sans CJK KR"/>
              </a:defRPr>
            </a:pPr>
            <a:r>
              <a:t>Double-buffered DMA Timeline</a:t>
            </a:r>
          </a:p>
        </p:txBody>
      </p:sp>
      <p:pic>
        <p:nvPicPr>
          <p:cNvPr id="4" name="Picture 3" descr="MLIR_NPU_Lecture_08_DMA_Double_Buffer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051560"/>
            <a:ext cx="11018520" cy="583333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473952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8C"/>
                </a:solidFill>
                <a:latin typeface="Noto Sans CJK KR"/>
              </a:defRPr>
            </a:pPr>
            <a:r>
              <a:t>MLIR NPU Compiler - Lecture 08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65A8"/>
          </a:solidFill>
          <a:ln>
            <a:solidFill>
              <a:srgbClr val="006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A40"/>
                </a:solidFill>
                <a:latin typeface="Noto Sans CJK KR"/>
              </a:defRPr>
            </a:pPr>
            <a:r>
              <a:t>Barrier Placement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282D35"/>
                </a:solidFill>
                <a:latin typeface="Noto Sans CJK KR"/>
              </a:defRPr>
            </a:pPr>
            <a:r>
              <a:t>DMA wait는 compute가 해당 tile을 소비하기 직전에 둔다.</a:t>
            </a:r>
          </a:p>
          <a:p>
            <a:pPr>
              <a:spcAft>
                <a:spcPts val="700"/>
              </a:spcAft>
              <a:defRPr sz="2000">
                <a:solidFill>
                  <a:srgbClr val="282D35"/>
                </a:solidFill>
                <a:latin typeface="Noto Sans CJK KR"/>
              </a:defRPr>
            </a:pPr>
            <a:r>
              <a:t>compute가 읽는 SRAM buffer를 DMA가 overwrite하면 안 된다.</a:t>
            </a:r>
          </a:p>
          <a:p>
            <a:pPr>
              <a:spcAft>
                <a:spcPts val="700"/>
              </a:spcAft>
              <a:defRPr sz="2000">
                <a:solidFill>
                  <a:srgbClr val="282D35"/>
                </a:solidFill>
                <a:latin typeface="Noto Sans CJK KR"/>
              </a:defRPr>
            </a:pPr>
            <a:r>
              <a:t>store는 accumulator가 모든 K tile을 누적한 뒤에만 시작한다.</a:t>
            </a:r>
          </a:p>
          <a:p>
            <a:pPr>
              <a:spcAft>
                <a:spcPts val="700"/>
              </a:spcAft>
              <a:defRPr sz="2000">
                <a:solidFill>
                  <a:srgbClr val="282D35"/>
                </a:solidFill>
                <a:latin typeface="Noto Sans CJK KR"/>
              </a:defRPr>
            </a:pPr>
            <a:r>
              <a:t>too early wait: overlap 손실</a:t>
            </a:r>
          </a:p>
          <a:p>
            <a:pPr>
              <a:spcAft>
                <a:spcPts val="700"/>
              </a:spcAft>
              <a:defRPr sz="2000">
                <a:solidFill>
                  <a:srgbClr val="282D35"/>
                </a:solidFill>
                <a:latin typeface="Noto Sans CJK KR"/>
              </a:defRPr>
            </a:pPr>
            <a:r>
              <a:t>too late wait: correctness hazard</a:t>
            </a:r>
          </a:p>
          <a:p>
            <a:pPr>
              <a:spcAft>
                <a:spcPts val="700"/>
              </a:spcAft>
              <a:defRPr sz="2000">
                <a:solidFill>
                  <a:srgbClr val="282D35"/>
                </a:solidFill>
                <a:latin typeface="Noto Sans CJK KR"/>
              </a:defRPr>
            </a:pPr>
            <a:r>
              <a:t>각 barrier는 compiler test에서 ordering contract로 검증해야 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8C"/>
                </a:solidFill>
                <a:latin typeface="Noto Sans CJK KR"/>
              </a:defRPr>
            </a:pPr>
            <a:r>
              <a:t>MLIR NPU Compiler - Lecture 08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65A8"/>
          </a:solidFill>
          <a:ln>
            <a:solidFill>
              <a:srgbClr val="006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A40"/>
                </a:solidFill>
                <a:latin typeface="Noto Sans CJK KR"/>
              </a:defRPr>
            </a:pPr>
            <a:r>
              <a:t>DMA Pseudo IR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51560"/>
            <a:ext cx="10972800" cy="5166360"/>
          </a:xfrm>
          <a:prstGeom prst="roundRect">
            <a:avLst/>
          </a:prstGeom>
          <a:solidFill>
            <a:srgbClr val="F7F9FC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280160"/>
            <a:ext cx="1051560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230">
                <a:solidFill>
                  <a:srgbClr val="1E2832"/>
                </a:solidFill>
                <a:latin typeface="DejaVu Sans Mono"/>
              </a:defRPr>
            </a:pPr>
            <a:r>
              <a:t>// preload k0 into buffer 0</a:t>
            </a:r>
          </a:p>
          <a:p>
            <a:pPr>
              <a:spcAft>
                <a:spcPts val="0"/>
              </a:spcAft>
              <a:defRPr sz="1230">
                <a:solidFill>
                  <a:srgbClr val="1E2832"/>
                </a:solidFill>
                <a:latin typeface="DejaVu Sans Mono"/>
              </a:defRPr>
            </a:pPr>
            <a:r>
              <a:t>"npu.dma.start"(%A, %B, %c0) {buffer = 0 : i32} : (...) -&gt; ()</a:t>
            </a:r>
          </a:p>
          <a:p>
            <a:pPr>
              <a:spcAft>
                <a:spcPts val="0"/>
              </a:spcAft>
              <a:defRPr sz="1230">
                <a:solidFill>
                  <a:srgbClr val="1E2832"/>
                </a:solidFill>
                <a:latin typeface="DejaVu Sans Mono"/>
              </a:defRPr>
            </a:pPr>
            <a:r>
              <a:t>"npu.dma.wait"() {buffer = 0 : i32} : () -&gt; ()</a:t>
            </a:r>
          </a:p>
          <a:p>
            <a:pPr>
              <a:spcAft>
                <a:spcPts val="0"/>
              </a:spcAft>
              <a:defRPr sz="1230">
                <a:solidFill>
                  <a:srgbClr val="1E2832"/>
                </a:solidFill>
                <a:latin typeface="DejaVu Sans Mono"/>
              </a:defRPr>
            </a:pPr>
          </a:p>
          <a:p>
            <a:pPr>
              <a:spcAft>
                <a:spcPts val="0"/>
              </a:spcAft>
              <a:defRPr sz="1230">
                <a:solidFill>
                  <a:srgbClr val="1E2832"/>
                </a:solidFill>
                <a:latin typeface="DejaVu Sans Mono"/>
              </a:defRPr>
            </a:pPr>
            <a:r>
              <a:t>scf.for %k0 = %c0 to %K step %TK {</a:t>
            </a:r>
          </a:p>
          <a:p>
            <a:pPr>
              <a:spcAft>
                <a:spcPts val="0"/>
              </a:spcAft>
              <a:defRPr sz="1230">
                <a:solidFill>
                  <a:srgbClr val="1E2832"/>
                </a:solidFill>
                <a:latin typeface="DejaVu Sans Mono"/>
              </a:defRPr>
            </a:pPr>
            <a:r>
              <a:t>  "npu.dma.start_next_if_any"(%A, %B, %k0) : (...) -&gt; ()</a:t>
            </a:r>
          </a:p>
          <a:p>
            <a:pPr>
              <a:spcAft>
                <a:spcPts val="0"/>
              </a:spcAft>
              <a:defRPr sz="1230">
                <a:solidFill>
                  <a:srgbClr val="1E2832"/>
                </a:solidFill>
                <a:latin typeface="DejaVu Sans Mono"/>
              </a:defRPr>
            </a:pPr>
            <a:r>
              <a:t>  "npu.matmul.consume_current_buffer"(%k0) : (index) -&gt; ()</a:t>
            </a:r>
          </a:p>
          <a:p>
            <a:pPr>
              <a:spcAft>
                <a:spcPts val="0"/>
              </a:spcAft>
              <a:defRPr sz="1230">
                <a:solidFill>
                  <a:srgbClr val="1E2832"/>
                </a:solidFill>
                <a:latin typeface="DejaVu Sans Mono"/>
              </a:defRPr>
            </a:pPr>
            <a:r>
              <a:t>  "npu.dma.wait_next_if_any"(%k0) : (index) -&gt; ()</a:t>
            </a:r>
          </a:p>
          <a:p>
            <a:pPr>
              <a:spcAft>
                <a:spcPts val="0"/>
              </a:spcAft>
              <a:defRPr sz="1230">
                <a:solidFill>
                  <a:srgbClr val="1E2832"/>
                </a:solidFill>
                <a:latin typeface="DejaVu Sans Mono"/>
              </a:defRPr>
            </a:pPr>
            <a:r>
              <a:t>}</a:t>
            </a:r>
          </a:p>
          <a:p>
            <a:pPr>
              <a:spcAft>
                <a:spcPts val="0"/>
              </a:spcAft>
              <a:defRPr sz="1230">
                <a:solidFill>
                  <a:srgbClr val="1E2832"/>
                </a:solidFill>
                <a:latin typeface="DejaVu Sans Mono"/>
              </a:defRPr>
            </a:pPr>
          </a:p>
          <a:p>
            <a:pPr>
              <a:spcAft>
                <a:spcPts val="0"/>
              </a:spcAft>
              <a:defRPr sz="1230">
                <a:solidFill>
                  <a:srgbClr val="1E2832"/>
                </a:solidFill>
                <a:latin typeface="DejaVu Sans Mono"/>
              </a:defRPr>
            </a:pPr>
            <a:r>
              <a:t>"npu.dma.store"(%C) : (...) -&gt; 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8C"/>
                </a:solidFill>
                <a:latin typeface="Noto Sans CJK KR"/>
              </a:defRPr>
            </a:pPr>
            <a:r>
              <a:t>MLIR NPU Compiler - Lecture 08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65A8"/>
          </a:solidFill>
          <a:ln>
            <a:solidFill>
              <a:srgbClr val="006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A40"/>
                </a:solidFill>
                <a:latin typeface="Noto Sans CJK KR"/>
              </a:defRPr>
            </a:pPr>
            <a:r>
              <a:t>SCF/Affine -&gt; NPU Dialect Lowering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282D35"/>
                </a:solidFill>
                <a:latin typeface="Noto Sans CJK KR"/>
              </a:defRPr>
            </a:pPr>
            <a:r>
              <a:t>SCF/Affine loop: tile-level iteration and scheduling intent</a:t>
            </a:r>
          </a:p>
          <a:p>
            <a:pPr>
              <a:spcAft>
                <a:spcPts val="700"/>
              </a:spcAft>
              <a:defRPr sz="2000">
                <a:solidFill>
                  <a:srgbClr val="282D35"/>
                </a:solidFill>
                <a:latin typeface="Noto Sans CJK KR"/>
              </a:defRPr>
            </a:pPr>
            <a:r>
              <a:t>Bufferization/MemRef: physical buffer, memory space, layout</a:t>
            </a:r>
          </a:p>
          <a:p>
            <a:pPr>
              <a:spcAft>
                <a:spcPts val="700"/>
              </a:spcAft>
              <a:defRPr sz="2000">
                <a:solidFill>
                  <a:srgbClr val="282D35"/>
                </a:solidFill>
                <a:latin typeface="Noto Sans CJK KR"/>
              </a:defRPr>
            </a:pPr>
            <a:r>
              <a:t>Vector/Tensorization: inner micro-kernel shape</a:t>
            </a:r>
          </a:p>
          <a:p>
            <a:pPr>
              <a:spcAft>
                <a:spcPts val="700"/>
              </a:spcAft>
              <a:defRPr sz="2000">
                <a:solidFill>
                  <a:srgbClr val="282D35"/>
                </a:solidFill>
                <a:latin typeface="Noto Sans CJK KR"/>
              </a:defRPr>
            </a:pPr>
            <a:r>
              <a:t>NPU kernel dialect: matmul tile, dma, barrier, accumulator ops</a:t>
            </a:r>
          </a:p>
          <a:p>
            <a:pPr>
              <a:spcAft>
                <a:spcPts val="700"/>
              </a:spcAft>
              <a:defRPr sz="2000">
                <a:solidFill>
                  <a:srgbClr val="282D35"/>
                </a:solidFill>
                <a:latin typeface="Noto Sans CJK KR"/>
              </a:defRPr>
            </a:pPr>
            <a:r>
              <a:t>NPU runtime dialect: command buffer emit and ABI lowering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8C"/>
                </a:solidFill>
                <a:latin typeface="Noto Sans CJK KR"/>
              </a:defRPr>
            </a:pPr>
            <a:r>
              <a:t>MLIR NPU Compiler - Lecture 08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65A8"/>
          </a:solidFill>
          <a:ln>
            <a:solidFill>
              <a:srgbClr val="006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A40"/>
                </a:solidFill>
                <a:latin typeface="Noto Sans CJK KR"/>
              </a:defRPr>
            </a:pPr>
            <a:r>
              <a:t>Regression Test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282D35"/>
                </a:solidFill>
                <a:latin typeface="Noto Sans CJK KR"/>
              </a:defRPr>
            </a:pPr>
            <a:r>
              <a:t>Loop structure: m0/n0/k0 order and tile sizes</a:t>
            </a:r>
          </a:p>
          <a:p>
            <a:pPr>
              <a:spcAft>
                <a:spcPts val="700"/>
              </a:spcAft>
              <a:defRPr sz="2000">
                <a:solidFill>
                  <a:srgbClr val="282D35"/>
                </a:solidFill>
                <a:latin typeface="Noto Sans CJK KR"/>
              </a:defRPr>
            </a:pPr>
            <a:r>
              <a:t>Accumulator lifetime: zero before K loop, store after K loop</a:t>
            </a:r>
          </a:p>
          <a:p>
            <a:pPr>
              <a:spcAft>
                <a:spcPts val="700"/>
              </a:spcAft>
              <a:defRPr sz="2000">
                <a:solidFill>
                  <a:srgbClr val="282D35"/>
                </a:solidFill>
                <a:latin typeface="Noto Sans CJK KR"/>
              </a:defRPr>
            </a:pPr>
            <a:r>
              <a:t>DMA ordering: load A/B before matmul, wait before consume</a:t>
            </a:r>
          </a:p>
          <a:p>
            <a:pPr>
              <a:spcAft>
                <a:spcPts val="700"/>
              </a:spcAft>
              <a:defRPr sz="2000">
                <a:solidFill>
                  <a:srgbClr val="282D35"/>
                </a:solidFill>
                <a:latin typeface="Noto Sans CJK KR"/>
              </a:defRPr>
            </a:pPr>
            <a:r>
              <a:t>Double-buffer policy: no overwrite-before-consume</a:t>
            </a:r>
          </a:p>
          <a:p>
            <a:pPr>
              <a:spcAft>
                <a:spcPts val="700"/>
              </a:spcAft>
              <a:defRPr sz="2000">
                <a:solidFill>
                  <a:srgbClr val="282D35"/>
                </a:solidFill>
                <a:latin typeface="Noto Sans CJK KR"/>
              </a:defRPr>
            </a:pPr>
            <a:r>
              <a:t>Edge tile policy: min/mask/padding/fallback correctness</a:t>
            </a:r>
          </a:p>
          <a:p>
            <a:pPr>
              <a:spcAft>
                <a:spcPts val="700"/>
              </a:spcAft>
              <a:defRPr sz="2000">
                <a:solidFill>
                  <a:srgbClr val="282D35"/>
                </a:solidFill>
                <a:latin typeface="Noto Sans CJK KR"/>
              </a:defRPr>
            </a:pPr>
            <a:r>
              <a:t>Types and memory spaces: input, accumulator, output consistency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8C"/>
                </a:solidFill>
                <a:latin typeface="Noto Sans CJK KR"/>
              </a:defRPr>
            </a:pPr>
            <a:r>
              <a:t>MLIR NPU Compiler - Lecture 08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65A8"/>
          </a:solidFill>
          <a:ln>
            <a:solidFill>
              <a:srgbClr val="006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A40"/>
                </a:solidFill>
                <a:latin typeface="Noto Sans CJK KR"/>
              </a:defRPr>
            </a:pPr>
            <a:r>
              <a:t>FileCheck Template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51560"/>
            <a:ext cx="10972800" cy="5166360"/>
          </a:xfrm>
          <a:prstGeom prst="roundRect">
            <a:avLst/>
          </a:prstGeom>
          <a:solidFill>
            <a:srgbClr val="F7F9FC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280160"/>
            <a:ext cx="1051560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230">
                <a:solidFill>
                  <a:srgbClr val="1E2832"/>
                </a:solidFill>
                <a:latin typeface="DejaVu Sans Mono"/>
              </a:defRPr>
            </a:pPr>
            <a:r>
              <a:t>// RUN: mlir-opt %s --canonicalize | FileCheck %s</a:t>
            </a:r>
          </a:p>
          <a:p>
            <a:pPr>
              <a:spcAft>
                <a:spcPts val="0"/>
              </a:spcAft>
              <a:defRPr sz="1230">
                <a:solidFill>
                  <a:srgbClr val="1E2832"/>
                </a:solidFill>
                <a:latin typeface="DejaVu Sans Mono"/>
              </a:defRPr>
            </a:pPr>
          </a:p>
          <a:p>
            <a:pPr>
              <a:spcAft>
                <a:spcPts val="0"/>
              </a:spcAft>
              <a:defRPr sz="1230">
                <a:solidFill>
                  <a:srgbClr val="1E2832"/>
                </a:solidFill>
                <a:latin typeface="DejaVu Sans Mono"/>
              </a:defRPr>
            </a:pPr>
            <a:r>
              <a:t>// CHECK-LABEL: func.func @scf_tiled_matmul_pseudo</a:t>
            </a:r>
          </a:p>
          <a:p>
            <a:pPr>
              <a:spcAft>
                <a:spcPts val="0"/>
              </a:spcAft>
              <a:defRPr sz="1230">
                <a:solidFill>
                  <a:srgbClr val="1E2832"/>
                </a:solidFill>
                <a:latin typeface="DejaVu Sans Mono"/>
              </a:defRPr>
            </a:pPr>
            <a:r>
              <a:t>// CHECK: scf.for</a:t>
            </a:r>
          </a:p>
          <a:p>
            <a:pPr>
              <a:spcAft>
                <a:spcPts val="0"/>
              </a:spcAft>
              <a:defRPr sz="1230">
                <a:solidFill>
                  <a:srgbClr val="1E2832"/>
                </a:solidFill>
                <a:latin typeface="DejaVu Sans Mono"/>
              </a:defRPr>
            </a:pPr>
            <a:r>
              <a:t>// CHECK: scf.for</a:t>
            </a:r>
          </a:p>
          <a:p>
            <a:pPr>
              <a:spcAft>
                <a:spcPts val="0"/>
              </a:spcAft>
              <a:defRPr sz="1230">
                <a:solidFill>
                  <a:srgbClr val="1E2832"/>
                </a:solidFill>
                <a:latin typeface="DejaVu Sans Mono"/>
              </a:defRPr>
            </a:pPr>
            <a:r>
              <a:t>// CHECK: "npu.acc.zero"</a:t>
            </a:r>
          </a:p>
          <a:p>
            <a:pPr>
              <a:spcAft>
                <a:spcPts val="0"/>
              </a:spcAft>
              <a:defRPr sz="1230">
                <a:solidFill>
                  <a:srgbClr val="1E2832"/>
                </a:solidFill>
                <a:latin typeface="DejaVu Sans Mono"/>
              </a:defRPr>
            </a:pPr>
            <a:r>
              <a:t>// CHECK: scf.for</a:t>
            </a:r>
          </a:p>
          <a:p>
            <a:pPr>
              <a:spcAft>
                <a:spcPts val="0"/>
              </a:spcAft>
              <a:defRPr sz="1230">
                <a:solidFill>
                  <a:srgbClr val="1E2832"/>
                </a:solidFill>
                <a:latin typeface="DejaVu Sans Mono"/>
              </a:defRPr>
            </a:pPr>
            <a:r>
              <a:t>// CHECK: "npu.dma.load_a"</a:t>
            </a:r>
          </a:p>
          <a:p>
            <a:pPr>
              <a:spcAft>
                <a:spcPts val="0"/>
              </a:spcAft>
              <a:defRPr sz="1230">
                <a:solidFill>
                  <a:srgbClr val="1E2832"/>
                </a:solidFill>
                <a:latin typeface="DejaVu Sans Mono"/>
              </a:defRPr>
            </a:pPr>
            <a:r>
              <a:t>// CHECK: "npu.dma.load_b"</a:t>
            </a:r>
          </a:p>
          <a:p>
            <a:pPr>
              <a:spcAft>
                <a:spcPts val="0"/>
              </a:spcAft>
              <a:defRPr sz="1230">
                <a:solidFill>
                  <a:srgbClr val="1E2832"/>
                </a:solidFill>
                <a:latin typeface="DejaVu Sans Mono"/>
              </a:defRPr>
            </a:pPr>
            <a:r>
              <a:t>// CHECK: "npu.barrier.wait_dma"</a:t>
            </a:r>
          </a:p>
          <a:p>
            <a:pPr>
              <a:spcAft>
                <a:spcPts val="0"/>
              </a:spcAft>
              <a:defRPr sz="1230">
                <a:solidFill>
                  <a:srgbClr val="1E2832"/>
                </a:solidFill>
                <a:latin typeface="DejaVu Sans Mono"/>
              </a:defRPr>
            </a:pPr>
            <a:r>
              <a:t>// CHECK: "npu.matmul.tile"</a:t>
            </a:r>
          </a:p>
          <a:p>
            <a:pPr>
              <a:spcAft>
                <a:spcPts val="0"/>
              </a:spcAft>
              <a:defRPr sz="1230">
                <a:solidFill>
                  <a:srgbClr val="1E2832"/>
                </a:solidFill>
                <a:latin typeface="DejaVu Sans Mono"/>
              </a:defRPr>
            </a:pPr>
            <a:r>
              <a:t>// CHECK: "npu.dma.store_c"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8C"/>
                </a:solidFill>
                <a:latin typeface="Noto Sans CJK KR"/>
              </a:defRPr>
            </a:pPr>
            <a:r>
              <a:t>MLIR NPU Compiler - Lecture 08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65A8"/>
          </a:solidFill>
          <a:ln>
            <a:solidFill>
              <a:srgbClr val="006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A40"/>
                </a:solidFill>
                <a:latin typeface="Noto Sans CJK KR"/>
              </a:defRPr>
            </a:pPr>
            <a:r>
              <a:t>Exercise A: scf.for Annotation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282D35"/>
                </a:solidFill>
                <a:latin typeface="Noto Sans CJK KR"/>
              </a:defRPr>
            </a:pPr>
            <a:r>
              <a:t>01_scf_for_basic.mlir을 열고 각 loop field를 표시한다.</a:t>
            </a:r>
          </a:p>
          <a:p>
            <a:pPr>
              <a:spcAft>
                <a:spcPts val="700"/>
              </a:spcAft>
              <a:defRPr sz="2000">
                <a:solidFill>
                  <a:srgbClr val="282D35"/>
                </a:solidFill>
                <a:latin typeface="Noto Sans CJK KR"/>
              </a:defRPr>
            </a:pPr>
            <a:r>
              <a:t>body region의 operation list를 적는다.</a:t>
            </a:r>
          </a:p>
          <a:p>
            <a:pPr>
              <a:spcAft>
                <a:spcPts val="700"/>
              </a:spcAft>
              <a:defRPr sz="2000">
                <a:solidFill>
                  <a:srgbClr val="282D35"/>
                </a:solidFill>
                <a:latin typeface="Noto Sans CJK KR"/>
              </a:defRPr>
            </a:pPr>
            <a:r>
              <a:t>loop-carried value 예제에서 init value와 yielded value를 연결한다.</a:t>
            </a:r>
          </a:p>
          <a:p>
            <a:pPr>
              <a:spcAft>
                <a:spcPts val="700"/>
              </a:spcAft>
              <a:defRPr sz="2000">
                <a:solidFill>
                  <a:srgbClr val="282D35"/>
                </a:solidFill>
                <a:latin typeface="Noto Sans CJK KR"/>
              </a:defRPr>
            </a:pPr>
            <a:r>
              <a:t>NPU compiler에서 loop-carried state로 표현할 수 있는 것을 3개 제안한다.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8C"/>
                </a:solidFill>
                <a:latin typeface="Noto Sans CJK KR"/>
              </a:defRPr>
            </a:pPr>
            <a:r>
              <a:t>MLIR NPU Compiler - Lecture 08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65A8"/>
          </a:solidFill>
          <a:ln>
            <a:solidFill>
              <a:srgbClr val="006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A40"/>
                </a:solidFill>
                <a:latin typeface="Noto Sans CJK KR"/>
              </a:defRPr>
            </a:pPr>
            <a:r>
              <a:t>Exercise B: Tiled MatMul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282D35"/>
                </a:solidFill>
                <a:latin typeface="Noto Sans CJK KR"/>
              </a:defRPr>
            </a:pPr>
            <a:r>
              <a:t>Shape: A[128,256] x B[256,128] -&gt; C[128,128]</a:t>
            </a:r>
          </a:p>
          <a:p>
            <a:pPr>
              <a:spcAft>
                <a:spcPts val="700"/>
              </a:spcAft>
              <a:defRPr sz="2000">
                <a:solidFill>
                  <a:srgbClr val="282D35"/>
                </a:solidFill>
                <a:latin typeface="Noto Sans CJK KR"/>
              </a:defRPr>
            </a:pPr>
            <a:r>
              <a:t>Tile: TM=32, TN=64, TK=64</a:t>
            </a:r>
          </a:p>
          <a:p>
            <a:pPr>
              <a:spcAft>
                <a:spcPts val="700"/>
              </a:spcAft>
              <a:defRPr sz="2000">
                <a:solidFill>
                  <a:srgbClr val="282D35"/>
                </a:solidFill>
                <a:latin typeface="Noto Sans CJK KR"/>
              </a:defRPr>
            </a:pPr>
            <a:r>
              <a:t>m0/n0/k0 trip count를 계산한다.</a:t>
            </a:r>
          </a:p>
          <a:p>
            <a:pPr>
              <a:spcAft>
                <a:spcPts val="700"/>
              </a:spcAft>
              <a:defRPr sz="2000">
                <a:solidFill>
                  <a:srgbClr val="282D35"/>
                </a:solidFill>
                <a:latin typeface="Noto Sans CJK KR"/>
              </a:defRPr>
            </a:pPr>
            <a:r>
              <a:t>SCF pseudo loop를 작성한다.</a:t>
            </a:r>
          </a:p>
          <a:p>
            <a:pPr>
              <a:spcAft>
                <a:spcPts val="700"/>
              </a:spcAft>
              <a:defRPr sz="2000">
                <a:solidFill>
                  <a:srgbClr val="282D35"/>
                </a:solidFill>
                <a:latin typeface="Noto Sans CJK KR"/>
              </a:defRPr>
            </a:pPr>
            <a:r>
              <a:t>Accumulator zero, update, store 위치를 표시한다.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8C"/>
                </a:solidFill>
                <a:latin typeface="Noto Sans CJK KR"/>
              </a:defRPr>
            </a:pPr>
            <a:r>
              <a:t>MLIR NPU Compiler - Lecture 08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65A8"/>
          </a:solidFill>
          <a:ln>
            <a:solidFill>
              <a:srgbClr val="006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A40"/>
                </a:solidFill>
                <a:latin typeface="Noto Sans CJK KR"/>
              </a:defRPr>
            </a:pPr>
            <a:r>
              <a:t>Exercise C: DMA Schedule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282D35"/>
                </a:solidFill>
                <a:latin typeface="Noto Sans CJK KR"/>
              </a:defRPr>
            </a:pPr>
            <a:r>
              <a:t>Baseline schedule과 double-buffer schedule을 각각 작성한다.</a:t>
            </a:r>
          </a:p>
          <a:p>
            <a:pPr>
              <a:spcAft>
                <a:spcPts val="700"/>
              </a:spcAft>
              <a:defRPr sz="2000">
                <a:solidFill>
                  <a:srgbClr val="282D35"/>
                </a:solidFill>
                <a:latin typeface="Noto Sans CJK KR"/>
              </a:defRPr>
            </a:pPr>
            <a:r>
              <a:t>각 step의 DMA action, compute action, wait/barrier를 표로 쓴다.</a:t>
            </a:r>
          </a:p>
          <a:p>
            <a:pPr>
              <a:spcAft>
                <a:spcPts val="700"/>
              </a:spcAft>
              <a:defRPr sz="2000">
                <a:solidFill>
                  <a:srgbClr val="282D35"/>
                </a:solidFill>
                <a:latin typeface="Noto Sans CJK KR"/>
              </a:defRPr>
            </a:pPr>
            <a:r>
              <a:t>wait가 빨라지는 경우와 늦어지는 경우의 문제를 설명한다.</a:t>
            </a:r>
          </a:p>
          <a:p>
            <a:pPr>
              <a:spcAft>
                <a:spcPts val="700"/>
              </a:spcAft>
              <a:defRPr sz="2000">
                <a:solidFill>
                  <a:srgbClr val="282D35"/>
                </a:solidFill>
                <a:latin typeface="Noto Sans CJK KR"/>
              </a:defRPr>
            </a:pPr>
            <a:r>
              <a:t>SRAM buffer 0/1의 ownership 상태를 각 step에 표시한다.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8C"/>
                </a:solidFill>
                <a:latin typeface="Noto Sans CJK KR"/>
              </a:defRPr>
            </a:pPr>
            <a:r>
              <a:t>MLIR NPU Compiler - Lecture 08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65A8"/>
          </a:solidFill>
          <a:ln>
            <a:solidFill>
              <a:srgbClr val="006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A40"/>
                </a:solidFill>
                <a:latin typeface="Noto Sans CJK KR"/>
              </a:defRPr>
            </a:pPr>
            <a:r>
              <a:t>Common Mistakes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282D35"/>
                </a:solidFill>
                <a:latin typeface="Noto Sans CJK KR"/>
              </a:defRPr>
            </a:pPr>
            <a:r>
              <a:t>K loop 밖에서 accumulator를 store하지 않고 중간 store를 해버림</a:t>
            </a:r>
          </a:p>
          <a:p>
            <a:pPr>
              <a:spcAft>
                <a:spcPts val="700"/>
              </a:spcAft>
              <a:defRPr sz="2000">
                <a:solidFill>
                  <a:srgbClr val="282D35"/>
                </a:solidFill>
                <a:latin typeface="Noto Sans CJK KR"/>
              </a:defRPr>
            </a:pPr>
            <a:r>
              <a:t>DMA wait를 load 직후에 넣어 compute/DMA overlap을 없앰</a:t>
            </a:r>
          </a:p>
          <a:p>
            <a:pPr>
              <a:spcAft>
                <a:spcPts val="700"/>
              </a:spcAft>
              <a:defRPr sz="2000">
                <a:solidFill>
                  <a:srgbClr val="282D35"/>
                </a:solidFill>
                <a:latin typeface="Noto Sans CJK KR"/>
              </a:defRPr>
            </a:pPr>
            <a:r>
              <a:t>edge tile에서 out-of-bounds read/write를 허용함</a:t>
            </a:r>
          </a:p>
          <a:p>
            <a:pPr>
              <a:spcAft>
                <a:spcPts val="700"/>
              </a:spcAft>
              <a:defRPr sz="2000">
                <a:solidFill>
                  <a:srgbClr val="282D35"/>
                </a:solidFill>
                <a:latin typeface="Noto Sans CJK KR"/>
              </a:defRPr>
            </a:pPr>
            <a:r>
              <a:t>SCF와 Affine의 표현 제약을 고려하지 않고 non-affine index를 affine에 넣음</a:t>
            </a:r>
          </a:p>
          <a:p>
            <a:pPr>
              <a:spcAft>
                <a:spcPts val="700"/>
              </a:spcAft>
              <a:defRPr sz="2000">
                <a:solidFill>
                  <a:srgbClr val="282D35"/>
                </a:solidFill>
                <a:latin typeface="Noto Sans CJK KR"/>
              </a:defRPr>
            </a:pPr>
            <a:r>
              <a:t>tile size는 맞지만 SRAM bank/alignment constraint를 빠뜨림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8C"/>
                </a:solidFill>
                <a:latin typeface="Noto Sans CJK KR"/>
              </a:defRPr>
            </a:pPr>
            <a:r>
              <a:t>MLIR NPU Compiler - Lecture 08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65A8"/>
          </a:solidFill>
          <a:ln>
            <a:solidFill>
              <a:srgbClr val="006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A40"/>
                </a:solidFill>
                <a:latin typeface="Noto Sans CJK KR"/>
              </a:defRPr>
            </a:pPr>
            <a:r>
              <a:t>Homework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282D35"/>
                </a:solidFill>
                <a:latin typeface="Noto Sans CJK KR"/>
              </a:defRPr>
            </a:pPr>
            <a:r>
              <a:t>M=256, N=192, K=384에 대해 tile 후보 3개를 비교한다.</a:t>
            </a:r>
          </a:p>
          <a:p>
            <a:pPr>
              <a:spcAft>
                <a:spcPts val="700"/>
              </a:spcAft>
              <a:defRPr sz="2000">
                <a:solidFill>
                  <a:srgbClr val="282D35"/>
                </a:solidFill>
                <a:latin typeface="Noto Sans CJK KR"/>
              </a:defRPr>
            </a:pPr>
            <a:r>
              <a:t>(32,64,64), (64,64,64), (32,128,64)</a:t>
            </a:r>
          </a:p>
          <a:p>
            <a:pPr>
              <a:spcAft>
                <a:spcPts val="700"/>
              </a:spcAft>
              <a:defRPr sz="2000">
                <a:solidFill>
                  <a:srgbClr val="282D35"/>
                </a:solidFill>
                <a:latin typeface="Noto Sans CJK KR"/>
              </a:defRPr>
            </a:pPr>
            <a:r>
              <a:t>각 후보의 trip count, SRAM footprint, expected reuse를 계산한다.</a:t>
            </a:r>
          </a:p>
          <a:p>
            <a:pPr>
              <a:spcAft>
                <a:spcPts val="700"/>
              </a:spcAft>
              <a:defRPr sz="2000">
                <a:solidFill>
                  <a:srgbClr val="282D35"/>
                </a:solidFill>
                <a:latin typeface="Noto Sans CJK KR"/>
              </a:defRPr>
            </a:pPr>
            <a:r>
              <a:t>가장 좋은 후보를 선택하고 SCF pseudo IR + DMA schedule table을 작성한다.</a:t>
            </a:r>
          </a:p>
          <a:p>
            <a:pPr>
              <a:spcAft>
                <a:spcPts val="700"/>
              </a:spcAft>
              <a:defRPr sz="2000">
                <a:solidFill>
                  <a:srgbClr val="282D35"/>
                </a:solidFill>
                <a:latin typeface="Noto Sans CJK KR"/>
              </a:defRPr>
            </a:pPr>
            <a:r>
              <a:t>FileCheck CHECK line 최소 5개를 작성한다.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8C"/>
                </a:solidFill>
                <a:latin typeface="Noto Sans CJK KR"/>
              </a:defRPr>
            </a:pPr>
            <a:r>
              <a:t>MLIR NPU Compiler - Lecture 08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65A8"/>
          </a:solidFill>
          <a:ln>
            <a:solidFill>
              <a:srgbClr val="006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A40"/>
                </a:solidFill>
                <a:latin typeface="Noto Sans CJK KR"/>
              </a:defRPr>
            </a:pPr>
            <a:r>
              <a:t>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282D35"/>
                </a:solidFill>
                <a:latin typeface="Noto Sans CJK KR"/>
              </a:defRPr>
            </a:pPr>
            <a:r>
              <a:t>SCF/Affine은 NPU compiler가 schedule을 드러내는 첫 explicit loop 단계다.</a:t>
            </a:r>
          </a:p>
          <a:p>
            <a:pPr>
              <a:spcAft>
                <a:spcPts val="700"/>
              </a:spcAft>
              <a:defRPr sz="2000">
                <a:solidFill>
                  <a:srgbClr val="282D35"/>
                </a:solidFill>
                <a:latin typeface="Noto Sans CJK KR"/>
              </a:defRPr>
            </a:pPr>
            <a:r>
              <a:t>SCF는 dynamic/runtime scheduling skeleton에 좋고, Affine은 static loop/access analysis에 좋다.</a:t>
            </a:r>
          </a:p>
          <a:p>
            <a:pPr>
              <a:spcAft>
                <a:spcPts val="700"/>
              </a:spcAft>
              <a:defRPr sz="2000">
                <a:solidFill>
                  <a:srgbClr val="282D35"/>
                </a:solidFill>
                <a:latin typeface="Noto Sans CJK KR"/>
              </a:defRPr>
            </a:pPr>
            <a:r>
              <a:t>M/N/K loop order는 C accumulator reuse와 A/B DMA streaming을 결정한다.</a:t>
            </a:r>
          </a:p>
          <a:p>
            <a:pPr>
              <a:spcAft>
                <a:spcPts val="700"/>
              </a:spcAft>
              <a:defRPr sz="2000">
                <a:solidFill>
                  <a:srgbClr val="282D35"/>
                </a:solidFill>
                <a:latin typeface="Noto Sans CJK KR"/>
              </a:defRPr>
            </a:pPr>
            <a:r>
              <a:t>tile size는 SRAM footprint와 MAC utilization의 contract다.</a:t>
            </a:r>
          </a:p>
          <a:p>
            <a:pPr>
              <a:spcAft>
                <a:spcPts val="700"/>
              </a:spcAft>
              <a:defRPr sz="2000">
                <a:solidFill>
                  <a:srgbClr val="282D35"/>
                </a:solidFill>
                <a:latin typeface="Noto Sans CJK KR"/>
              </a:defRPr>
            </a:pPr>
            <a:r>
              <a:t>DMA/barrier ordering은 성능과 correctness를 동시에 결정한다.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8C"/>
                </a:solidFill>
                <a:latin typeface="Noto Sans CJK KR"/>
              </a:defRPr>
            </a:pPr>
            <a:r>
              <a:t>MLIR NPU Compiler - Lecture 08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65A8"/>
          </a:solidFill>
          <a:ln>
            <a:solidFill>
              <a:srgbClr val="006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A40"/>
                </a:solidFill>
                <a:latin typeface="Noto Sans CJK KR"/>
              </a:defRPr>
            </a:pPr>
            <a: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282D35"/>
                </a:solidFill>
                <a:latin typeface="Noto Sans CJK KR"/>
              </a:defRPr>
            </a:pPr>
            <a:r>
              <a:t>MLIR SCF Dialect: https://mlir.llvm.org/docs/Dialects/SCFDialect/</a:t>
            </a:r>
          </a:p>
          <a:p>
            <a:pPr>
              <a:spcAft>
                <a:spcPts val="700"/>
              </a:spcAft>
              <a:defRPr sz="2000">
                <a:solidFill>
                  <a:srgbClr val="282D35"/>
                </a:solidFill>
                <a:latin typeface="Noto Sans CJK KR"/>
              </a:defRPr>
            </a:pPr>
            <a:r>
              <a:t>MLIR Affine Dialect: https://mlir.llvm.org/docs/Dialects/Affine/</a:t>
            </a:r>
          </a:p>
          <a:p>
            <a:pPr>
              <a:spcAft>
                <a:spcPts val="700"/>
              </a:spcAft>
              <a:defRPr sz="2000">
                <a:solidFill>
                  <a:srgbClr val="282D35"/>
                </a:solidFill>
                <a:latin typeface="Noto Sans CJK KR"/>
              </a:defRPr>
            </a:pPr>
            <a:r>
              <a:t>MLIR MemRef Dialect: https://mlir.llvm.org/docs/Dialects/MemRef/</a:t>
            </a:r>
          </a:p>
          <a:p>
            <a:pPr>
              <a:spcAft>
                <a:spcPts val="700"/>
              </a:spcAft>
              <a:defRPr sz="2000">
                <a:solidFill>
                  <a:srgbClr val="282D35"/>
                </a:solidFill>
                <a:latin typeface="Noto Sans CJK KR"/>
              </a:defRPr>
            </a:pPr>
            <a:r>
              <a:t>MLIR Linalg Dialect: https://mlir.llvm.org/docs/Dialects/Linalg/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8C"/>
                </a:solidFill>
                <a:latin typeface="Noto Sans CJK KR"/>
              </a:defRPr>
            </a:pPr>
            <a:r>
              <a:t>MLIR NPU Compiler - Lecture 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