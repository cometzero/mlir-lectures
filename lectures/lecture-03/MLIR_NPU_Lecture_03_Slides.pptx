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65B4"/>
          </a:solidFill>
          <a:ln>
            <a:solidFill>
              <a:srgbClr val="33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0F2141"/>
                </a:solidFill>
                <a:latin typeface="NanumGothic"/>
              </a:rPr>
              <a:t>MLIR NPU Compiler
Lecture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5146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3365B4"/>
                </a:solidFill>
                <a:latin typeface="NanumGothic"/>
              </a:rPr>
              <a:t>Region과 Block: NPU kernel / command region pseudo 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03320"/>
            <a:ext cx="52120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46304" wrap="square"/>
          <a:lstStyle/>
          <a:p>
            <a:pPr algn="ctr"/>
            <a:r>
              <a:rPr sz="1700">
                <a:solidFill>
                  <a:srgbClr val="141414"/>
                </a:solidFill>
                <a:latin typeface="NanumGothic"/>
              </a:rPr>
              <a:t>• Operation 내부의 region을 읽는 법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41414"/>
                </a:solidFill>
                <a:latin typeface="NanumGothic"/>
              </a:rPr>
              <a:t>• Block argument와 terminator로 control flow 해석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41414"/>
                </a:solidFill>
                <a:latin typeface="NanumGothic"/>
              </a:rPr>
              <a:t>• DMA/compute/barrier command region 설계</a:t>
            </a:r>
          </a:p>
        </p:txBody>
      </p:sp>
      <p:pic>
        <p:nvPicPr>
          <p:cNvPr id="6" name="Picture 5" descr="MLIR_NPU_Lecture_03_IR_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29184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66960" y="6510528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9636E"/>
                </a:solidFill>
                <a:latin typeface="NanumGothic"/>
              </a:rPr>
              <a:t>Lecture 03 |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65B4"/>
          </a:solidFill>
          <a:ln>
            <a:solidFill>
              <a:srgbClr val="33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141"/>
                </a:solidFill>
                <a:latin typeface="NanumGothic"/>
              </a:rPr>
              <a:t>오늘의 위치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8696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9636E"/>
                </a:solidFill>
                <a:latin typeface="NanumGothic"/>
              </a:rPr>
              <a:t>2강 Operation anatomy에서 3강 Region/Block으로 확장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510528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9636E"/>
                </a:solidFill>
                <a:latin typeface="NanumGothic"/>
              </a:rPr>
              <a:t>Lecture 03 | 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46304" wrap="square"/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0F2141"/>
                </a:solidFill>
                <a:latin typeface="NanumGothic"/>
              </a:rPr>
              <a:t>Course flow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41414"/>
                </a:solidFill>
                <a:latin typeface="NanumGothic"/>
              </a:rPr>
              <a:t>• 2강: Operation / Value / Type / Attribute 읽기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41414"/>
                </a:solidFill>
                <a:latin typeface="NanumGothic"/>
              </a:rPr>
              <a:t>• 3강: Operation 안에 중첩되는 Region과 Block 읽기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41414"/>
                </a:solidFill>
                <a:latin typeface="NanumGothic"/>
              </a:rPr>
              <a:t>• 이후 강의: SCF/Affine loop, Pass, Rewrite, Bufferization로 연결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17320"/>
            <a:ext cx="5120640" cy="3931920"/>
          </a:xfrm>
          <a:prstGeom prst="roundRect">
            <a:avLst/>
          </a:prstGeom>
          <a:solidFill>
            <a:srgbClr val="F3F6FA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109728" wrap="square"/>
          <a:lstStyle/>
          <a:p>
            <a:pPr algn="ctr"/>
            <a:r>
              <a:rPr sz="1800">
                <a:solidFill>
                  <a:srgbClr val="141414"/>
                </a:solidFill>
                <a:latin typeface="NanumGothicCoding"/>
              </a:rPr>
              <a:t>Model IR
  -&gt; Operation anatomy
  -&gt; Region / Block
  -&gt; Loop / CFG / Schedule
  -&gt; NPU dialect
  -&gt; Command buffer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65B4"/>
          </a:solidFill>
          <a:ln>
            <a:solidFill>
              <a:srgbClr val="33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141"/>
                </a:solidFill>
                <a:latin typeface="NanumGothic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10528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9636E"/>
                </a:solidFill>
                <a:latin typeface="NanumGothic"/>
              </a:rPr>
              <a:t>Lecture 03 | 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43000"/>
            <a:ext cx="106984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46304" wrap="square"/>
          <a:lstStyle/>
          <a:p>
            <a:pPr algn="ctr"/>
            <a:r>
              <a:rPr sz="2000">
                <a:solidFill>
                  <a:srgbClr val="141414"/>
                </a:solidFill>
                <a:latin typeface="NanumGothic"/>
              </a:rPr>
              <a:t>• Operation -&gt; Region -&gt; Block -&gt; Operation 구조를 설명한다</a:t>
            </a:r>
          </a:p>
          <a:p>
            <a:pPr>
              <a:spcAft>
                <a:spcPts val="500"/>
              </a:spcAft>
            </a:pPr>
            <a:r>
              <a:rPr sz="2000">
                <a:solidFill>
                  <a:srgbClr val="141414"/>
                </a:solidFill>
                <a:latin typeface="NanumGothic"/>
              </a:rPr>
              <a:t>• Block argument가 merge value/loop variable을 표현하는 방식을 이해한다</a:t>
            </a:r>
          </a:p>
          <a:p>
            <a:pPr>
              <a:spcAft>
                <a:spcPts val="500"/>
              </a:spcAft>
            </a:pPr>
            <a:r>
              <a:rPr sz="2000">
                <a:solidFill>
                  <a:srgbClr val="141414"/>
                </a:solidFill>
                <a:latin typeface="NanumGothic"/>
              </a:rPr>
              <a:t>• Terminator와 successor를 통해 CFG를 읽는다</a:t>
            </a:r>
          </a:p>
          <a:p>
            <a:pPr>
              <a:spcAft>
                <a:spcPts val="500"/>
              </a:spcAft>
            </a:pPr>
            <a:r>
              <a:rPr sz="2000">
                <a:solidFill>
                  <a:srgbClr val="141414"/>
                </a:solidFill>
                <a:latin typeface="NanumGothic"/>
              </a:rPr>
              <a:t>• NPU command region pseudo IR을 설계한다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65B4"/>
          </a:solidFill>
          <a:ln>
            <a:solidFill>
              <a:srgbClr val="33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141"/>
                </a:solidFill>
                <a:latin typeface="NanumGothic"/>
              </a:rPr>
              <a:t>왜 NPU Compiler에서 중요한가?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10528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9636E"/>
                </a:solidFill>
                <a:latin typeface="NanumGothic"/>
              </a:rPr>
              <a:t>Lecture 03 | 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54864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46304" wrap="square"/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F2141"/>
                </a:solidFill>
                <a:latin typeface="NanumGothic"/>
              </a:rPr>
              <a:t>Compiler issue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141414"/>
                </a:solidFill>
                <a:latin typeface="NanumGothic"/>
              </a:rPr>
              <a:t>• NPU kernel은 단일 op가 아니라 command sequence입니다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141414"/>
                </a:solidFill>
                <a:latin typeface="NanumGothic"/>
              </a:rPr>
              <a:t>• DMA, barrier, matmul, store의 ordering을 IR에 표현해야 합니다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141414"/>
                </a:solidFill>
                <a:latin typeface="NanumGothic"/>
              </a:rPr>
              <a:t>• Region은 command sequence를 semantic unit으로 묶어 검증/스케줄링/serialize를 가능하게 합니다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143000"/>
            <a:ext cx="5029200" cy="4754880"/>
          </a:xfrm>
          <a:prstGeom prst="roundRect">
            <a:avLst/>
          </a:prstGeom>
          <a:solidFill>
            <a:srgbClr val="F2F7FF"/>
          </a:solidFill>
          <a:ln>
            <a:solidFill>
              <a:srgbClr val="B4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46304" wrap="square"/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F2141"/>
                </a:solidFill>
                <a:latin typeface="NanumGothic"/>
              </a:rPr>
              <a:t>Region으로 표현할 것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141414"/>
                </a:solidFill>
                <a:latin typeface="NanumGothic"/>
              </a:rPr>
              <a:t>• Tiling loop body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141414"/>
                </a:solidFill>
                <a:latin typeface="NanumGothic"/>
              </a:rPr>
              <a:t>• Async DMA dependency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141414"/>
                </a:solidFill>
                <a:latin typeface="NanumGothic"/>
              </a:rPr>
              <a:t>• SRAM/ACC lifetime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141414"/>
                </a:solidFill>
                <a:latin typeface="NanumGothic"/>
              </a:rPr>
              <a:t>• Runtime command buffer ABI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65B4"/>
          </a:solidFill>
          <a:ln>
            <a:solidFill>
              <a:srgbClr val="33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141"/>
                </a:solidFill>
                <a:latin typeface="NanumGothic"/>
              </a:rPr>
              <a:t>MLIR IR Nesting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10528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9636E"/>
                </a:solidFill>
                <a:latin typeface="NanumGothic"/>
              </a:rPr>
              <a:t>Lecture 03 | 05</a:t>
            </a:r>
          </a:p>
        </p:txBody>
      </p:sp>
      <p:pic>
        <p:nvPicPr>
          <p:cNvPr id="5" name="Picture 4" descr="MLIR_NPU_Lecture_03_IR_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1078992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65B4"/>
          </a:solidFill>
          <a:ln>
            <a:solidFill>
              <a:srgbClr val="33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141"/>
                </a:solidFill>
                <a:latin typeface="NanumGothic"/>
              </a:rPr>
              <a:t>Terminology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10528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9636E"/>
                </a:solidFill>
                <a:latin typeface="NanumGothic"/>
              </a:rPr>
              <a:t>Lecture 03 | 06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88720"/>
          <a:ext cx="111556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7315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NanumGothic"/>
                        </a:rPr>
                        <a:t>Term</a:t>
                      </a:r>
                    </a:p>
                  </a:txBody>
                  <a:tcPr>
                    <a:solidFill>
                      <a:srgbClr val="3365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NanumGothic"/>
                        </a:rPr>
                        <a:t>의미</a:t>
                      </a:r>
                    </a:p>
                  </a:txBody>
                  <a:tcPr>
                    <a:solidFill>
                      <a:srgbClr val="3365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NanumGothic"/>
                        </a:rPr>
                        <a:t>NPU 관점</a:t>
                      </a:r>
                    </a:p>
                  </a:txBody>
                  <a:tcPr>
                    <a:solidFill>
                      <a:srgbClr val="3365B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NanumGothic"/>
                        </a:rPr>
                        <a:t>Operation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NanumGothic"/>
                        </a:rPr>
                        <a:t>IR의 기본 노드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NanumGothic"/>
                        </a:rPr>
                        <a:t>npu.matmul, npu.dma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NanumGothic"/>
                        </a:rPr>
                        <a:t>Region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NanumGothic"/>
                        </a:rPr>
                        <a:t>parent op 내부 block 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NanumGothic"/>
                        </a:rPr>
                        <a:t>kernel/command body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NanumGothic"/>
                        </a:rPr>
                        <a:t>Block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NanumGothic"/>
                        </a:rPr>
                        <a:t>argument + op list + terminator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NanumGothic"/>
                        </a:rPr>
                        <a:t>command step 또는 CFG node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NanumGothic"/>
                        </a:rPr>
                        <a:t>Block argument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NanumGothic"/>
                        </a:rPr>
                        <a:t>block entry 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NanumGothic"/>
                        </a:rPr>
                        <a:t>tile index, token, descriptor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NanumGothic"/>
                        </a:rPr>
                        <a:t>Terminator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NanumGothic"/>
                        </a:rPr>
                        <a:t>control/yield/return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14"/>
                          </a:solidFill>
                          <a:latin typeface="NanumGothic"/>
                        </a:rPr>
                        <a:t>npu.yield, cf.br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65B4"/>
          </a:solidFill>
          <a:ln>
            <a:solidFill>
              <a:srgbClr val="33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141"/>
                </a:solidFill>
                <a:latin typeface="NanumGothic"/>
              </a:rPr>
              <a:t>Region은 semantic container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10528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9636E"/>
                </a:solidFill>
                <a:latin typeface="NanumGothic"/>
              </a:rPr>
              <a:t>Lecture 03 | 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55778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46304" wrap="square"/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F2141"/>
                </a:solidFill>
                <a:latin typeface="NanumGothic"/>
              </a:rPr>
              <a:t>핵심 문장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141414"/>
                </a:solidFill>
                <a:latin typeface="NanumGothic"/>
              </a:rPr>
              <a:t>• Region은 block list일 뿐입니다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141414"/>
                </a:solidFill>
                <a:latin typeface="NanumGothic"/>
              </a:rPr>
              <a:t>• Region의 실제 의미는 parent operation이 결정합니다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141414"/>
                </a:solidFill>
                <a:latin typeface="NanumGothic"/>
              </a:rPr>
              <a:t>• 같은 region 문법이라도 func body, loop body, graph body, NPU command body가 될 수 있습니다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417320"/>
            <a:ext cx="4846320" cy="3931920"/>
          </a:xfrm>
          <a:prstGeom prst="roundRect">
            <a:avLst/>
          </a:prstGeom>
          <a:solidFill>
            <a:srgbClr val="F3F6FA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109728" wrap="square"/>
          <a:lstStyle/>
          <a:p>
            <a:pPr algn="ctr"/>
            <a:r>
              <a:rPr sz="1500">
                <a:solidFill>
                  <a:srgbClr val="141414"/>
                </a:solidFill>
                <a:latin typeface="NanumGothicCoding"/>
              </a:rPr>
              <a:t>"parent.op"() ({
^entry(%arg0: type):
  ... nested operations ...
  "terminator"() : () -&gt; ()
}) : () -&gt; 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65B4"/>
          </a:solidFill>
          <a:ln>
            <a:solidFill>
              <a:srgbClr val="33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141"/>
                </a:solidFill>
                <a:latin typeface="NanumGothic"/>
              </a:rPr>
              <a:t>Block Anatomy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10528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9636E"/>
                </a:solidFill>
                <a:latin typeface="NanumGothic"/>
              </a:rPr>
              <a:t>Lecture 03 |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852160" cy="4297680"/>
          </a:xfrm>
          <a:prstGeom prst="roundRect">
            <a:avLst/>
          </a:prstGeom>
          <a:solidFill>
            <a:srgbClr val="F3F6FA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109728" wrap="square"/>
          <a:lstStyle/>
          <a:p>
            <a:pPr algn="ctr"/>
            <a:r>
              <a:rPr sz="1400" b="1">
                <a:solidFill>
                  <a:srgbClr val="3365B4"/>
                </a:solidFill>
                <a:latin typeface="NanumGothic"/>
              </a:rPr>
              <a:t>Generic block shape
</a:t>
            </a:r>
            <a:r>
              <a:rPr sz="1400">
                <a:solidFill>
                  <a:srgbClr val="141414"/>
                </a:solidFill>
                <a:latin typeface="NanumGothicCoding"/>
              </a:rPr>
              <a:t>^block_name(%arg0: type, %arg1: type):
  %v0 = "dialect.op"(%arg0) : (type) -&gt; type
  %v1 = "dialect.op"(%v0, %arg1) : (type, type) -&gt; type
  cf.br ^next(%v1 : type)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325880"/>
            <a:ext cx="46634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46304" wrap="square"/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F2141"/>
                </a:solidFill>
                <a:latin typeface="NanumGothic"/>
              </a:rPr>
              <a:t>읽는 순서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141414"/>
                </a:solidFill>
                <a:latin typeface="NanumGothic"/>
              </a:rPr>
              <a:t>• Block arguments: block entry에서 보이는 SSA value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141414"/>
                </a:solidFill>
                <a:latin typeface="NanumGothic"/>
              </a:rPr>
              <a:t>• Operations: 순서 있는 op list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141414"/>
                </a:solidFill>
                <a:latin typeface="NanumGothic"/>
              </a:rPr>
              <a:t>• Terminator: successor 또는 parent op로 제어 전달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65B4"/>
          </a:solidFill>
          <a:ln>
            <a:solidFill>
              <a:srgbClr val="33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141"/>
                </a:solidFill>
                <a:latin typeface="NanumGothic"/>
              </a:rPr>
              <a:t>Entry Block과 Region Argument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10528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9636E"/>
                </a:solidFill>
                <a:latin typeface="NanumGothic"/>
              </a:rPr>
              <a:t>Lecture 03 | 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106984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46304" wrap="square"/>
          <a:lstStyle/>
          <a:p>
            <a:pPr algn="ctr"/>
            <a:r>
              <a:rPr sz="2000">
                <a:solidFill>
                  <a:srgbClr val="141414"/>
                </a:solidFill>
                <a:latin typeface="NanumGothic"/>
              </a:rPr>
              <a:t>• Region의 첫 block argument는 region argument처럼 취급됩니다</a:t>
            </a:r>
          </a:p>
          <a:p>
            <a:pPr>
              <a:spcAft>
                <a:spcPts val="500"/>
              </a:spcAft>
            </a:pPr>
            <a:r>
              <a:rPr sz="2000">
                <a:solidFill>
                  <a:srgbClr val="141414"/>
                </a:solidFill>
                <a:latin typeface="NanumGothic"/>
              </a:rPr>
              <a:t>• func.func에서는 함수 인자와 연결됩니다</a:t>
            </a:r>
          </a:p>
          <a:p>
            <a:pPr>
              <a:spcAft>
                <a:spcPts val="500"/>
              </a:spcAft>
            </a:pPr>
            <a:r>
              <a:rPr sz="2000">
                <a:solidFill>
                  <a:srgbClr val="141414"/>
                </a:solidFill>
                <a:latin typeface="NanumGothic"/>
              </a:rPr>
              <a:t>• scf.for에서는 induction variable이 loop body block argument입니다</a:t>
            </a:r>
          </a:p>
          <a:p>
            <a:pPr>
              <a:spcAft>
                <a:spcPts val="500"/>
              </a:spcAft>
            </a:pPr>
            <a:r>
              <a:rPr sz="2000">
                <a:solidFill>
                  <a:srgbClr val="141414"/>
                </a:solidFill>
                <a:latin typeface="NanumGothic"/>
              </a:rPr>
              <a:t>• custom npu.kernel에서는 tensor descriptor, tile index, runtime config가 될 수 있습니다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65B4"/>
          </a:solidFill>
          <a:ln>
            <a:solidFill>
              <a:srgbClr val="33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141"/>
                </a:solidFill>
                <a:latin typeface="NanumGothic"/>
              </a:rPr>
              <a:t>Terminator와 Successor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10528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9636E"/>
                </a:solidFill>
                <a:latin typeface="NanumGothic"/>
              </a:rPr>
              <a:t>Lecture 03 |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303520" cy="4297680"/>
          </a:xfrm>
          <a:prstGeom prst="roundRect">
            <a:avLst/>
          </a:prstGeom>
          <a:solidFill>
            <a:srgbClr val="F3F6FA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109728" wrap="square"/>
          <a:lstStyle/>
          <a:p>
            <a:pPr algn="ctr"/>
            <a:r>
              <a:rPr sz="1800">
                <a:solidFill>
                  <a:srgbClr val="141414"/>
                </a:solidFill>
                <a:latin typeface="NanumGothicCoding"/>
              </a:rPr>
              <a:t>cf.br ^merge(%a : i32)
cf.cond_br %cond, ^then, ^else
scf.yield %next : f32
func.return %result : tensor&lt;...&gt;
"npu.yield"() : () -&gt; 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325880"/>
            <a:ext cx="52578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46304" wrap="square"/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F2141"/>
                </a:solidFill>
                <a:latin typeface="NanumGothic"/>
              </a:rPr>
              <a:t>Verifier 관점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141414"/>
                </a:solidFill>
                <a:latin typeface="NanumGothic"/>
              </a:rPr>
              <a:t>• Block 끝의 terminator가 control flow를 결정합니다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141414"/>
                </a:solidFill>
                <a:latin typeface="NanumGothic"/>
              </a:rPr>
              <a:t>• Branch terminator는 successor block과 전달 값을 지정합니다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141414"/>
                </a:solidFill>
                <a:latin typeface="NanumGothic"/>
              </a:rPr>
              <a:t>• Yield/return terminator는 parent operation으로 값을 돌려줍니다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65B4"/>
          </a:solidFill>
          <a:ln>
            <a:solidFill>
              <a:srgbClr val="33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141"/>
                </a:solidFill>
                <a:latin typeface="NanumGothic"/>
              </a:rPr>
              <a:t>Block Arguments vs PHI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10528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9636E"/>
                </a:solidFill>
                <a:latin typeface="NanumGothic"/>
              </a:rPr>
              <a:t>Lecture 03 | 11</a:t>
            </a:r>
          </a:p>
        </p:txBody>
      </p:sp>
      <p:pic>
        <p:nvPicPr>
          <p:cNvPr id="5" name="Picture 4" descr="MLIR_NPU_Lecture_03_Block_Argu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97280"/>
            <a:ext cx="107899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65B4"/>
          </a:solidFill>
          <a:ln>
            <a:solidFill>
              <a:srgbClr val="33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141"/>
                </a:solidFill>
                <a:latin typeface="NanumGothic"/>
              </a:rPr>
              <a:t>Single-block Region: scf.for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10528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9636E"/>
                </a:solidFill>
                <a:latin typeface="NanumGothic"/>
              </a:rPr>
              <a:t>Lecture 03 |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6400800" cy="4572000"/>
          </a:xfrm>
          <a:prstGeom prst="roundRect">
            <a:avLst/>
          </a:prstGeom>
          <a:solidFill>
            <a:srgbClr val="F3F6FA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109728" wrap="square"/>
          <a:lstStyle/>
          <a:p>
            <a:pPr algn="ctr"/>
            <a:r>
              <a:rPr sz="1400">
                <a:solidFill>
                  <a:srgbClr val="141414"/>
                </a:solidFill>
                <a:latin typeface="NanumGothicCoding"/>
              </a:rPr>
              <a:t>%sum = scf.for %i = %c0 to %c1024 step %c1
    iter_args(%acc = %zero) -&gt; (f32) {
  %x = memref.load %A[%i] : memref&lt;1024xf32&gt;
  %next = arith.addf %acc, %x : f32
  scf.yield %next : f32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325880"/>
            <a:ext cx="4160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46304" wrap="square"/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0F2141"/>
                </a:solidFill>
                <a:latin typeface="NanumGothic"/>
              </a:rPr>
              <a:t>읽기 포인트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41414"/>
                </a:solidFill>
                <a:latin typeface="NanumGothic"/>
              </a:rPr>
              <a:t>• %i: loop body block argument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41414"/>
                </a:solidFill>
                <a:latin typeface="NanumGothic"/>
              </a:rPr>
              <a:t>• %acc: loop-carried block argument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41414"/>
                </a:solidFill>
                <a:latin typeface="NanumGothic"/>
              </a:rPr>
              <a:t>• scf.yield: next iteration/result로 전달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41414"/>
                </a:solidFill>
                <a:latin typeface="NanumGothic"/>
              </a:rPr>
              <a:t>• NPU tile loop의 기본 형태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65B4"/>
          </a:solidFill>
          <a:ln>
            <a:solidFill>
              <a:srgbClr val="33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141"/>
                </a:solidFill>
                <a:latin typeface="NanumGothic"/>
              </a:rPr>
              <a:t>Multi-block Region: execute_region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10528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9636E"/>
                </a:solidFill>
                <a:latin typeface="NanumGothic"/>
              </a:rPr>
              <a:t>Lecture 03 |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97280"/>
            <a:ext cx="6309360" cy="5074920"/>
          </a:xfrm>
          <a:prstGeom prst="roundRect">
            <a:avLst/>
          </a:prstGeom>
          <a:solidFill>
            <a:srgbClr val="F3F6FA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109728" wrap="square"/>
          <a:lstStyle/>
          <a:p>
            <a:pPr algn="ctr"/>
            <a:r>
              <a:rPr sz="1300">
                <a:solidFill>
                  <a:srgbClr val="141414"/>
                </a:solidFill>
                <a:latin typeface="NanumGothicCoding"/>
              </a:rPr>
              <a:t>%r = scf.execute_region -&gt; i32 {
  cf.cond_br %cond, ^then, ^else
^then:
  %a = arith.constant 1 : i32
  cf.br ^merge(%a : i32)
^else:
  %b = arith.constant 2 : i32
  cf.br ^merge(%b : i32)
^merge(%x : i32):
  scf.yield %x : i32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325880"/>
            <a:ext cx="4160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46304" wrap="square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0F2141"/>
                </a:solidFill>
                <a:latin typeface="NanumGothic"/>
              </a:rPr>
              <a:t>주의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141414"/>
                </a:solidFill>
                <a:latin typeface="NanumGothic"/>
              </a:rPr>
              <a:t>• Unstructured CFG를 region 안에 담을 수 있습니다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141414"/>
                </a:solidFill>
                <a:latin typeface="NanumGothic"/>
              </a:rPr>
              <a:t>• ^merge(%x)는 predecessor 값의 merge point입니다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141414"/>
                </a:solidFill>
                <a:latin typeface="NanumGothic"/>
              </a:rPr>
              <a:t>• NPU command에서는 structured form을 우선 유지하는 편이 scheduling에 유리합니다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65B4"/>
          </a:solidFill>
          <a:ln>
            <a:solidFill>
              <a:srgbClr val="33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141"/>
                </a:solidFill>
                <a:latin typeface="NanumGothic"/>
              </a:rPr>
              <a:t>Dominance와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10528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9636E"/>
                </a:solidFill>
                <a:latin typeface="NanumGothic"/>
              </a:rPr>
              <a:t>Lecture 03 |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6070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46304" wrap="square"/>
          <a:lstStyle/>
          <a:p>
            <a:pPr algn="ctr"/>
            <a:r>
              <a:rPr sz="2000">
                <a:solidFill>
                  <a:srgbClr val="141414"/>
                </a:solidFill>
                <a:latin typeface="NanumGothic"/>
              </a:rPr>
              <a:t>• Region argument는 region 내부 deep operation에서 사용 가능</a:t>
            </a:r>
          </a:p>
          <a:p>
            <a:pPr>
              <a:spcAft>
                <a:spcPts val="500"/>
              </a:spcAft>
            </a:pPr>
            <a:r>
              <a:rPr sz="2000">
                <a:solidFill>
                  <a:srgbClr val="141414"/>
                </a:solidFill>
                <a:latin typeface="NanumGothic"/>
              </a:rPr>
              <a:t>• Region 내부 value는 임의로 region 밖으로 escape하면 안 됩니다</a:t>
            </a:r>
          </a:p>
          <a:p>
            <a:pPr>
              <a:spcAft>
                <a:spcPts val="500"/>
              </a:spcAft>
            </a:pPr>
            <a:r>
              <a:rPr sz="2000">
                <a:solidFill>
                  <a:srgbClr val="141414"/>
                </a:solidFill>
                <a:latin typeface="NanumGothic"/>
              </a:rPr>
              <a:t>• Value 사용 지점은 해당 value가 dominance하는 scope여야 합니다</a:t>
            </a:r>
          </a:p>
          <a:p>
            <a:pPr>
              <a:spcAft>
                <a:spcPts val="500"/>
              </a:spcAft>
            </a:pPr>
            <a:r>
              <a:rPr sz="2000">
                <a:solidFill>
                  <a:srgbClr val="141414"/>
                </a:solidFill>
                <a:latin typeface="NanumGothic"/>
              </a:rPr>
              <a:t>• NPU SRAM/ACC view lifetime 검증과 직접 연결됩니다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65B4"/>
          </a:solidFill>
          <a:ln>
            <a:solidFill>
              <a:srgbClr val="33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141"/>
                </a:solidFill>
                <a:latin typeface="NanumGothic"/>
              </a:rPr>
              <a:t>Region Result와 Yield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10528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9636E"/>
                </a:solidFill>
                <a:latin typeface="NanumGothic"/>
              </a:rPr>
              <a:t>Lecture 03 |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88720"/>
            <a:ext cx="54864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46304" wrap="square"/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F2141"/>
                </a:solidFill>
                <a:latin typeface="NanumGothic"/>
              </a:rPr>
              <a:t>개념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141414"/>
                </a:solidFill>
                <a:latin typeface="NanumGothic"/>
              </a:rPr>
              <a:t>• Parent op가 region result와 op result의 관계를 정의합니다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141414"/>
                </a:solidFill>
                <a:latin typeface="NanumGothic"/>
              </a:rPr>
              <a:t>• scf.for는 loop-carried final value를 result로 가질 수 있습니다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141414"/>
                </a:solidFill>
                <a:latin typeface="NanumGothic"/>
              </a:rPr>
              <a:t>• npu.command_region은 보통 command stream/status/token을 result로 만들 수 있습니다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371600"/>
            <a:ext cx="4937760" cy="4114800"/>
          </a:xfrm>
          <a:prstGeom prst="roundRect">
            <a:avLst/>
          </a:prstGeom>
          <a:solidFill>
            <a:srgbClr val="F3F6FA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109728" wrap="square"/>
          <a:lstStyle/>
          <a:p>
            <a:pPr algn="ctr"/>
            <a:r>
              <a:rPr sz="1400">
                <a:solidFill>
                  <a:srgbClr val="141414"/>
                </a:solidFill>
                <a:latin typeface="NanumGothicCoding"/>
              </a:rPr>
              <a:t>%out = "npu.execute"() ({
^body:
  %token = "npu.dma.async"(...) : (...) -&gt; !npu.token
  "npu.yield"(%token) : (!npu.token) -&gt; ()
}) : () -&gt; !npu.token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65B4"/>
          </a:solidFill>
          <a:ln>
            <a:solidFill>
              <a:srgbClr val="33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141"/>
                </a:solidFill>
                <a:latin typeface="NanumGothic"/>
              </a:rPr>
              <a:t>Region Kind: SSACFG vs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10528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9636E"/>
                </a:solidFill>
                <a:latin typeface="NanumGothic"/>
              </a:rPr>
              <a:t>Lecture 03 |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88720"/>
            <a:ext cx="106070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46304" wrap="square"/>
          <a:lstStyle/>
          <a:p>
            <a:pPr algn="ctr"/>
            <a:r>
              <a:rPr sz="2000">
                <a:solidFill>
                  <a:srgbClr val="141414"/>
                </a:solidFill>
                <a:latin typeface="NanumGothic"/>
              </a:rPr>
              <a:t>• SSACFG region: block, terminator, successor, dominance가 중요</a:t>
            </a:r>
          </a:p>
          <a:p>
            <a:pPr>
              <a:spcAft>
                <a:spcPts val="500"/>
              </a:spcAft>
            </a:pPr>
            <a:r>
              <a:rPr sz="2000">
                <a:solidFill>
                  <a:srgbClr val="141414"/>
                </a:solidFill>
                <a:latin typeface="NanumGothic"/>
              </a:rPr>
              <a:t>• Graph-style region: operation order가 semantic order가 아닐 수 있음</a:t>
            </a:r>
          </a:p>
          <a:p>
            <a:pPr>
              <a:spcAft>
                <a:spcPts val="500"/>
              </a:spcAft>
            </a:pPr>
            <a:r>
              <a:rPr sz="2000">
                <a:solidFill>
                  <a:srgbClr val="141414"/>
                </a:solidFill>
                <a:latin typeface="NanumGothic"/>
              </a:rPr>
              <a:t>• AI graph IR과 command-buffer IR은 region kind 선택이 다릅니다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297680"/>
            <a:ext cx="10607040" cy="1097280"/>
          </a:xfrm>
          <a:prstGeom prst="roundRect">
            <a:avLst/>
          </a:prstGeom>
          <a:solidFill>
            <a:srgbClr val="F2F7FF"/>
          </a:solidFill>
          <a:ln>
            <a:solidFill>
              <a:srgbClr val="B4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46304" wrap="square"/>
          <a:lstStyle/>
          <a:p>
            <a:pPr algn="ctr"/>
            <a:r>
              <a:rPr sz="1800">
                <a:solidFill>
                  <a:srgbClr val="141414"/>
                </a:solidFill>
                <a:latin typeface="NanumGothic"/>
              </a:rPr>
              <a:t>• NPU command buffer는 보통 deterministic order가 중요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141414"/>
                </a:solidFill>
                <a:latin typeface="NanumGothic"/>
              </a:rPr>
              <a:t>• AI graph/fusion region은 dependency graph 해석이 더 중요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65B4"/>
          </a:solidFill>
          <a:ln>
            <a:solidFill>
              <a:srgbClr val="33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141"/>
                </a:solidFill>
                <a:latin typeface="NanumGothic"/>
              </a:rPr>
              <a:t>NPU Mapping #1: Kernel Region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10528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9636E"/>
                </a:solidFill>
                <a:latin typeface="NanumGothic"/>
              </a:rPr>
              <a:t>Lecture 03 | 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97280"/>
            <a:ext cx="6675120" cy="5120640"/>
          </a:xfrm>
          <a:prstGeom prst="roundRect">
            <a:avLst/>
          </a:prstGeom>
          <a:solidFill>
            <a:srgbClr val="F3F6FA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109728" wrap="square"/>
          <a:lstStyle/>
          <a:p>
            <a:pPr algn="ctr"/>
            <a:r>
              <a:rPr sz="1250">
                <a:solidFill>
                  <a:srgbClr val="141414"/>
                </a:solidFill>
                <a:latin typeface="NanumGothicCoding"/>
              </a:rPr>
              <a:t>"npu.kernel"() ({
^entry(%A: !npu.tensor_desc, %B: !npu.tensor_desc, %C: !npu.tensor_desc):
  "npu.for_tiles"(...) ({
  ^tile(%m0: index, %n0: index, %k0: index):
    ... DMA + compute + store ...
    "npu.yield"() : () -&gt; ()
  }) : (...) -&gt; ()
  "npu.return"() : () -&gt; ()
}) : () -&gt; 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417320"/>
            <a:ext cx="38404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46304" wrap="square"/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0F2141"/>
                </a:solidFill>
                <a:latin typeface="NanumGothic"/>
              </a:rPr>
              <a:t>의도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41414"/>
                </a:solidFill>
                <a:latin typeface="NanumGothic"/>
              </a:rPr>
              <a:t>• Kernel-level semantic boundary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41414"/>
                </a:solidFill>
                <a:latin typeface="NanumGothic"/>
              </a:rPr>
              <a:t>• tile loop와 command body를 region으로 보존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41414"/>
                </a:solidFill>
                <a:latin typeface="NanumGothic"/>
              </a:rPr>
              <a:t>• verifier가 terminator/token/memory scope 검사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65B4"/>
          </a:solidFill>
          <a:ln>
            <a:solidFill>
              <a:srgbClr val="33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141"/>
                </a:solidFill>
                <a:latin typeface="NanumGothic"/>
              </a:rPr>
              <a:t>NPU Mapping #2: Command Buffer Region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10528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9636E"/>
                </a:solidFill>
                <a:latin typeface="NanumGothic"/>
              </a:rPr>
              <a:t>Lecture 03 | 18</a:t>
            </a:r>
          </a:p>
        </p:txBody>
      </p:sp>
      <p:pic>
        <p:nvPicPr>
          <p:cNvPr id="5" name="Picture 4" descr="MLIR_NPU_Lecture_03_NPU_Command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97280"/>
            <a:ext cx="107899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65B4"/>
          </a:solidFill>
          <a:ln>
            <a:solidFill>
              <a:srgbClr val="33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141"/>
                </a:solidFill>
                <a:latin typeface="NanumGothic"/>
              </a:rPr>
              <a:t>Pseudo IR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10528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9636E"/>
                </a:solidFill>
                <a:latin typeface="NanumGothic"/>
              </a:rPr>
              <a:t>Lecture 03 | 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47120" cy="5212080"/>
          </a:xfrm>
          <a:prstGeom prst="roundRect">
            <a:avLst/>
          </a:prstGeom>
          <a:solidFill>
            <a:srgbClr val="F3F6FA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109728" wrap="square"/>
          <a:lstStyle/>
          <a:p>
            <a:pPr algn="ctr"/>
            <a:r>
              <a:rPr sz="1200">
                <a:solidFill>
                  <a:srgbClr val="141414"/>
                </a:solidFill>
                <a:latin typeface="NanumGothicCoding"/>
              </a:rPr>
              <a:t>%a_sram, %ta = "npu.dma.async"(%A) : (...) -&gt; (!npu.sram_view, !npu.token)
%b_sram, %tb = "npu.dma.async"(%B) : (...) -&gt; (!npu.sram_view, !npu.token)
"npu.await"(%ta, %tb) : (!npu.token, !npu.token) -&gt; ()
%acc = "npu.matmul"(%a_sram, %b_sram) : (...) -&gt; !npu.acc_view
%out = "npu.requant_relu"(%acc) : (!npu.acc_view) -&gt; !npu.sram_view
%ts = "npu.dma.async"(%out, %C) : (...) -&gt; !npu.token
"npu.await"(%ts) : (!npu.token) -&gt; ()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65B4"/>
          </a:solidFill>
          <a:ln>
            <a:solidFill>
              <a:srgbClr val="33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141"/>
                </a:solidFill>
                <a:latin typeface="NanumGothic"/>
              </a:rPr>
              <a:t>NPU Region Verification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10528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9636E"/>
                </a:solidFill>
                <a:latin typeface="NanumGothic"/>
              </a:rPr>
              <a:t>Lecture 03 |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6070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46304" wrap="square"/>
          <a:lstStyle/>
          <a:p>
            <a:pPr algn="ctr"/>
            <a:r>
              <a:rPr sz="1900">
                <a:solidFill>
                  <a:srgbClr val="141414"/>
                </a:solidFill>
                <a:latin typeface="NanumGothic"/>
              </a:rPr>
              <a:t>• 모든 block에 terminator가 있는가?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41414"/>
                </a:solidFill>
                <a:latin typeface="NanumGothic"/>
              </a:rPr>
              <a:t>• block argument type/count가 branch operand와 맞는가?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41414"/>
                </a:solidFill>
                <a:latin typeface="NanumGothic"/>
              </a:rPr>
              <a:t>• DMA token이 compute 전에 await되는가?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41414"/>
                </a:solidFill>
                <a:latin typeface="NanumGothic"/>
              </a:rPr>
              <a:t>• SRAM/ACC view가 region 밖으로 불법 escape하지 않는가?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41414"/>
                </a:solidFill>
                <a:latin typeface="NanumGothic"/>
              </a:rPr>
              <a:t>• compile-time property는 attribute로 표현했는가?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141414"/>
                </a:solidFill>
                <a:latin typeface="NanumGothic"/>
              </a:rPr>
              <a:t>• command order가 deterministic한가?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65B4"/>
          </a:solidFill>
          <a:ln>
            <a:solidFill>
              <a:srgbClr val="33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141"/>
                </a:solidFill>
                <a:latin typeface="NanumGothic"/>
              </a:rPr>
              <a:t>Pass Design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10528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9636E"/>
                </a:solidFill>
                <a:latin typeface="NanumGothic"/>
              </a:rPr>
              <a:t>Lecture 03 | 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88720"/>
            <a:ext cx="106070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46304" wrap="square"/>
          <a:lstStyle/>
          <a:p>
            <a:pPr algn="ctr"/>
            <a:r>
              <a:rPr sz="2000">
                <a:solidFill>
                  <a:srgbClr val="141414"/>
                </a:solidFill>
                <a:latin typeface="NanumGothic"/>
              </a:rPr>
              <a:t>• Traversal pass: op -&gt; region -&gt; block -&gt; op 재귀 방문</a:t>
            </a:r>
          </a:p>
          <a:p>
            <a:pPr>
              <a:spcAft>
                <a:spcPts val="500"/>
              </a:spcAft>
            </a:pPr>
            <a:r>
              <a:rPr sz="2000">
                <a:solidFill>
                  <a:srgbClr val="141414"/>
                </a:solidFill>
                <a:latin typeface="NanumGothic"/>
              </a:rPr>
              <a:t>• Analysis pass: block argument, successor, token def-use 추적</a:t>
            </a:r>
          </a:p>
          <a:p>
            <a:pPr>
              <a:spcAft>
                <a:spcPts val="500"/>
              </a:spcAft>
            </a:pPr>
            <a:r>
              <a:rPr sz="2000">
                <a:solidFill>
                  <a:srgbClr val="141414"/>
                </a:solidFill>
                <a:latin typeface="NanumGothic"/>
              </a:rPr>
              <a:t>• Scheduling pass: command region 내부 dependency graph 생성</a:t>
            </a:r>
          </a:p>
          <a:p>
            <a:pPr>
              <a:spcAft>
                <a:spcPts val="500"/>
              </a:spcAft>
            </a:pPr>
            <a:r>
              <a:rPr sz="2000">
                <a:solidFill>
                  <a:srgbClr val="141414"/>
                </a:solidFill>
                <a:latin typeface="NanumGothic"/>
              </a:rPr>
              <a:t>• Lowering pass: command region을 runtime ABI descriptor로 serialize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65B4"/>
          </a:solidFill>
          <a:ln>
            <a:solidFill>
              <a:srgbClr val="33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141"/>
                </a:solidFill>
                <a:latin typeface="NanumGothic"/>
              </a:rPr>
              <a:t>Exercise A: Annotation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10528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9636E"/>
                </a:solidFill>
                <a:latin typeface="NanumGothic"/>
              </a:rPr>
              <a:t>Lecture 03 | 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88720"/>
            <a:ext cx="6217920" cy="2926080"/>
          </a:xfrm>
          <a:prstGeom prst="roundRect">
            <a:avLst/>
          </a:prstGeom>
          <a:solidFill>
            <a:srgbClr val="F3F6FA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109728" wrap="square"/>
          <a:lstStyle/>
          <a:p>
            <a:pPr algn="ctr"/>
            <a:r>
              <a:rPr sz="1600">
                <a:solidFill>
                  <a:srgbClr val="141414"/>
                </a:solidFill>
                <a:latin typeface="NanumGothicCoding"/>
              </a:rPr>
              <a:t>scf.for %i = %c0 to %c1024 step %c1 {
  %x = memref.load %A[%i] : memref&lt;1024xf32&gt;
  memref.store %x, %B[%i] : memref&lt;1024xf32&gt;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188720"/>
            <a:ext cx="42062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46304" wrap="square"/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F2141"/>
                </a:solidFill>
                <a:latin typeface="NanumGothic"/>
              </a:rPr>
              <a:t>질문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141414"/>
                </a:solidFill>
                <a:latin typeface="NanumGothic"/>
              </a:rPr>
              <a:t>• Region은 어디인가?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141414"/>
                </a:solidFill>
                <a:latin typeface="NanumGothic"/>
              </a:rPr>
              <a:t>• Block argument는 무엇인가?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141414"/>
                </a:solidFill>
                <a:latin typeface="NanumGothic"/>
              </a:rPr>
              <a:t>• Terminator는 명시되어 있는가?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141414"/>
                </a:solidFill>
                <a:latin typeface="NanumGothic"/>
              </a:rPr>
              <a:t>• %i의 scope는 어디까지인가?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65B4"/>
          </a:solidFill>
          <a:ln>
            <a:solidFill>
              <a:srgbClr val="33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141"/>
                </a:solidFill>
                <a:latin typeface="NanumGothic"/>
              </a:rPr>
              <a:t>Exercise B: Merge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10528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9636E"/>
                </a:solidFill>
                <a:latin typeface="NanumGothic"/>
              </a:rPr>
              <a:t>Lecture 03 | 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97280"/>
            <a:ext cx="6126480" cy="4572000"/>
          </a:xfrm>
          <a:prstGeom prst="roundRect">
            <a:avLst/>
          </a:prstGeom>
          <a:solidFill>
            <a:srgbClr val="F3F6FA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109728" wrap="square"/>
          <a:lstStyle/>
          <a:p>
            <a:pPr algn="ctr"/>
            <a:r>
              <a:rPr sz="1500">
                <a:solidFill>
                  <a:srgbClr val="141414"/>
                </a:solidFill>
                <a:latin typeface="NanumGothicCoding"/>
              </a:rPr>
              <a:t>^then:
  %a = arith.constant 1 : i32
  cf.br ^merge(%a : i32)
^else:
  %b = arith.constant 2 : i32
  cf.br ^merge(%b : i32)
^merge(%x : i32):
  scf.yield %x : i32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280160"/>
            <a:ext cx="42062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46304" wrap="square"/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0F2141"/>
                </a:solidFill>
                <a:latin typeface="NanumGothic"/>
              </a:rPr>
              <a:t>분석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41414"/>
                </a:solidFill>
                <a:latin typeface="NanumGothic"/>
              </a:rPr>
              <a:t>• %x는 어느 값에서 올 수 있나요?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41414"/>
                </a:solidFill>
                <a:latin typeface="NanumGothic"/>
              </a:rPr>
              <a:t>• LLVM PHI node와 어떤 점이 다른가요?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41414"/>
                </a:solidFill>
                <a:latin typeface="NanumGothic"/>
              </a:rPr>
              <a:t>• branch operand type이 다르면 어떤 verifier 오류가 생기나요?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65B4"/>
          </a:solidFill>
          <a:ln>
            <a:solidFill>
              <a:srgbClr val="33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141"/>
                </a:solidFill>
                <a:latin typeface="NanumGothic"/>
              </a:rPr>
              <a:t>Exercise C: NPU Command Region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10528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9636E"/>
                </a:solidFill>
                <a:latin typeface="NanumGothic"/>
              </a:rPr>
              <a:t>Lecture 03 | 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6070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46304" wrap="square"/>
          <a:lstStyle/>
          <a:p>
            <a:pPr algn="ctr"/>
            <a:r>
              <a:rPr sz="2000">
                <a:solidFill>
                  <a:srgbClr val="141414"/>
                </a:solidFill>
                <a:latin typeface="NanumGothic"/>
              </a:rPr>
              <a:t>• MatMul tile 하나를 pseudo IR로 작성</a:t>
            </a:r>
          </a:p>
          <a:p>
            <a:pPr>
              <a:spcAft>
                <a:spcPts val="500"/>
              </a:spcAft>
            </a:pPr>
            <a:r>
              <a:rPr sz="2000">
                <a:solidFill>
                  <a:srgbClr val="141414"/>
                </a:solidFill>
                <a:latin typeface="NanumGothic"/>
              </a:rPr>
              <a:t>• DMA A/B -&gt; await -&gt; matmul -&gt; requant/relu -&gt; DMA C -&gt; yield</a:t>
            </a:r>
          </a:p>
          <a:p>
            <a:pPr>
              <a:spcAft>
                <a:spcPts val="500"/>
              </a:spcAft>
            </a:pPr>
            <a:r>
              <a:rPr sz="2000">
                <a:solidFill>
                  <a:srgbClr val="141414"/>
                </a:solidFill>
                <a:latin typeface="NanumGothic"/>
              </a:rPr>
              <a:t>• token, memory space, terminator를 반드시 포함</a:t>
            </a:r>
          </a:p>
          <a:p>
            <a:pPr>
              <a:spcAft>
                <a:spcPts val="500"/>
              </a:spcAft>
            </a:pPr>
            <a:r>
              <a:rPr sz="2000">
                <a:solidFill>
                  <a:srgbClr val="141414"/>
                </a:solidFill>
                <a:latin typeface="NanumGothic"/>
              </a:rPr>
              <a:t>• 작성 후 verifier checklist로 검토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65B4"/>
          </a:solidFill>
          <a:ln>
            <a:solidFill>
              <a:srgbClr val="33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141"/>
                </a:solidFill>
                <a:latin typeface="NanumGothic"/>
              </a:rPr>
              <a:t>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10528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9636E"/>
                </a:solidFill>
                <a:latin typeface="NanumGothic"/>
              </a:rPr>
              <a:t>Lecture 03 | 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43000"/>
            <a:ext cx="106984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46304" wrap="square"/>
          <a:lstStyle/>
          <a:p>
            <a:pPr algn="ctr"/>
            <a:r>
              <a:rPr sz="1800">
                <a:solidFill>
                  <a:srgbClr val="141414"/>
                </a:solidFill>
                <a:latin typeface="NanumGothic"/>
              </a:rPr>
              <a:t>• Region 자체가 semantics를 정한다고 오해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141414"/>
                </a:solidFill>
                <a:latin typeface="NanumGothic"/>
              </a:rPr>
              <a:t>• block terminator 누락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141414"/>
                </a:solidFill>
                <a:latin typeface="NanumGothic"/>
              </a:rPr>
              <a:t>• block argument와 predecessor operand type/count mismatch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141414"/>
                </a:solidFill>
                <a:latin typeface="NanumGothic"/>
              </a:rPr>
              <a:t>• async token을 만들고 await하지 않음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141414"/>
                </a:solidFill>
                <a:latin typeface="NanumGothic"/>
              </a:rPr>
              <a:t>• SRAM view lifetime을 region 밖으로 노출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141414"/>
                </a:solidFill>
                <a:latin typeface="NanumGothic"/>
              </a:rPr>
              <a:t>• tile size 같은 compile-time config를 불필요하게 operand화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65B4"/>
          </a:solidFill>
          <a:ln>
            <a:solidFill>
              <a:srgbClr val="33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141"/>
                </a:solidFill>
                <a:latin typeface="NanumGothic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10528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9636E"/>
                </a:solidFill>
                <a:latin typeface="NanumGothic"/>
              </a:rPr>
              <a:t>Lecture 03 | 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1060704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46304" wrap="square"/>
          <a:lstStyle/>
          <a:p>
            <a:pPr algn="ctr"/>
            <a:r>
              <a:rPr sz="2000">
                <a:solidFill>
                  <a:srgbClr val="141414"/>
                </a:solidFill>
                <a:latin typeface="NanumGothic"/>
              </a:rPr>
              <a:t>• Region은 parent op 아래 block list이며 parent op가 의미를 정합니다</a:t>
            </a:r>
          </a:p>
          <a:p>
            <a:pPr>
              <a:spcAft>
                <a:spcPts val="500"/>
              </a:spcAft>
            </a:pPr>
            <a:r>
              <a:rPr sz="2000">
                <a:solidFill>
                  <a:srgbClr val="141414"/>
                </a:solidFill>
                <a:latin typeface="NanumGothic"/>
              </a:rPr>
              <a:t>• Block argument는 PHI-node 없는 SSA merge 표현입니다</a:t>
            </a:r>
          </a:p>
          <a:p>
            <a:pPr>
              <a:spcAft>
                <a:spcPts val="500"/>
              </a:spcAft>
            </a:pPr>
            <a:r>
              <a:rPr sz="2000">
                <a:solidFill>
                  <a:srgbClr val="141414"/>
                </a:solidFill>
                <a:latin typeface="NanumGothic"/>
              </a:rPr>
              <a:t>• Terminator/successor를 읽으면 control flow와 value flow가 보입니다</a:t>
            </a:r>
          </a:p>
          <a:p>
            <a:pPr>
              <a:spcAft>
                <a:spcPts val="500"/>
              </a:spcAft>
            </a:pPr>
            <a:r>
              <a:rPr sz="2000">
                <a:solidFill>
                  <a:srgbClr val="141414"/>
                </a:solidFill>
                <a:latin typeface="NanumGothic"/>
              </a:rPr>
              <a:t>• NPU command region은 DMA/compute/barrier/order를 compiler가 검증 가능한 구조로 만듭니다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65B4"/>
          </a:solidFill>
          <a:ln>
            <a:solidFill>
              <a:srgbClr val="33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141"/>
                </a:solidFill>
                <a:latin typeface="NanumGothic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10528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9636E"/>
                </a:solidFill>
                <a:latin typeface="NanumGothic"/>
              </a:rPr>
              <a:t>Lecture 03 | 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070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46304" wrap="square"/>
          <a:lstStyle/>
          <a:p>
            <a:pPr algn="ctr"/>
            <a:r>
              <a:rPr sz="2100">
                <a:solidFill>
                  <a:srgbClr val="141414"/>
                </a:solidFill>
                <a:latin typeface="NanumGothic"/>
              </a:rPr>
              <a:t>• MLIR Language Reference</a:t>
            </a:r>
          </a:p>
          <a:p>
            <a:pPr>
              <a:spcAft>
                <a:spcPts val="500"/>
              </a:spcAft>
            </a:pPr>
            <a:r>
              <a:rPr sz="2100">
                <a:solidFill>
                  <a:srgbClr val="141414"/>
                </a:solidFill>
                <a:latin typeface="NanumGothic"/>
              </a:rPr>
              <a:t>• Understanding the IR Structure</a:t>
            </a:r>
          </a:p>
          <a:p>
            <a:pPr>
              <a:spcAft>
                <a:spcPts val="500"/>
              </a:spcAft>
            </a:pPr>
            <a:r>
              <a:rPr sz="2100">
                <a:solidFill>
                  <a:srgbClr val="141414"/>
                </a:solidFill>
                <a:latin typeface="NanumGothic"/>
              </a:rPr>
              <a:t>• MLIR Rationale: Block Arguments vs PHI nodes</a:t>
            </a:r>
          </a:p>
          <a:p>
            <a:pPr>
              <a:spcAft>
                <a:spcPts val="500"/>
              </a:spcAft>
            </a:pPr>
            <a:r>
              <a:rPr sz="2100">
                <a:solidFill>
                  <a:srgbClr val="141414"/>
                </a:solidFill>
                <a:latin typeface="NanumGothic"/>
              </a:rPr>
              <a:t>• SCF Dialect documentation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