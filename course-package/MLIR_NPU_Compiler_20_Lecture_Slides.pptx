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14325A"/>
                </a:solidFill>
                <a:latin typeface="NanumGothic"/>
              </a:rPr>
              <a:t>AI and NPU Compiler를 위한 MLIR 20강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984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646464"/>
                </a:solidFill>
                <a:latin typeface="NanumGothic"/>
              </a:rPr>
              <a:t>From MLIR Basics to Custom Edge NPU Compiler</a:t>
            </a:r>
          </a:p>
        </p:txBody>
      </p:sp>
      <p:pic>
        <p:nvPicPr>
          <p:cNvPr id="4" name="Picture 3" descr="mlir_npu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11155680" cy="38673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63550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E6E6E"/>
                </a:solidFill>
                <a:latin typeface="NanumGothic"/>
              </a:rPr>
              <a:t>Prepared 2026-05-05 | PPTX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20-Lecture Roadmap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주제와 핵심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502920" cy="301752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latin typeface="NanumGothic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033271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4325A"/>
                </a:solidFill>
                <a:latin typeface="NanumGothic"/>
              </a:rPr>
              <a:t>MLIR와 AI/NPU Compiler 큰 그림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033271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73737"/>
                </a:solidFill>
                <a:latin typeface="NanumGothic"/>
              </a:rPr>
              <a:t>NPU compiler lowering pipeline 설계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27048"/>
            <a:ext cx="502920" cy="301752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latin typeface="NanumGothic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50876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4325A"/>
                </a:solidFill>
                <a:latin typeface="NanumGothic"/>
              </a:rPr>
              <a:t>MLIR IR 기본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50876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73737"/>
                </a:solidFill>
                <a:latin typeface="NanumGothic"/>
              </a:rPr>
              <a:t>Operation/Value/Type/Attribute 읽기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02536"/>
            <a:ext cx="502920" cy="301752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latin typeface="NanumGothic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98424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4325A"/>
                </a:solidFill>
                <a:latin typeface="NanumGothic"/>
              </a:rPr>
              <a:t>Region과 Block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984248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73737"/>
                </a:solidFill>
                <a:latin typeface="NanumGothic"/>
              </a:rPr>
              <a:t>NPU kernel/command region pseudo 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78024"/>
            <a:ext cx="502920" cy="301752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latin typeface="NanumGothic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45973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4325A"/>
                </a:solidFill>
                <a:latin typeface="NanumGothic"/>
              </a:rPr>
              <a:t>mlir-opt, mlir-translate, FileCheck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459736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73737"/>
                </a:solidFill>
                <a:latin typeface="NanumGothic"/>
              </a:rPr>
              <a:t>pass pipeline 실행과 regression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53512"/>
            <a:ext cx="502920" cy="301752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latin typeface="NanumGothic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93522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4325A"/>
                </a:solidFill>
                <a:latin typeface="NanumGothic"/>
              </a:rPr>
              <a:t>Dialect 시스템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935224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73737"/>
                </a:solidFill>
                <a:latin typeface="NanumGothic"/>
              </a:rPr>
              <a:t>frontend/graph/kernel/runtime dialect 분리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429000"/>
            <a:ext cx="502920" cy="301752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latin typeface="NanumGothic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341071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4325A"/>
                </a:solidFill>
                <a:latin typeface="NanumGothic"/>
              </a:rPr>
              <a:t>StableHLO, TOSA, AI 모델 입력 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410712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73737"/>
                </a:solidFill>
                <a:latin typeface="NanumGothic"/>
              </a:rPr>
              <a:t>LayerNorm/GELU primitive decomposition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904487"/>
            <a:ext cx="502920" cy="301752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latin typeface="NanumGothic"/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88620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4325A"/>
                </a:solidFill>
                <a:latin typeface="NanumGothic"/>
              </a:rPr>
              <a:t>Linalg-on-Tensors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88620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73737"/>
                </a:solidFill>
                <a:latin typeface="NanumGothic"/>
              </a:rPr>
              <a:t>linalg.generic MatMul/Conv 표현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379975"/>
            <a:ext cx="502920" cy="301752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latin typeface="NanumGothic"/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36168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4325A"/>
                </a:solidFill>
                <a:latin typeface="NanumGothic"/>
              </a:rPr>
              <a:t>SCF/Affine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4361688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73737"/>
                </a:solidFill>
                <a:latin typeface="NanumGothic"/>
              </a:rPr>
              <a:t>M/N/K tile loop와 DMA 순서 작성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855463"/>
            <a:ext cx="502920" cy="301752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latin typeface="NanumGothic"/>
              </a:defRPr>
            </a:pPr>
            <a: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4837175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4325A"/>
                </a:solidFill>
                <a:latin typeface="NanumGothic"/>
              </a:rPr>
              <a:t>Pass Infrastructure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4837175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73737"/>
                </a:solidFill>
                <a:latin typeface="NanumGothic"/>
              </a:rPr>
              <a:t>NPU lowering pass pipeline 초안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330951"/>
            <a:ext cx="502920" cy="301752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latin typeface="NanumGothic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" y="5312663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4325A"/>
                </a:solidFill>
                <a:latin typeface="NanumGothic"/>
              </a:rPr>
              <a:t>Rewrite Pattern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5312663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73737"/>
                </a:solidFill>
                <a:latin typeface="NanumGothic"/>
              </a:rPr>
              <a:t>MatMul+Add+ReLU fusion pattern 설계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20-Lecture Roadmap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주제와 핵심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502920" cy="301752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latin typeface="NanumGothic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033271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4325A"/>
                </a:solidFill>
                <a:latin typeface="NanumGothic"/>
              </a:rPr>
              <a:t>Dialect Conversion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033271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73737"/>
                </a:solidFill>
                <a:latin typeface="NanumGothic"/>
              </a:rPr>
              <a:t>NPU legal op set과 unsupported op lowering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27048"/>
            <a:ext cx="502920" cy="301752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latin typeface="NanumGothic"/>
              </a:defRPr>
            </a:pPr>
            <a: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50876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4325A"/>
                </a:solidFill>
                <a:latin typeface="NanumGothic"/>
              </a:rPr>
              <a:t>Bufferization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50876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73737"/>
                </a:solidFill>
                <a:latin typeface="NanumGothic"/>
              </a:rPr>
              <a:t>tensor -&gt; memref, alias/lifetime 분석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02536"/>
            <a:ext cx="502920" cy="301752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latin typeface="NanumGothic"/>
              </a:defRPr>
            </a:pPr>
            <a: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98424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4325A"/>
                </a:solidFill>
                <a:latin typeface="NanumGothic"/>
              </a:rPr>
              <a:t>MemRef, Layout, Memory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984248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73737"/>
                </a:solidFill>
                <a:latin typeface="NanumGothic"/>
              </a:rPr>
              <a:t>DRAM/SRAM/accumulator memory mapping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78024"/>
            <a:ext cx="502920" cy="301752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latin typeface="NanumGothic"/>
              </a:defRPr>
            </a:pPr>
            <a: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45973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4325A"/>
                </a:solidFill>
                <a:latin typeface="NanumGothic"/>
              </a:rPr>
              <a:t>Vector Dialect, Tensorization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459736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73737"/>
                </a:solidFill>
                <a:latin typeface="NanumGothic"/>
              </a:rPr>
              <a:t>vector.contract -&gt; NPU matmul mapping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53512"/>
            <a:ext cx="502920" cy="301752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latin typeface="NanumGothic"/>
              </a:defRPr>
            </a:pPr>
            <a: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93522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4325A"/>
                </a:solidFill>
                <a:latin typeface="NanumGothic"/>
              </a:rPr>
              <a:t>Transform Dialect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935224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73737"/>
                </a:solidFill>
                <a:latin typeface="NanumGothic"/>
              </a:rPr>
              <a:t>tile/fuse/vectorize schedule 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429000"/>
            <a:ext cx="502920" cy="301752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latin typeface="NanumGothic"/>
              </a:defRPr>
            </a:pPr>
            <a: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341071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4325A"/>
                </a:solidFill>
                <a:latin typeface="NanumGothic"/>
              </a:rPr>
              <a:t>Quantization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410712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73737"/>
                </a:solidFill>
                <a:latin typeface="NanumGothic"/>
              </a:rPr>
              <a:t>INT8/INT4 requant, accumulator width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904487"/>
            <a:ext cx="502920" cy="301752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latin typeface="NanumGothic"/>
              </a:defRPr>
            </a:pPr>
            <a:r>
              <a:t>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88620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4325A"/>
                </a:solidFill>
                <a:latin typeface="NanumGothic"/>
              </a:rPr>
              <a:t>Fusion, Layout Propagation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88620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73737"/>
                </a:solidFill>
                <a:latin typeface="NanumGothic"/>
              </a:rPr>
              <a:t>Transformer MLP fusion 후보 분석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379975"/>
            <a:ext cx="502920" cy="301752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latin typeface="NanumGothic"/>
              </a:defRPr>
            </a:pPr>
            <a:r>
              <a:t>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36168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4325A"/>
                </a:solidFill>
                <a:latin typeface="NanumGothic"/>
              </a:rPr>
              <a:t>Custom NPU Dialect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4361688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73737"/>
                </a:solidFill>
                <a:latin typeface="NanumGothic"/>
              </a:rPr>
              <a:t>npu.matmul/npu.dma/npu.barrier ODS 설계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855463"/>
            <a:ext cx="502920" cy="301752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latin typeface="NanumGothic"/>
              </a:defRPr>
            </a:pPr>
            <a:r>
              <a:t>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4837175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4325A"/>
                </a:solidFill>
                <a:latin typeface="NanumGothic"/>
              </a:rPr>
              <a:t>Runtime/ABI/Codegen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4837175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73737"/>
                </a:solidFill>
                <a:latin typeface="NanumGothic"/>
              </a:rPr>
              <a:t>command buffer와 tensor descriptor ABI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330951"/>
            <a:ext cx="502920" cy="301752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latin typeface="NanumGothic"/>
              </a:defRPr>
            </a:pPr>
            <a:r>
              <a:t>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" y="5312663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4325A"/>
                </a:solidFill>
                <a:latin typeface="NanumGothic"/>
              </a:rPr>
              <a:t>Capstone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5312663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73737"/>
                </a:solidFill>
                <a:latin typeface="NanumGothic"/>
              </a:rPr>
              <a:t>Mini NPU Compiler Design Spec 작성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End-to-End MLIR Lowering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NPU compiler abstraction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pic>
        <p:nvPicPr>
          <p:cNvPr id="6" name="Picture 5" descr="mlir_npu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155680" cy="38673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1: MLIR와 AI/NPU Compiler 큰 그림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NPU compiler lowering pipeline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Core Concepts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Multi-level IR와 dialect 기반 compiler stack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AI model IR에서 runtime command buffer까지의 lowering ladder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NPU 병목: SRAM capacity, DRAM bandwidth, DMA overlap, quantization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Compiler artifact: IR, pass pipeline, kernel command, profiling metadata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NPU Architect Note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NPU compiler는 TOPS보다 data movement를 먼저 통제해야 한다. 초기 pipeline 설계에서 shape/layout/quant/memory-space 정보를 어느 단계까지 보존할지 결정한다.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14325A"/>
                </a:solidFill>
                <a:latin typeface="NanumGothic"/>
              </a:rPr>
              <a:t>Review Axes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Legal IR boundary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Metadata preservation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Performance bottleneck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Test invariant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1: Lab and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NPU compiler lowering pipeline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325A"/>
                </a:solidFill>
                <a:latin typeface="NanumGothic"/>
              </a:rPr>
              <a:t>Hands-on Tasks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StableHLO/TOSA -&gt; Linalg -&gt; MemRef/Vector -&gt; NPU dialect -&gt; Runtime ABI pipeline을 그린다.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각 단계의 입력/출력 dialect와 보존 metadata를 적는다.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unsupported op가 나왔을 때 decomposition, CPU fallback, custom kernel 중 하나를 고른다.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12080" cy="4023360"/>
          </a:xfrm>
          <a:prstGeom prst="roundRect">
            <a:avLst/>
          </a:prstGeom>
          <a:solidFill>
            <a:srgbClr val="F2F2F2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91919"/>
                </a:solidFill>
                <a:latin typeface="NanumGothicCoding"/>
              </a:rPr>
              <a:t>Framework Model
  -&gt; StableHLO/TOSA
  -&gt; Linalg-on-Tensors
  -&gt; Tile/Fuse/Layout
  -&gt; Bufferization/MemRef
  -&gt; Vector/Affine/SCF
  -&gt; Custom NPU Dialect
  -&gt; Command Buffer + Runtime ABI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2: MLIR IR 기본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Operation/Value/Type/Attribute 읽기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Core Concepts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Operation은 MLIR의 기본 단위이며 operands/results/attributes/regions를 가진다.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SSA Value는 op result 또는 block argument로 표현된다.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Type은 value의 compile-time shape/dtype/layout semantic을 담는다.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Attribute는 stride, padding, quant scale처럼 static metadata 표현에 적합하다.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NPU Architect Note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NPU backend에서는 kernel parameter를 attribute로, tensor dataflow를 SSA value로 분리해 verifier와 lowering pattern이 쉽게 읽게 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14325A"/>
                </a:solidFill>
                <a:latin typeface="NanumGothic"/>
              </a:rPr>
              <a:t>Review Axes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Legal IR boundary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Metadata preservation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Performance bottleneck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Test invariant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2: Lab and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Operation/Value/Type/Attribute 읽기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325A"/>
                </a:solidFill>
                <a:latin typeface="NanumGothic"/>
              </a:rPr>
              <a:t>Hands-on Tasks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간단한 StableHLO add/relu IR에서 op, operand, result, type을 표시한다.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attribute와 type에 들어갈 정보를 분리한다.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debugging을 위해 location을 남기는 이유를 설명한다.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12080" cy="4023360"/>
          </a:xfrm>
          <a:prstGeom prst="roundRect">
            <a:avLst/>
          </a:prstGeom>
          <a:solidFill>
            <a:srgbClr val="F2F2F2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91919"/>
                </a:solidFill>
                <a:latin typeface="NanumGothicCoding"/>
              </a:rPr>
              <a:t>func.func @add_relu(%a: tensor&lt;4xf32&gt;, %b: tensor&lt;4xf32&gt;) -&gt; tensor&lt;4xf32&gt; {
  %0 = stablehlo.add %a, %b : tensor&lt;4xf32&gt;
  %z = stablehlo.constant dense&lt;0.0&gt; : tensor&lt;4xf32&gt;
  %1 = stablehlo.maximum %0, %z : tensor&lt;4xf32&gt;
  return %1 : tensor&lt;4xf32&gt;
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3: Region과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NPU kernel/command region pseudo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Core Concepts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Region은 nested IR container이고, block은 argument와 terminator를 가진다.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scf.for, scf.if, linalg.generic, transform op는 region 구조를 사용한다.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Dominance와 region isolation은 pass correctness의 핵심이다.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Region은 kernel body나 command sequence를 구조적으로 표현하는 데 유용하다.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NPU Architect Note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npu.kernel region 안에 DMA, compute, barrier, store를 넣으면 dependency와 scheduling constraint를 IR verifier로 검사할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14325A"/>
                </a:solidFill>
                <a:latin typeface="NanumGothic"/>
              </a:rPr>
              <a:t>Review Axes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Legal IR boundary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Metadata preservation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Performance bottleneck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Test invariant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3: Lab and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NPU kernel/command region pseudo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325A"/>
                </a:solidFill>
                <a:latin typeface="NanumGothic"/>
              </a:rPr>
              <a:t>Hands-on Tasks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scf.for 3중 loop의 region/block 구조를 표시한다.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pseudo npu.kernel region에 dma_load, matmul, barrier, dma_store를 배치한다.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terminator가 필요한 region과 implicit terminator region을 구분한다.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12080" cy="4023360"/>
          </a:xfrm>
          <a:prstGeom prst="roundRect">
            <a:avLst/>
          </a:prstGeom>
          <a:solidFill>
            <a:srgbClr val="F2F2F2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91919"/>
                </a:solidFill>
                <a:latin typeface="NanumGothicCoding"/>
              </a:rPr>
              <a:t>npu.kernel @tile_mma {
  npu.dma_load %A_dram, %A_sram
  npu.dma_load %B_dram, %B_sram
  npu.barrier
  %acc = npu.matmul %A_sram, %B_sram, %acc0
  npu.dma_store %acc, %C_dram
  npu.return
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4: mlir-opt, mlir-translate, FileCheck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pass pipeline 실행과 regression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Core Concepts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mlir-opt는 pass pipeline 실험과 test 작성의 기본 도구이다.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mlir-translate는 MLIR와 외부 표현 간 변환을 담당한다.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FileCheck는 IR 변환 결과를 안정적으로 검증한다.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split-input-file, verify-diagnostics, CHECK-DAG를 실전에서 자주 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NPU Architect Note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NPU compiler는 pass 수가 많아질수록 regression test 없이는 유지보수가 어렵다. fusion/legalization/bufferization/codegen마다 FileCheck를 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14325A"/>
                </a:solidFill>
                <a:latin typeface="NanumGothic"/>
              </a:rPr>
              <a:t>Review Axes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Legal IR boundary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Metadata preservation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Performance bottleneck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Test invariant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4: Lab and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pass pipeline 실행과 regression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325A"/>
                </a:solidFill>
                <a:latin typeface="NanumGothic"/>
              </a:rPr>
              <a:t>Hands-on Tasks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canonicalize/cse pipeline을 실행한다.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CHECK-LABEL, CHECK, CHECK-SAME, CHECK-DAG를 사용해 test를 쓴다.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negative verifier test를 하나 작성한다.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12080" cy="4023360"/>
          </a:xfrm>
          <a:prstGeom prst="roundRect">
            <a:avLst/>
          </a:prstGeom>
          <a:solidFill>
            <a:srgbClr val="F2F2F2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91919"/>
                </a:solidFill>
                <a:latin typeface="NanumGothicCoding"/>
              </a:rPr>
              <a:t>// RUN: mlir-opt %s -canonicalize -cse | FileCheck %s
// CHECK-LABEL: func.func @matmul
// CHECK: linalg.matmul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5: Dialect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frontend/graph/kernel/runtime dialect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Core Concepts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Dialect는 op/type/attribute의 namespace이자 abstraction boundary이다.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ODS/TableGen은 op definition, verifier, parser/printer 생성을 돕는다.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Trait와 Interface는 target-independent pass 작성을 가능하게 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Dialect conversion은 source dialect를 target dialect legal set으로 바꾸는 과정이다.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NPU Architect Note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하나의 npu dialect에 graph, kernel, runtime 의미를 모두 넣기보다 level을 나누면 legalization과 debug가 쉬워진다.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14325A"/>
                </a:solidFill>
                <a:latin typeface="NanumGothic"/>
              </a:rPr>
              <a:t>Review Axes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Legal IR boundary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Metadata preservation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Performance bottleneck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Test invariant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5: Lab and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frontend/graph/kernel/runtime dialect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325A"/>
                </a:solidFill>
                <a:latin typeface="NanumGothic"/>
              </a:rPr>
              <a:t>Hands-on Tasks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frontend, graph, kernel, runtime dialect의 책임을 표로 나눈다.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npu.matmul, npu.dma, npu.barrier의 operands/results/attributes를 정의한다.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각 op에 필요한 verifier constraint를 적는다.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12080" cy="4023360"/>
          </a:xfrm>
          <a:prstGeom prst="roundRect">
            <a:avLst/>
          </a:prstGeom>
          <a:solidFill>
            <a:srgbClr val="F2F2F2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91919"/>
                </a:solidFill>
                <a:latin typeface="NanumGothicCoding"/>
              </a:rPr>
              <a:t>npu.matmul {tile_m = 16, tile_n = 16, tile_k = 64, acc_type = i32}
  (%a, %b, %acc) : memref&lt;16x64xi8, 1&gt;, memref&lt;64x16xi8, 1&gt;, memref&lt;16x16xi32, 2&gt;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6: StableHLO, TOSA, AI 모델 입력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LayerNorm/GELU primitive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Core Concepts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StableHLO는 ML framework와 compiler 사이 portable HLO semantic을 제공한다.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TOSA는 DNN에서 많이 쓰는 tensor-level op set과 quantization detail을 제공한다.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Frontend IR은 모델 의미 보존에 강하지만 NPU schedule에는 아직 이르다.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Composite op decomposition은 numerical contract와 fusion 가능성을 함께 고려해야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NPU Architect Note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지원 op set이 제한된 NPU에서는 StableHLO/TOSA 단계에서 unsupported op를 빨리 찾아 decomposition 또는 fallback을 결정해야 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14325A"/>
                </a:solidFill>
                <a:latin typeface="NanumGothic"/>
              </a:rPr>
              <a:t>Review Axes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Legal IR boundary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Metadata preservation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Performance bottleneck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Test invariant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6: Lab and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LayerNorm/GELU primitive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325A"/>
                </a:solidFill>
                <a:latin typeface="NanumGothic"/>
              </a:rPr>
              <a:t>Hands-on Tasks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GELU를 erf 기반 primitive sequence로 표현한다.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LayerNorm을 reduce/add/mul/rsqrt/add/mul로 분해한다.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decomposition 후 fusion 가능한 subgraph를 표시한다.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12080" cy="4023360"/>
          </a:xfrm>
          <a:prstGeom prst="roundRect">
            <a:avLst/>
          </a:prstGeom>
          <a:solidFill>
            <a:srgbClr val="F2F2F2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91919"/>
                </a:solidFill>
                <a:latin typeface="NanumGothicCoding"/>
              </a:rPr>
              <a:t>LayerNorm(x) = (x - mean(x)) * rsqrt(var(x) + eps) * gamma + beta
GELU(x) ~= 0.5 * x * (1 + erf(x / sqrt(2)))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7: Linalg-on-Tensors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linalg.generic MatMul/Conv 표현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Core Concepts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Linalg는 structured op, indexing map, iterator type으로 tensor compute를 표현한다.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Tensor semantic은 mutation이 없어 fusion/tiling reasoning이 쉽다.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linalg.generic은 MatMul/Conv/elementwise/reduction을 통합 표현할 수 있다.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Linalg 단계는 tile/fuse/vectorize의 중심이다.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NPU Architect Note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Linalg 단계에서 producer-consumer fusion과 tile 후보를 정하면 SRAM round-trip을 크게 줄일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14325A"/>
                </a:solidFill>
                <a:latin typeface="NanumGothic"/>
              </a:rPr>
              <a:t>Review Axes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Legal IR boundary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Metadata preservation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Performance bottleneck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Test invariant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7: Lab and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linalg.generic MatMul/Conv 표현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325A"/>
                </a:solidFill>
                <a:latin typeface="NanumGothic"/>
              </a:rPr>
              <a:t>Hands-on Tasks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linalg.matmul과 linalg.generic matmul을 비교한다.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Conv2D NHWC/HWCF indexing map을 손으로 해석한다.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output tensor shape를 계산한다.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12080" cy="4023360"/>
          </a:xfrm>
          <a:prstGeom prst="roundRect">
            <a:avLst/>
          </a:prstGeom>
          <a:solidFill>
            <a:srgbClr val="F2F2F2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91919"/>
                </a:solidFill>
                <a:latin typeface="NanumGothicCoding"/>
              </a:rPr>
              <a:t>%0 = linalg.matmul ins(%A, %B : tensor&lt;128x64xf32&gt;, tensor&lt;64x256xf32&gt;)
                   outs(%C : tensor&lt;128x256xf32&gt;) -&gt; tensor&lt;128x256xf32&gt;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8: SCF/Affine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M/N/K tile loop와 DMA 순서 작성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Core Concepts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SCF는 structured loop/control flow를 표현한다.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Affine은 affine map 기반 분석과 loop transform에 유리하다.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Loop order는 activation/weight/accumulator reuse 정책을 결정한다.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DMA와 compute overlap은 loop scheduling 문제로 표현할 수 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NPU Architect Note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M/N/K tile loop 순서가 SRAM footprint, accumulator lifetime, DMA burst efficiency, systolic array utilization을 좌우한다.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14325A"/>
                </a:solidFill>
                <a:latin typeface="NanumGothic"/>
              </a:rPr>
              <a:t>Review Axes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Legal IR boundary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Metadata preservation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Performance bottleneck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Test invariant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8: Lab and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M/N/K tile loop와 DMA 순서 작성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325A"/>
                </a:solidFill>
                <a:latin typeface="NanumGothic"/>
              </a:rPr>
              <a:t>Hands-on Tasks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M/N/K 3중 tile loop를 작성한다.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double buffering을 위한 load/compute/store 순서를 배치한다.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tile size가 SRAM capacity를 넘지 않는지 계산한다.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12080" cy="4023360"/>
          </a:xfrm>
          <a:prstGeom prst="roundRect">
            <a:avLst/>
          </a:prstGeom>
          <a:solidFill>
            <a:srgbClr val="F2F2F2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91919"/>
                </a:solidFill>
                <a:latin typeface="NanumGothicCoding"/>
              </a:rPr>
              <a:t>scf.for %m = %c0 to %M step %TM {
  scf.for %n = %c0 to %N step %TN {
    scf.for %k = %c0 to %K step %TK {
      // dma A/B tile, compute, accumulate
    }
  }
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9: Pass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NPU lowering pass pipeline 초안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Core Concepts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Pass는 특정 Operation scope에서 IR을 분석/변환한다.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Analysis preservation과 invalidation을 이해해야 pipeline이 안정적이다.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Canonicalize/CSE는 대부분의 lowering 단계 사이에 들어간다.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Pass option, statistic, diagnostic은 실전 compiler 개발에 필수이다.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NPU Architect Note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NPU pipeline은 legalize, fuse, tile, bufferize, memory plan, schedule, codegen이 서로 의존하므로 pass boundary와 invariant를 명확히 해야 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14325A"/>
                </a:solidFill>
                <a:latin typeface="NanumGothic"/>
              </a:rPr>
              <a:t>Review Axes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Legal IR boundary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Metadata preservation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Performance bottleneck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Test invariant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9: Lab and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NPU lowering pass pipeline 초안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325A"/>
                </a:solidFill>
                <a:latin typeface="NanumGothic"/>
              </a:rPr>
              <a:t>Hands-on Tasks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10개 내외 pass로 lowering pipeline을 설계한다.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각 pass의 input/output dialect와 invariant를 적는다.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실패 diagnostic message를 설계한다.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12080" cy="4023360"/>
          </a:xfrm>
          <a:prstGeom prst="roundRect">
            <a:avLst/>
          </a:prstGeom>
          <a:solidFill>
            <a:srgbClr val="F2F2F2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91919"/>
                </a:solidFill>
                <a:latin typeface="NanumGothicCoding"/>
              </a:rPr>
              <a:t>builtin.module(
  canonicalize,cse,
  func.func(tosa-to-linalg,npu-fuse,npu-tile),
  one-shot-bufferize,npu-memory-plan,npu-codegen)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10: Rewrite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MatMul+Add+ReLU fusion pattern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Core Concepts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RewritePattern은 local IR transformation을 구현한다.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Greedy rewrite는 canonicalization과 fusion에서 자주 사용된다.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Pattern benefit은 rewrite 우선순위를 조정한다.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DAG matching에서는 use-def chain과 multiple-use 여부가 중요하다.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NPU Architect Note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Fusion의 목적은 op 수 감소가 아니라 DRAM round-trip 제거와 quantization boundary 최소화이다.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14325A"/>
                </a:solidFill>
                <a:latin typeface="NanumGothic"/>
              </a:rPr>
              <a:t>Review Axes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Legal IR boundary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Metadata preservation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Performance bottleneck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Test invariant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10: Lab and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MatMul+Add+ReLU fusion pattern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325A"/>
                </a:solidFill>
                <a:latin typeface="NanumGothic"/>
              </a:rPr>
              <a:t>Hands-on Tasks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MatMul -&gt; Add -&gt; ReLU pattern을 찾아 fused op로 바꾸는 조건을 작성한다.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bias add와 broadcast add를 구분한다.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fusion하면 안 되는 경우를 세 가지 적는다.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12080" cy="4023360"/>
          </a:xfrm>
          <a:prstGeom prst="roundRect">
            <a:avLst/>
          </a:prstGeom>
          <a:solidFill>
            <a:srgbClr val="F2F2F2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91919"/>
                </a:solidFill>
                <a:latin typeface="NanumGothicCoding"/>
              </a:rPr>
              <a:t>%0 = linalg.matmul ...
%1 = arith.addi %0, %bias
%2 = arith.maxsi %1, %zero
// -&gt; npu.matmul_bias_relu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11: Dialect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NPU legal op set과 unsupported op lowering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Core Concepts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ConversionTarget은 legal/illegal/dynamic legal op를 정의한다.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TypeConverter는 tensor/memref/layout/quant type 변환을 담당한다.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ConversionPattern은 source op를 target dialect로 낮춘다.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Partial conversion과 full conversion을 구분해야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NPU Architect Note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NPU legal op set은 실제 hardware ISA와 runtime ABI의 계약이다. 미지원 op는 decomposition 또는 CPU fallback 정책이 필요하다.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14325A"/>
                </a:solidFill>
                <a:latin typeface="NanumGothic"/>
              </a:rPr>
              <a:t>Review Axes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Legal IR boundary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Metadata preservation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Performance bottleneck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Test invariant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11: Lab and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NPU legal op set과 unsupported op lowering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325A"/>
                </a:solidFill>
                <a:latin typeface="NanumGothic"/>
              </a:rPr>
              <a:t>Hands-on Tasks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NPU legal op set 12개를 정의한다.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tosa.matmul, tosa.conv2d, tosa.rescale의 lowering target을 정한다.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dynamic legality 조건을 작성한다.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12080" cy="4023360"/>
          </a:xfrm>
          <a:prstGeom prst="roundRect">
            <a:avLst/>
          </a:prstGeom>
          <a:solidFill>
            <a:srgbClr val="F2F2F2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91919"/>
                </a:solidFill>
                <a:latin typeface="NanumGothicCoding"/>
              </a:rPr>
              <a:t>Legal: npu.matmul, npu.conv2d, npu.dma_load, npu.dma_store, npu.barrier
Illegal after legalization: stablehlo.*, tosa.*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12: Bufferization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tensor -&gt; memref, alias/lifetime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Core Concepts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Tensor semantic은 value-based, memref semantic은 buffer/mutation-based이다.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One-shot bufferization은 in-place 가능성을 분석한다.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Destination-passing style은 bufferization 품질을 높인다.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Alias/lifetime 분석은 memory planning의 출발점이다.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NPU Architect Note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Bufferization 결과는 DRAM/SRAM/ACC placement와 DMA 계획의 직접 입력이다.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14325A"/>
                </a:solidFill>
                <a:latin typeface="NanumGothic"/>
              </a:rPr>
              <a:t>Review Axes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Legal IR boundary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Metadata preservation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Performance bottleneck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Test invariant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12: Lab and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tensor -&gt; memref, alias/lifetime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325A"/>
                </a:solidFill>
                <a:latin typeface="NanumGothic"/>
              </a:rPr>
              <a:t>Hands-on Tasks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tensor.empty + linalg.matmul을 memref 기반 실행으로 해석한다.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in-place 가능한 result와 copy가 필요한 result를 표시한다.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activation lifetime interval을 그린다.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12080" cy="4023360"/>
          </a:xfrm>
          <a:prstGeom prst="roundRect">
            <a:avLst/>
          </a:prstGeom>
          <a:solidFill>
            <a:srgbClr val="F2F2F2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91919"/>
                </a:solidFill>
                <a:latin typeface="NanumGothicCoding"/>
              </a:rPr>
              <a:t>tensor&lt;128x256xi8&gt;
  -&gt; memref&lt;128x256xi8, strided&lt;[256,1], offset: ?&gt;&gt;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13: MemRef, Layout, Memory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DRAM/SRAM/accumulator memory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Core Concepts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MemRef는 shape, element type, layout map, memory space를 가진다.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Layout map은 physical address와 vectorization 품질을 좌우한다.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Memory space는 DRAM/SRAM/register/accumulator 구분에 사용된다.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Alignment, bank conflict, stride는 NPU 성능과 직접 연결된다.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NPU Architect Note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Edge NPU는 작은 batch와 latency가 중요하므로 bank conflict와 DMA burst 효율이 peak TOPS만큼 중요하다.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14325A"/>
                </a:solidFill>
                <a:latin typeface="NanumGothic"/>
              </a:rPr>
              <a:t>Review Axes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Legal IR boundary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Metadata preservation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Performance bottleneck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Test invariant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13: Lab and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DRAM/SRAM/accumulator memory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325A"/>
                </a:solidFill>
                <a:latin typeface="NanumGothic"/>
              </a:rPr>
              <a:t>Hands-on Tasks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NHWC, NCHW, blocked layout의 address formula를 작성한다.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memory space 0/1/2를 DRAM/SRAM/ACC로 매핑한다.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tile layout이 bank conflict를 만드는지 분석한다.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12080" cy="4023360"/>
          </a:xfrm>
          <a:prstGeom prst="roundRect">
            <a:avLst/>
          </a:prstGeom>
          <a:solidFill>
            <a:srgbClr val="F2F2F2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91919"/>
                </a:solidFill>
                <a:latin typeface="NanumGothicCoding"/>
              </a:rPr>
              <a:t>memref&lt;1x224x224x64xi8, #nhwc, 0&gt;  // DRAM
memref&lt;16x16x64xi8, #tile, 1&gt;      // SRAM
memref&lt;16x16xi32, #acc, 2&gt;         // ACC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14: Vector Dialect, Tensorization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vector.contract -&gt; NPU matmul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Core Concepts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Vector dialect는 target-independent SIMD/tensor operation을 표현한다.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vector.contract는 matmul/convolution tensorization의 중간 표현으로 유용하다.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vector.transfer_read/write는 memory와 vector 사이 이동을 표현한다.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Native NPU MMA shape과 vector shape를 맞추면 lowering이 단순해진다.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NPU Architect Note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NPU array의 native tile shape을 vector.contract shape로 표현하면 backend mapping과 verifier가 명확해진다.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14325A"/>
                </a:solidFill>
                <a:latin typeface="NanumGothic"/>
              </a:rPr>
              <a:t>Review Axes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Legal IR boundary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Metadata preservation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Performance bottleneck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Test invariant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14: Lab and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vector.contract -&gt; NPU matmul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325A"/>
                </a:solidFill>
                <a:latin typeface="NanumGothic"/>
              </a:rPr>
              <a:t>Hands-on Tasks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16x16x64 int8 matmul을 vector.contract로 표현한다.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transfer_read/write alignment 조건을 적는다.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contract shape과 systolic array shape을 매핑한다.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12080" cy="4023360"/>
          </a:xfrm>
          <a:prstGeom prst="roundRect">
            <a:avLst/>
          </a:prstGeom>
          <a:solidFill>
            <a:srgbClr val="F2F2F2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91919"/>
                </a:solidFill>
                <a:latin typeface="NanumGothicCoding"/>
              </a:rPr>
              <a:t>%acc2 = vector.contract {iterator_types = ["parallel","parallel","reduction"]}
  %va, %vb, %acc : vector&lt;16x64xi8&gt;, vector&lt;64x16xi8&gt; into vector&lt;16x16xi32&gt;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15: Transform Dialect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tile/fuse/vectorize schedule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Core Concepts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Transform dialect는 payload IR을 변환하는 schedule을 IR로 표현한다.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Computation IR과 transformation recipe를 분리한다.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Tiling, fusion, vectorization을 script처럼 구성할 수 있다.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Autotuning/search space 표현과 잘 맞는다.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NPU Architect Note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Tile size, fusion group, vector shape를 transform IR parameter로 두면 NPU schedule 탐색과 재현이 쉬워진다.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14325A"/>
                </a:solidFill>
                <a:latin typeface="NanumGothic"/>
              </a:rPr>
              <a:t>Review Axes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Legal IR boundary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Metadata preservation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Performance bottleneck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Test invariant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15: Lab and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tile/fuse/vectorize schedule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325A"/>
                </a:solidFill>
                <a:latin typeface="NanumGothic"/>
              </a:rPr>
              <a:t>Hands-on Tasks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linalg.matmul을 match하는 transform sequence를 작성한다.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tile size [16,16,64]를 적용한다.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producer fusion과 vectorization 순서를 바꿔본다.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12080" cy="4023360"/>
          </a:xfrm>
          <a:prstGeom prst="roundRect">
            <a:avLst/>
          </a:prstGeom>
          <a:solidFill>
            <a:srgbClr val="F2F2F2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91919"/>
                </a:solidFill>
                <a:latin typeface="NanumGothicCoding"/>
              </a:rPr>
              <a:t>transform.sequence failures(propagate) {
  %m = transform.structured.match ops{["linalg.matmul"]} in %root
  %tiled, %loops = transform.structured.tile_using_for %m [16, 16, 64]
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16: Quantization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INT8/INT4 requant, accumulator width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Core Concepts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Quantization은 scale, zero-point, accumulator type, rounding/saturation policy의 조합이다.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Per-tensor/per-channel quantization은 accuracy와 hardware cost trade-off를 만든다.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Requantization은 int32 accumulator를 int8/int4 output으로 되돌리는 과정이다.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Calibration/QAT/PTQ metadata가 IR에 안전하게 전달되어야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NPU Architect Note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INT8/INT4 TOPS를 latency 이득으로 바꾸려면 dequant/requant가 fusion boundary 밖으로 새지 않아야 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14325A"/>
                </a:solidFill>
                <a:latin typeface="NanumGothic"/>
              </a:rPr>
              <a:t>Review Axes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Legal IR boundary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Metadata preservation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Performance bottleneck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Test invariant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16: Lab and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INT8/INT4 requant, accumulator width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325A"/>
                </a:solidFill>
                <a:latin typeface="NanumGothic"/>
              </a:rPr>
              <a:t>Hands-on Tasks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int8 matmul의 int32 accumulator 범위를 계산한다.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requant pseudo IR을 작성한다.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per-channel scale이 layout에 미치는 영향을 분석한다.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12080" cy="4023360"/>
          </a:xfrm>
          <a:prstGeom prst="roundRect">
            <a:avLst/>
          </a:prstGeom>
          <a:solidFill>
            <a:srgbClr val="F2F2F2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91919"/>
                </a:solidFill>
                <a:latin typeface="NanumGothicCoding"/>
              </a:rPr>
              <a:t>acc_i32 = sum((a_i8 - zp_a) * (b_i8 - zp_b))
out_i8 = clamp(round(acc_i32 * M &gt;&gt; S) + zp_out, -128, 127)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17: Fusion, Layout 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Transformer MLP fusion 후보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Core Concepts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Fusion은 locality, launch overhead, memory traffic을 줄인다.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Layout propagation은 transpose/reshape/copy를 줄이는 핵심 기법이다.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Fusion legality는 shape, side effect, quantization, memory pressure로 제한된다.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Cost model 없이는 과도한 fusion이 SRAM spill을 만들 수 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NPU Architect Note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Transformer MLP에서 MatMul+Bias+GELU를 SRAM에 머물게 할지, 두 번째 MatMul까지 확장할지가 latency를 좌우한다.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14325A"/>
                </a:solidFill>
                <a:latin typeface="NanumGothic"/>
              </a:rPr>
              <a:t>Review Axes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Legal IR boundary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Metadata preservation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Performance bottleneck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Test invariant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17: Lab and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Transformer MLP fusion 후보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325A"/>
                </a:solidFill>
                <a:latin typeface="NanumGothic"/>
              </a:rPr>
              <a:t>Hands-on Tasks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MLP block graph를 그리고 fusion 후보를 표시한다.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각 후보의 SRAM footprint를 계산한다.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layout propagation으로 제거 가능한 transpose를 찾는다.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12080" cy="4023360"/>
          </a:xfrm>
          <a:prstGeom prst="roundRect">
            <a:avLst/>
          </a:prstGeom>
          <a:solidFill>
            <a:srgbClr val="F2F2F2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91919"/>
                </a:solidFill>
                <a:latin typeface="NanumGothicCoding"/>
              </a:rPr>
              <a:t>X -&gt; MatMul(W1) -&gt; Bias -&gt; GELU -&gt; MatMul(W2) -&gt; Bias
Candidate A: MatMul + Bias + GELU
Candidate B: Full MLP fusion if SRAM allows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18: Custom NPU Dialect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npu.matmul/npu.dma/npu.barrier ODS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Core Concepts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Custom dialect는 hardware contract를 명시하는 지점이다.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ODS는 syntax, verifier, trait, interface 정의를 구조화한다.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Verifier는 tile size, dtype, memory space constraint를 빠르게 잡아야 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Dialect 문서와 tests는 backend bring-up 속도를 좌우한다.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NPU Architect Note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npu dialect는 ISA를 그대로 노출하기보다 compiler optimization이 가능한 semantic richness를 남기는 것이 좋다.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14325A"/>
                </a:solidFill>
                <a:latin typeface="NanumGothic"/>
              </a:rPr>
              <a:t>Review Axes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Legal IR boundary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Metadata preservation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Performance bottleneck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Test invariant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18: Lab and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npu.matmul/npu.dma/npu.barrier ODS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325A"/>
                </a:solidFill>
                <a:latin typeface="NanumGothic"/>
              </a:rPr>
              <a:t>Hands-on Tasks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npu.matmul, npu.dma_load, npu.dma_store, npu.barrier, npu.launch op를 정의한다.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tile shape/dtype/memory space verifier 조건을 적는다.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ODS TableGen skeleton을 작성한다.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12080" cy="4023360"/>
          </a:xfrm>
          <a:prstGeom prst="roundRect">
            <a:avLst/>
          </a:prstGeom>
          <a:solidFill>
            <a:srgbClr val="F2F2F2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91919"/>
                </a:solidFill>
                <a:latin typeface="NanumGothicCoding"/>
              </a:rPr>
              <a:t>def NPU_MatMulOp : NPU_Op&lt;"matmul", [Pure]&gt; {
  let arguments = (ins NPU_SRAM:$a, NPU_SRAM:$b, NPU_ACC:$acc);
  let results = (outs NPU_ACC:$result);
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19: Runtime/ABI/Codegen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command buffer와 tensor descriptor ABI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Core Concepts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Codegen은 IR을 executable artifact와 runtime metadata로 바꾼다.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Runtime ABI는 tensor descriptor, command buffer, sync, error model을 정의한다.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Host/device memory ownership과 cache coherency가 edge deployment에서 중요하다.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Profiling metadata는 compiler feedback loop의 입력이다.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NPU Architect Note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Autonomous driving/robotics는 tail latency와 determinism이 중요하므로 runtime ABI에서 dynamic allocation과 unpredictable sync를 줄여야 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14325A"/>
                </a:solidFill>
                <a:latin typeface="NanumGothic"/>
              </a:rPr>
              <a:t>Review Axes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Legal IR boundary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Metadata preservation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Performance bottleneck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Test invariant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19: Lab and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command buffer와 tensor descriptor ABI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325A"/>
                </a:solidFill>
                <a:latin typeface="NanumGothic"/>
              </a:rPr>
              <a:t>Hands-on Tasks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tensor descriptor 구조체를 설계한다.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command buffer packet format을 정의한다.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submit/sync/profile runtime API를 작성한다.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12080" cy="4023360"/>
          </a:xfrm>
          <a:prstGeom prst="roundRect">
            <a:avLst/>
          </a:prstGeom>
          <a:solidFill>
            <a:srgbClr val="F2F2F2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91919"/>
                </a:solidFill>
                <a:latin typeface="NanumGothicCoding"/>
              </a:rPr>
              <a:t>struct TensorDesc { uint64_t addr; uint32_t rank; int64_t shape[6]; int64_t stride[6]; uint32_t dtype; uint32_t layout; };
struct Cmd { uint16_t opcode; uint16_t flags; uint32_t bytes; uint64_t payload; };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20: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Mini NPU Compiler Design Spec 작성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Core Concepts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입력 IR, legal op set, pass pipeline, memory model, codegen ABI를 하나의 설계 문서로 통합한다.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정확성은 verifier, FileCheck, numerical tolerance로 검증한다.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성능은 roofline, SRAM traffic, tile utilization, bandwidth로 추정한다.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제품화에는 debug, profiling, replay 기능이 필요하다.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14325A"/>
                </a:solidFill>
                <a:latin typeface="NanumGothic"/>
              </a:rPr>
              <a:t>NPU Architect Note</a:t>
            </a:r>
          </a:p>
          <a:p>
            <a:pPr>
              <a:defRPr sz="1450">
                <a:solidFill>
                  <a:srgbClr val="2D2D2D"/>
                </a:solidFill>
                <a:latin typeface="NanumGothic"/>
              </a:defRPr>
            </a:pPr>
            <a:r>
              <a:t>최종 산출물은 작은 compiler라도 실제 NPU bring-up 회의에서 리뷰 가능한 설계 명세여야 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14325A"/>
                </a:solidFill>
                <a:latin typeface="NanumGothic"/>
              </a:rPr>
              <a:t>Review Axes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Legal IR boundary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Metadata preservation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Performance bottleneck</a:t>
            </a:r>
          </a:p>
          <a:p>
            <a:pPr>
              <a:defRPr sz="1320">
                <a:solidFill>
                  <a:srgbClr val="2D2D2D"/>
                </a:solidFill>
                <a:latin typeface="NanumGothic"/>
              </a:defRPr>
            </a:pPr>
            <a:r>
              <a:t>Test invariant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Lecture 20: Lab and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Mini NPU Compiler Design Spec 작성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7896B4"/>
                </a:solidFill>
                <a:latin typeface="NanumGothic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325A"/>
                </a:solidFill>
                <a:latin typeface="NanumGothic"/>
              </a:rPr>
              <a:t>Hands-on Tasks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Transformer MLP 또는 Conv block 하나를 end-to-end lowering한다.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Mini NPU Compiler Design Spec 10-15페이지를 작성한다.</a:t>
            </a:r>
          </a:p>
          <a:p>
            <a:pPr>
              <a:defRPr sz="1500">
                <a:solidFill>
                  <a:srgbClr val="2D2D2D"/>
                </a:solidFill>
                <a:latin typeface="NanumGothic"/>
              </a:defRPr>
            </a:pPr>
            <a:r>
              <a:t>성능/메모리/정확성 리스크와 mitigation을 정리한다.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12080" cy="4023360"/>
          </a:xfrm>
          <a:prstGeom prst="roundRect">
            <a:avLst/>
          </a:prstGeom>
          <a:solidFill>
            <a:srgbClr val="F2F2F2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91919"/>
                </a:solidFill>
                <a:latin typeface="NanumGothicCoding"/>
              </a:rPr>
              <a:t>Capstone checklist:
[ ] Supported ops and dtypes
[ ] MLIR pipeline
[ ] SRAM/DRAM memory plan
[ ] NPU dialect ops
[ ] Runtime ABI
[ ] Tests and profiling hooks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4325A"/>
                </a:solidFill>
                <a:latin typeface="NanumGothic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85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6464"/>
                </a:solidFill>
                <a:latin typeface="NanumGothic"/>
              </a:rPr>
              <a:t>Official baseline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8282"/>
                </a:solidFill>
                <a:latin typeface="NanumGothic"/>
              </a:rPr>
              <a:t>AI/NPU Compiler MLIR 20-Lecture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D2D2D"/>
                </a:solidFill>
                <a:latin typeface="NanumGothic"/>
              </a:defRPr>
            </a:pPr>
            <a:r>
              <a:t>MLIR Language Reference: https://mlir.llvm.org/docs/LangRef/</a:t>
            </a:r>
          </a:p>
          <a:p>
            <a:pPr>
              <a:defRPr sz="1050">
                <a:solidFill>
                  <a:srgbClr val="2D2D2D"/>
                </a:solidFill>
                <a:latin typeface="NanumGothic"/>
              </a:defRPr>
            </a:pPr>
            <a:r>
              <a:t>MLIR Dialects: https://mlir.llvm.org/docs/Dialects/</a:t>
            </a:r>
          </a:p>
          <a:p>
            <a:pPr>
              <a:defRPr sz="1050">
                <a:solidFill>
                  <a:srgbClr val="2D2D2D"/>
                </a:solidFill>
                <a:latin typeface="NanumGothic"/>
              </a:defRPr>
            </a:pPr>
            <a:r>
              <a:t>MLIR Pass Infrastructure: https://mlir.llvm.org/docs/PassManagement/</a:t>
            </a:r>
          </a:p>
          <a:p>
            <a:pPr>
              <a:defRPr sz="1050">
                <a:solidFill>
                  <a:srgbClr val="2D2D2D"/>
                </a:solidFill>
                <a:latin typeface="NanumGothic"/>
              </a:defRPr>
            </a:pPr>
            <a:r>
              <a:t>MLIR Bufferization: https://mlir.llvm.org/docs/Bufferization/</a:t>
            </a:r>
          </a:p>
          <a:p>
            <a:pPr>
              <a:defRPr sz="1050">
                <a:solidFill>
                  <a:srgbClr val="2D2D2D"/>
                </a:solidFill>
                <a:latin typeface="NanumGothic"/>
              </a:defRPr>
            </a:pPr>
            <a:r>
              <a:t>MLIR Linalg Dialect: https://mlir.llvm.org/docs/Dialects/Linalg/</a:t>
            </a:r>
          </a:p>
          <a:p>
            <a:pPr>
              <a:defRPr sz="1050">
                <a:solidFill>
                  <a:srgbClr val="2D2D2D"/>
                </a:solidFill>
                <a:latin typeface="NanumGothic"/>
              </a:defRPr>
            </a:pPr>
            <a:r>
              <a:t>MLIR Transform Dialect: https://mlir.llvm.org/docs/Dialects/Transform/</a:t>
            </a:r>
          </a:p>
          <a:p>
            <a:pPr>
              <a:defRPr sz="1050">
                <a:solidFill>
                  <a:srgbClr val="2D2D2D"/>
                </a:solidFill>
                <a:latin typeface="NanumGothic"/>
              </a:defRPr>
            </a:pPr>
            <a:r>
              <a:t>StableHLO Specification: https://openxla.org/stablehlo/spec</a:t>
            </a:r>
          </a:p>
          <a:p>
            <a:pPr>
              <a:defRPr sz="1050">
                <a:solidFill>
                  <a:srgbClr val="2D2D2D"/>
                </a:solidFill>
                <a:latin typeface="NanumGothic"/>
              </a:defRPr>
            </a:pPr>
            <a:r>
              <a:t>TOSA Specification: https://www.mlplatform.org/tosa/tosa_spec.html</a:t>
            </a:r>
          </a:p>
          <a:p>
            <a:pPr>
              <a:defRPr sz="1050">
                <a:solidFill>
                  <a:srgbClr val="2D2D2D"/>
                </a:solidFill>
                <a:latin typeface="NanumGothic"/>
              </a:defRPr>
            </a:pPr>
            <a:r>
              <a:t>MLIR TOSA Dialect: https://mlir.llvm.org/docs/Dialects/TOSA/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